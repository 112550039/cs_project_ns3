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2185" autoAdjust="0"/>
    <p:restoredTop sz="94759" autoAdjust="0"/>
  </p:normalViewPr>
  <p:slideViewPr>
    <p:cSldViewPr snapToGrid="0">
      <p:cViewPr varScale="1">
        <p:scale>
          <a:sx n="29" d="100"/>
          <a:sy n="29" d="100"/>
        </p:scale>
        <p:origin x="326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5262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9794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7595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5622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038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0941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5700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4817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80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555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716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FB994-8C7A-432F-9145-2B89982E5304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9859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群組 42">
            <a:extLst>
              <a:ext uri="{FF2B5EF4-FFF2-40B4-BE49-F238E27FC236}">
                <a16:creationId xmlns:a16="http://schemas.microsoft.com/office/drawing/2014/main" id="{9EC42D2E-2BE8-CE40-4DA3-94BA8AA79D2C}"/>
              </a:ext>
            </a:extLst>
          </p:cNvPr>
          <p:cNvGrpSpPr/>
          <p:nvPr/>
        </p:nvGrpSpPr>
        <p:grpSpPr>
          <a:xfrm>
            <a:off x="10937797" y="12065713"/>
            <a:ext cx="1813156" cy="1486293"/>
            <a:chOff x="11452052" y="9350311"/>
            <a:chExt cx="2602438" cy="2066339"/>
          </a:xfrm>
        </p:grpSpPr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CC6C6C7E-EEDA-04EC-7E2C-22CB0C298DE6}"/>
                </a:ext>
              </a:extLst>
            </p:cNvPr>
            <p:cNvGrpSpPr/>
            <p:nvPr/>
          </p:nvGrpSpPr>
          <p:grpSpPr>
            <a:xfrm>
              <a:off x="11452052" y="9350311"/>
              <a:ext cx="2369088" cy="2066339"/>
              <a:chOff x="13531736" y="8046847"/>
              <a:chExt cx="2369088" cy="1661086"/>
            </a:xfrm>
          </p:grpSpPr>
          <p:pic>
            <p:nvPicPr>
              <p:cNvPr id="37" name="Google Shape;103;g3d00297c732_0_7" title="UAV.jpg">
                <a:extLst>
                  <a:ext uri="{FF2B5EF4-FFF2-40B4-BE49-F238E27FC236}">
                    <a16:creationId xmlns:a16="http://schemas.microsoft.com/office/drawing/2014/main" id="{D8E118A8-0280-2823-FDB4-6089F61AE98A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4173254" y="8046847"/>
                <a:ext cx="1110501" cy="57713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5" name="Google Shape;103;g3d00297c732_0_7" title="UAV.jpg">
                <a:extLst>
                  <a:ext uri="{FF2B5EF4-FFF2-40B4-BE49-F238E27FC236}">
                    <a16:creationId xmlns:a16="http://schemas.microsoft.com/office/drawing/2014/main" id="{1FA300D6-9F3B-DA5E-72A7-E2CDF3BEBC74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3531736" y="9110731"/>
                <a:ext cx="1060270" cy="59720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3" name="Google Shape;103;g3d00297c732_0_7" title="UAV.jpg">
                <a:extLst>
                  <a:ext uri="{FF2B5EF4-FFF2-40B4-BE49-F238E27FC236}">
                    <a16:creationId xmlns:a16="http://schemas.microsoft.com/office/drawing/2014/main" id="{0CD416DE-EE29-437E-A485-EB668BD70E13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4801481" y="9105694"/>
                <a:ext cx="1099343" cy="60223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39" name="Google Shape;205;g3d00297c732_0_53">
              <a:extLst>
                <a:ext uri="{FF2B5EF4-FFF2-40B4-BE49-F238E27FC236}">
                  <a16:creationId xmlns:a16="http://schemas.microsoft.com/office/drawing/2014/main" id="{DA7CAE6B-49DD-5D84-6FFD-E2B22A567A11}"/>
                </a:ext>
              </a:extLst>
            </p:cNvPr>
            <p:cNvSpPr/>
            <p:nvPr/>
          </p:nvSpPr>
          <p:spPr>
            <a:xfrm rot="17168672">
              <a:off x="11743325" y="10198668"/>
              <a:ext cx="916218" cy="36420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05;g3d00297c732_0_53">
              <a:extLst>
                <a:ext uri="{FF2B5EF4-FFF2-40B4-BE49-F238E27FC236}">
                  <a16:creationId xmlns:a16="http://schemas.microsoft.com/office/drawing/2014/main" id="{C525DE75-DCF7-0DD2-FC9B-B5BFC4ACEB0F}"/>
                </a:ext>
              </a:extLst>
            </p:cNvPr>
            <p:cNvSpPr/>
            <p:nvPr/>
          </p:nvSpPr>
          <p:spPr>
            <a:xfrm rot="15631595">
              <a:off x="12525926" y="10208020"/>
              <a:ext cx="916218" cy="36420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C1FA52A2-B364-F724-3E3A-742BED4B9066}"/>
                </a:ext>
              </a:extLst>
            </p:cNvPr>
            <p:cNvSpPr txBox="1"/>
            <p:nvPr/>
          </p:nvSpPr>
          <p:spPr>
            <a:xfrm>
              <a:off x="11650996" y="10068253"/>
              <a:ext cx="2403494" cy="5990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2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Probe flow</a:t>
              </a:r>
              <a:endParaRPr lang="zh-TW" altLang="en-US" sz="2200" dirty="0"/>
            </a:p>
          </p:txBody>
        </p:sp>
      </p:grpSp>
      <p:pic>
        <p:nvPicPr>
          <p:cNvPr id="8" name="圖片 7">
            <a:extLst>
              <a:ext uri="{FF2B5EF4-FFF2-40B4-BE49-F238E27FC236}">
                <a16:creationId xmlns:a16="http://schemas.microsoft.com/office/drawing/2014/main" id="{2B97F92C-5FA1-9D94-2E5F-9A4332266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53594" y="13555042"/>
            <a:ext cx="6423064" cy="4282042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4A43AAF6-BC9D-7FC3-0C6E-73D6718EB573}"/>
              </a:ext>
            </a:extLst>
          </p:cNvPr>
          <p:cNvSpPr txBox="1"/>
          <p:nvPr/>
        </p:nvSpPr>
        <p:spPr>
          <a:xfrm>
            <a:off x="2325950" y="872251"/>
            <a:ext cx="171222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5400" b="1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An NS-3-Based Framework for Schedule Replay, Link Probing, and Mission Verification in UAV-LEO Networks</a:t>
            </a:r>
            <a:endParaRPr lang="zh-TW" altLang="en-US" sz="5400" b="1" dirty="0">
              <a:solidFill>
                <a:srgbClr val="C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CFC2975-9F1C-A660-B3BA-2A1A04A982F2}"/>
              </a:ext>
            </a:extLst>
          </p:cNvPr>
          <p:cNvSpPr txBox="1"/>
          <p:nvPr/>
        </p:nvSpPr>
        <p:spPr>
          <a:xfrm>
            <a:off x="3833812" y="2626577"/>
            <a:ext cx="1371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Author : 112550039  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李宗諺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112550139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簡士原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Department/University : Computer Science/National Yang Ming Chiao Tung University</a:t>
            </a:r>
          </a:p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Advisor : Kate Ching-Ju Lin</a:t>
            </a:r>
            <a:endParaRPr lang="zh-TW" altLang="en-US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6FC2188-5B09-ED71-44DA-22C61B2F856B}"/>
              </a:ext>
            </a:extLst>
          </p:cNvPr>
          <p:cNvSpPr txBox="1"/>
          <p:nvPr/>
        </p:nvSpPr>
        <p:spPr>
          <a:xfrm>
            <a:off x="928687" y="3826905"/>
            <a:ext cx="1991677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Background and Motivation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UAV and LEO networks are important for wide-area communication and task delivery. 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Scheduling and validating communication tasks in such networks is challenging. 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A simulation framework is needed to replay schedules and verify whether mission deadlines can be met.</a:t>
            </a: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7910FA4-9020-0303-B458-DDF5EDCA9A05}"/>
              </a:ext>
            </a:extLst>
          </p:cNvPr>
          <p:cNvSpPr txBox="1"/>
          <p:nvPr/>
        </p:nvSpPr>
        <p:spPr>
          <a:xfrm>
            <a:off x="928685" y="5972911"/>
            <a:ext cx="19916775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Problem Statement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External schedulers may generate communication schedules, but their feasibility must be verified.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need a framework that can replay task schedules in NS-3 and evaluate communication performance.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also need to estimate or measure link quality for UAV-to-UAV and UAV-to-LEO communication.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9" name="圖片 8" descr="Seal-NYCU Secretariat">
            <a:extLst>
              <a:ext uri="{FF2B5EF4-FFF2-40B4-BE49-F238E27FC236}">
                <a16:creationId xmlns:a16="http://schemas.microsoft.com/office/drawing/2014/main" id="{22C4AD91-54E8-7E8E-D818-ABBF6F18A9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41133" y="2168297"/>
            <a:ext cx="5114925" cy="208859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5FDD6EB5-0AA2-48FB-AB3B-8E7649083C2A}"/>
              </a:ext>
            </a:extLst>
          </p:cNvPr>
          <p:cNvSpPr txBox="1"/>
          <p:nvPr/>
        </p:nvSpPr>
        <p:spPr>
          <a:xfrm>
            <a:off x="928685" y="8211891"/>
            <a:ext cx="199167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Methods &amp; Results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2A5E5E1C-A552-FC5B-0B74-F4A83685DF3A}"/>
              </a:ext>
            </a:extLst>
          </p:cNvPr>
          <p:cNvGrpSpPr/>
          <p:nvPr/>
        </p:nvGrpSpPr>
        <p:grpSpPr>
          <a:xfrm>
            <a:off x="504892" y="8972871"/>
            <a:ext cx="13522874" cy="4829041"/>
            <a:chOff x="878876" y="9572006"/>
            <a:chExt cx="7022109" cy="4450556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8A06844-7B18-C1C0-22E5-5630CF5522B9}"/>
                </a:ext>
              </a:extLst>
            </p:cNvPr>
            <p:cNvSpPr/>
            <p:nvPr/>
          </p:nvSpPr>
          <p:spPr>
            <a:xfrm>
              <a:off x="878876" y="9572006"/>
              <a:ext cx="6972300" cy="4450556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147B9B10-86F0-2B8B-E1CA-D7DCA8C616B7}"/>
                </a:ext>
              </a:extLst>
            </p:cNvPr>
            <p:cNvSpPr txBox="1"/>
            <p:nvPr/>
          </p:nvSpPr>
          <p:spPr>
            <a:xfrm>
              <a:off x="928685" y="9677014"/>
              <a:ext cx="697230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UAV-to-UAV Probe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8CCA2105-6DBB-67BC-DC32-76256CD9A53E}"/>
              </a:ext>
            </a:extLst>
          </p:cNvPr>
          <p:cNvGrpSpPr/>
          <p:nvPr/>
        </p:nvGrpSpPr>
        <p:grpSpPr>
          <a:xfrm>
            <a:off x="514527" y="14020153"/>
            <a:ext cx="13426954" cy="4829041"/>
            <a:chOff x="928685" y="9572625"/>
            <a:chExt cx="6972301" cy="4450556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2EDFDD8B-2059-65BB-4136-A0114F533964}"/>
                </a:ext>
              </a:extLst>
            </p:cNvPr>
            <p:cNvSpPr/>
            <p:nvPr/>
          </p:nvSpPr>
          <p:spPr>
            <a:xfrm>
              <a:off x="928686" y="9572625"/>
              <a:ext cx="6972300" cy="4450556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87DB47F-64F6-D8FB-1A11-821A516595AE}"/>
                </a:ext>
              </a:extLst>
            </p:cNvPr>
            <p:cNvSpPr txBox="1"/>
            <p:nvPr/>
          </p:nvSpPr>
          <p:spPr>
            <a:xfrm>
              <a:off x="928685" y="9677014"/>
              <a:ext cx="697230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NS-3 Schedule Replay / Verification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42758803-CB13-9FD0-EA7B-55416FA5926E}"/>
              </a:ext>
            </a:extLst>
          </p:cNvPr>
          <p:cNvGrpSpPr/>
          <p:nvPr/>
        </p:nvGrpSpPr>
        <p:grpSpPr>
          <a:xfrm>
            <a:off x="543558" y="19097017"/>
            <a:ext cx="13397921" cy="4829041"/>
            <a:chOff x="928686" y="9572626"/>
            <a:chExt cx="6972300" cy="445055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7570CB07-8B77-D06A-05E1-A3388792A05B}"/>
                </a:ext>
              </a:extLst>
            </p:cNvPr>
            <p:cNvSpPr/>
            <p:nvPr/>
          </p:nvSpPr>
          <p:spPr>
            <a:xfrm>
              <a:off x="928686" y="9572626"/>
              <a:ext cx="6972300" cy="4450556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43E54B8B-FFA1-0B09-5621-594F268DAD78}"/>
                </a:ext>
              </a:extLst>
            </p:cNvPr>
            <p:cNvSpPr txBox="1"/>
            <p:nvPr/>
          </p:nvSpPr>
          <p:spPr>
            <a:xfrm>
              <a:off x="3292987" y="9661758"/>
              <a:ext cx="222859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UAV-to-LEO Uplink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A342C980-884B-A1BC-0F12-CDDFE3330028}"/>
              </a:ext>
            </a:extLst>
          </p:cNvPr>
          <p:cNvGrpSpPr/>
          <p:nvPr/>
        </p:nvGrpSpPr>
        <p:grpSpPr>
          <a:xfrm>
            <a:off x="14461155" y="8972873"/>
            <a:ext cx="6415563" cy="14953184"/>
            <a:chOff x="928686" y="9588372"/>
            <a:chExt cx="6980591" cy="4434809"/>
          </a:xfrm>
        </p:grpSpPr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E84668A6-42FE-03D8-DB0D-03993B959D2E}"/>
                </a:ext>
              </a:extLst>
            </p:cNvPr>
            <p:cNvSpPr/>
            <p:nvPr/>
          </p:nvSpPr>
          <p:spPr>
            <a:xfrm>
              <a:off x="928686" y="9588372"/>
              <a:ext cx="6972300" cy="443480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5B3A5BBF-FC38-C7E9-B94E-EE79F57A19E4}"/>
                </a:ext>
              </a:extLst>
            </p:cNvPr>
            <p:cNvSpPr txBox="1"/>
            <p:nvPr/>
          </p:nvSpPr>
          <p:spPr>
            <a:xfrm>
              <a:off x="936977" y="9625394"/>
              <a:ext cx="6972300" cy="33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System Architecture &amp;</a:t>
              </a:r>
              <a:r>
                <a:rPr lang="zh-TW" altLang="en-US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Data Flow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5CB20C62-B21F-A99A-CD7F-185F3493148E}"/>
              </a:ext>
            </a:extLst>
          </p:cNvPr>
          <p:cNvSpPr txBox="1"/>
          <p:nvPr/>
        </p:nvSpPr>
        <p:spPr>
          <a:xfrm>
            <a:off x="928683" y="24173877"/>
            <a:ext cx="19916775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Conclusion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External schedulers may generate communication schedules, but their feasibility must be verified.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need a framework that can replay task schedules in NS-3 and evaluate communication performance.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also need to estimate or measure link quality for UAV-to-UAV and UAV-to-LEO communication.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5E2C089B-EA9E-D04B-3B9A-D596A60FFD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676" y="19576446"/>
            <a:ext cx="2919351" cy="3420280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D3FB72C8-4D58-25C6-0F39-17BDDCC1E026}"/>
              </a:ext>
            </a:extLst>
          </p:cNvPr>
          <p:cNvSpPr txBox="1"/>
          <p:nvPr/>
        </p:nvSpPr>
        <p:spPr>
          <a:xfrm>
            <a:off x="867712" y="19911763"/>
            <a:ext cx="922019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section aims to establish a high-capacity uplink between the Cluster Head UAV and a fast-moving LEO satellite, the backhaul bottleneck of the entire SAGIN.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Link Budget Model: Pipeline: FSPL → SNR → Shannon capacity.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Hybrid Beamforming Gain: Physical Model (Fig. 1)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SNR-Adaptive Rate Control: Recompute SNR from current geometry.</a:t>
            </a:r>
          </a:p>
        </p:txBody>
      </p: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AD7EA96-04D1-25C3-0484-915EA243BC05}"/>
              </a:ext>
            </a:extLst>
          </p:cNvPr>
          <p:cNvGrpSpPr/>
          <p:nvPr/>
        </p:nvGrpSpPr>
        <p:grpSpPr>
          <a:xfrm>
            <a:off x="14957492" y="9997055"/>
            <a:ext cx="5130125" cy="3128916"/>
            <a:chOff x="15061783" y="10389315"/>
            <a:chExt cx="5430507" cy="3413269"/>
          </a:xfrm>
        </p:grpSpPr>
        <p:grpSp>
          <p:nvGrpSpPr>
            <p:cNvPr id="75" name="群組 74">
              <a:extLst>
                <a:ext uri="{FF2B5EF4-FFF2-40B4-BE49-F238E27FC236}">
                  <a16:creationId xmlns:a16="http://schemas.microsoft.com/office/drawing/2014/main" id="{51CF963B-E21C-3686-9A42-0C06057B3C1C}"/>
                </a:ext>
              </a:extLst>
            </p:cNvPr>
            <p:cNvGrpSpPr/>
            <p:nvPr/>
          </p:nvGrpSpPr>
          <p:grpSpPr>
            <a:xfrm>
              <a:off x="15061783" y="10580362"/>
              <a:ext cx="2335001" cy="3105962"/>
              <a:chOff x="15208856" y="10797931"/>
              <a:chExt cx="2335001" cy="3105962"/>
            </a:xfrm>
          </p:grpSpPr>
          <p:grpSp>
            <p:nvGrpSpPr>
              <p:cNvPr id="76" name="群組 75">
                <a:extLst>
                  <a:ext uri="{FF2B5EF4-FFF2-40B4-BE49-F238E27FC236}">
                    <a16:creationId xmlns:a16="http://schemas.microsoft.com/office/drawing/2014/main" id="{842DB1CD-AF5F-6CAD-427E-39E0841644C1}"/>
                  </a:ext>
                </a:extLst>
              </p:cNvPr>
              <p:cNvGrpSpPr/>
              <p:nvPr/>
            </p:nvGrpSpPr>
            <p:grpSpPr>
              <a:xfrm>
                <a:off x="15298778" y="10797931"/>
                <a:ext cx="2245079" cy="3105962"/>
                <a:chOff x="15237042" y="10392350"/>
                <a:chExt cx="2245079" cy="3105962"/>
              </a:xfrm>
            </p:grpSpPr>
            <p:pic>
              <p:nvPicPr>
                <p:cNvPr id="79" name="Google Shape;107;g3d00297c732_0_7" title="LEO.png">
                  <a:extLst>
                    <a:ext uri="{FF2B5EF4-FFF2-40B4-BE49-F238E27FC236}">
                      <a16:creationId xmlns:a16="http://schemas.microsoft.com/office/drawing/2014/main" id="{D28763A7-9CCC-5BD8-78A2-111D7CC29642}"/>
                    </a:ext>
                  </a:extLst>
                </p:cNvPr>
                <p:cNvPicPr preferRelativeResize="0"/>
                <p:nvPr/>
              </p:nvPicPr>
              <p:blipFill rotWithShape="1">
                <a:blip r:embed="rId6">
                  <a:alphaModFix/>
                </a:blip>
                <a:srcRect/>
                <a:stretch/>
              </p:blipFill>
              <p:spPr>
                <a:xfrm>
                  <a:off x="16410024" y="10392350"/>
                  <a:ext cx="469662" cy="503828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grpSp>
              <p:nvGrpSpPr>
                <p:cNvPr id="80" name="群組 79">
                  <a:extLst>
                    <a:ext uri="{FF2B5EF4-FFF2-40B4-BE49-F238E27FC236}">
                      <a16:creationId xmlns:a16="http://schemas.microsoft.com/office/drawing/2014/main" id="{9CE5536B-196A-0D58-094C-C8EC7D3C9845}"/>
                    </a:ext>
                  </a:extLst>
                </p:cNvPr>
                <p:cNvGrpSpPr/>
                <p:nvPr/>
              </p:nvGrpSpPr>
              <p:grpSpPr>
                <a:xfrm>
                  <a:off x="15237042" y="12333702"/>
                  <a:ext cx="2245079" cy="1164610"/>
                  <a:chOff x="15377373" y="12057214"/>
                  <a:chExt cx="2245079" cy="1164610"/>
                </a:xfrm>
              </p:grpSpPr>
              <p:pic>
                <p:nvPicPr>
                  <p:cNvPr id="86" name="Google Shape;104;g3d00297c732_0_7" title="sensor.png">
                    <a:extLst>
                      <a:ext uri="{FF2B5EF4-FFF2-40B4-BE49-F238E27FC236}">
                        <a16:creationId xmlns:a16="http://schemas.microsoft.com/office/drawing/2014/main" id="{F97F1933-8423-C93B-611D-51C017554756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/>
                  <a:stretch/>
                </p:blipFill>
                <p:spPr>
                  <a:xfrm>
                    <a:off x="15377373" y="12486453"/>
                    <a:ext cx="383400" cy="383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grpSp>
                <p:nvGrpSpPr>
                  <p:cNvPr id="87" name="群組 86">
                    <a:extLst>
                      <a:ext uri="{FF2B5EF4-FFF2-40B4-BE49-F238E27FC236}">
                        <a16:creationId xmlns:a16="http://schemas.microsoft.com/office/drawing/2014/main" id="{D0F769AA-10B8-8760-0B18-60CF61D322FC}"/>
                      </a:ext>
                    </a:extLst>
                  </p:cNvPr>
                  <p:cNvGrpSpPr/>
                  <p:nvPr/>
                </p:nvGrpSpPr>
                <p:grpSpPr>
                  <a:xfrm>
                    <a:off x="15588374" y="12057214"/>
                    <a:ext cx="2034078" cy="1164610"/>
                    <a:chOff x="15588374" y="12057214"/>
                    <a:chExt cx="2034078" cy="1164610"/>
                  </a:xfrm>
                </p:grpSpPr>
                <p:pic>
                  <p:nvPicPr>
                    <p:cNvPr id="88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38FA44F1-C5DC-4CF2-88F5-9DEA6DDEF08D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7">
                      <a:alphaModFix/>
                    </a:blip>
                    <a:srcRect/>
                    <a:stretch/>
                  </p:blipFill>
                  <p:spPr>
                    <a:xfrm>
                      <a:off x="15727874" y="12830692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89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335D3EE6-B85F-6BB5-04E6-2CA47C745368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7">
                      <a:alphaModFix/>
                    </a:blip>
                    <a:srcRect/>
                    <a:stretch/>
                  </p:blipFill>
                  <p:spPr>
                    <a:xfrm>
                      <a:off x="16083306" y="12653616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sp>
                  <p:nvSpPr>
                    <p:cNvPr id="90" name="Google Shape;109;g3d00297c732_0_7">
                      <a:extLst>
                        <a:ext uri="{FF2B5EF4-FFF2-40B4-BE49-F238E27FC236}">
                          <a16:creationId xmlns:a16="http://schemas.microsoft.com/office/drawing/2014/main" id="{552F6F87-CCD7-F192-04C3-FBCD816597EF}"/>
                        </a:ext>
                      </a:extLst>
                    </p:cNvPr>
                    <p:cNvSpPr/>
                    <p:nvPr/>
                  </p:nvSpPr>
                  <p:spPr>
                    <a:xfrm rot="17598187">
                      <a:off x="15492974" y="12160468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1" name="Google Shape;109;g3d00297c732_0_7">
                      <a:extLst>
                        <a:ext uri="{FF2B5EF4-FFF2-40B4-BE49-F238E27FC236}">
                          <a16:creationId xmlns:a16="http://schemas.microsoft.com/office/drawing/2014/main" id="{4330FF46-FAF1-236E-A749-3461CB18C111}"/>
                        </a:ext>
                      </a:extLst>
                    </p:cNvPr>
                    <p:cNvSpPr/>
                    <p:nvPr/>
                  </p:nvSpPr>
                  <p:spPr>
                    <a:xfrm rot="17047058">
                      <a:off x="15827406" y="12279995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" name="Google Shape;109;g3d00297c732_0_7">
                      <a:extLst>
                        <a:ext uri="{FF2B5EF4-FFF2-40B4-BE49-F238E27FC236}">
                          <a16:creationId xmlns:a16="http://schemas.microsoft.com/office/drawing/2014/main" id="{A307B14D-A883-E367-B482-20773A762E74}"/>
                        </a:ext>
                      </a:extLst>
                    </p:cNvPr>
                    <p:cNvSpPr/>
                    <p:nvPr/>
                  </p:nvSpPr>
                  <p:spPr>
                    <a:xfrm rot="16621355">
                      <a:off x="16158817" y="12283337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pic>
                  <p:nvPicPr>
                    <p:cNvPr id="93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15E6D0A1-712B-76B6-604B-D6370FC01C8F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7">
                      <a:alphaModFix/>
                    </a:blip>
                    <a:srcRect/>
                    <a:stretch/>
                  </p:blipFill>
                  <p:spPr>
                    <a:xfrm flipH="1">
                      <a:off x="17239052" y="12494185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94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02E7A73B-902F-4CA3-7335-18D1CE808776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7">
                      <a:alphaModFix/>
                    </a:blip>
                    <a:srcRect/>
                    <a:stretch/>
                  </p:blipFill>
                  <p:spPr>
                    <a:xfrm flipH="1">
                      <a:off x="16888551" y="12838424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95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6F990D08-D729-39FC-0B6A-5201C5699AFF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7">
                      <a:alphaModFix/>
                    </a:blip>
                    <a:srcRect/>
                    <a:stretch/>
                  </p:blipFill>
                  <p:spPr>
                    <a:xfrm flipH="1">
                      <a:off x="16533119" y="12661348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sp>
                  <p:nvSpPr>
                    <p:cNvPr id="96" name="Google Shape;109;g3d00297c732_0_7">
                      <a:extLst>
                        <a:ext uri="{FF2B5EF4-FFF2-40B4-BE49-F238E27FC236}">
                          <a16:creationId xmlns:a16="http://schemas.microsoft.com/office/drawing/2014/main" id="{09D880C5-AD4B-5AB6-E01C-B052FC2B3423}"/>
                        </a:ext>
                      </a:extLst>
                    </p:cNvPr>
                    <p:cNvSpPr/>
                    <p:nvPr/>
                  </p:nvSpPr>
                  <p:spPr>
                    <a:xfrm rot="4080066" flipH="1">
                      <a:off x="17191878" y="12152614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7" name="Google Shape;109;g3d00297c732_0_7">
                      <a:extLst>
                        <a:ext uri="{FF2B5EF4-FFF2-40B4-BE49-F238E27FC236}">
                          <a16:creationId xmlns:a16="http://schemas.microsoft.com/office/drawing/2014/main" id="{8CAC37A8-8B85-7756-6EFA-2EEC25890DF0}"/>
                        </a:ext>
                      </a:extLst>
                    </p:cNvPr>
                    <p:cNvSpPr/>
                    <p:nvPr/>
                  </p:nvSpPr>
                  <p:spPr>
                    <a:xfrm rot="4552942" flipH="1">
                      <a:off x="16872719" y="12267515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8" name="Google Shape;109;g3d00297c732_0_7">
                      <a:extLst>
                        <a:ext uri="{FF2B5EF4-FFF2-40B4-BE49-F238E27FC236}">
                          <a16:creationId xmlns:a16="http://schemas.microsoft.com/office/drawing/2014/main" id="{0B2386F4-E7A0-3675-8D13-5E743F26BF0E}"/>
                        </a:ext>
                      </a:extLst>
                    </p:cNvPr>
                    <p:cNvSpPr/>
                    <p:nvPr/>
                  </p:nvSpPr>
                  <p:spPr>
                    <a:xfrm rot="4978645" flipH="1">
                      <a:off x="16557738" y="12283336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  <p:grpSp>
              <p:nvGrpSpPr>
                <p:cNvPr id="81" name="群組 80">
                  <a:extLst>
                    <a:ext uri="{FF2B5EF4-FFF2-40B4-BE49-F238E27FC236}">
                      <a16:creationId xmlns:a16="http://schemas.microsoft.com/office/drawing/2014/main" id="{B248D708-D818-681C-DC52-69B29C31FA18}"/>
                    </a:ext>
                  </a:extLst>
                </p:cNvPr>
                <p:cNvGrpSpPr/>
                <p:nvPr/>
              </p:nvGrpSpPr>
              <p:grpSpPr>
                <a:xfrm>
                  <a:off x="15567575" y="11532544"/>
                  <a:ext cx="1709724" cy="598276"/>
                  <a:chOff x="15705744" y="11389267"/>
                  <a:chExt cx="1709724" cy="598276"/>
                </a:xfrm>
              </p:grpSpPr>
              <p:pic>
                <p:nvPicPr>
                  <p:cNvPr id="83" name="Google Shape;103;g3d00297c732_0_7" title="UAV.jpg">
                    <a:extLst>
                      <a:ext uri="{FF2B5EF4-FFF2-40B4-BE49-F238E27FC236}">
                        <a16:creationId xmlns:a16="http://schemas.microsoft.com/office/drawing/2014/main" id="{79D94D9D-8297-9E27-2620-7875041FAF14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5705744" y="11659650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84" name="Google Shape;103;g3d00297c732_0_7" title="UAV.jpg">
                    <a:extLst>
                      <a:ext uri="{FF2B5EF4-FFF2-40B4-BE49-F238E27FC236}">
                        <a16:creationId xmlns:a16="http://schemas.microsoft.com/office/drawing/2014/main" id="{891CBAC3-09E4-6B09-91C9-8DC207D95E4A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6220742" y="11389267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85" name="Google Shape;103;g3d00297c732_0_7" title="UAV.jpg">
                    <a:extLst>
                      <a:ext uri="{FF2B5EF4-FFF2-40B4-BE49-F238E27FC236}">
                        <a16:creationId xmlns:a16="http://schemas.microsoft.com/office/drawing/2014/main" id="{D7A89C2D-4FEE-5C60-D3A8-1BC4294DB03E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6820443" y="11655133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sp>
              <p:nvSpPr>
                <p:cNvPr id="82" name="Google Shape;111;g3d00297c732_0_7">
                  <a:extLst>
                    <a:ext uri="{FF2B5EF4-FFF2-40B4-BE49-F238E27FC236}">
                      <a16:creationId xmlns:a16="http://schemas.microsoft.com/office/drawing/2014/main" id="{99B1C149-E0F7-F70C-3661-865C840F7C9B}"/>
                    </a:ext>
                  </a:extLst>
                </p:cNvPr>
                <p:cNvSpPr/>
                <p:nvPr/>
              </p:nvSpPr>
              <p:spPr>
                <a:xfrm rot="16832188">
                  <a:off x="16200480" y="11158784"/>
                  <a:ext cx="478490" cy="182673"/>
                </a:xfrm>
                <a:prstGeom prst="rightArrow">
                  <a:avLst>
                    <a:gd name="adj1" fmla="val 50000"/>
                    <a:gd name="adj2" fmla="val 50000"/>
                  </a:avLst>
                </a:prstGeom>
                <a:solidFill>
                  <a:srgbClr val="FF0000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39BD07F8-E764-5315-A365-79E9A4DD7E13}"/>
                  </a:ext>
                </a:extLst>
              </p:cNvPr>
              <p:cNvSpPr/>
              <p:nvPr/>
            </p:nvSpPr>
            <p:spPr>
              <a:xfrm>
                <a:off x="15291346" y="11759626"/>
                <a:ext cx="2252511" cy="1096967"/>
              </a:xfrm>
              <a:prstGeom prst="rect">
                <a:avLst/>
              </a:prstGeom>
              <a:no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39596CA9-063A-7B1B-67ED-C2D86FE60907}"/>
                  </a:ext>
                </a:extLst>
              </p:cNvPr>
              <p:cNvSpPr txBox="1"/>
              <p:nvPr/>
            </p:nvSpPr>
            <p:spPr>
              <a:xfrm>
                <a:off x="15208856" y="11452059"/>
                <a:ext cx="106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b="1" dirty="0"/>
                  <a:t>Fleet</a:t>
                </a:r>
                <a:endParaRPr lang="zh-TW" altLang="en-US" b="1" dirty="0"/>
              </a:p>
            </p:txBody>
          </p:sp>
        </p:grpSp>
        <p:grpSp>
          <p:nvGrpSpPr>
            <p:cNvPr id="99" name="群組 98">
              <a:extLst>
                <a:ext uri="{FF2B5EF4-FFF2-40B4-BE49-F238E27FC236}">
                  <a16:creationId xmlns:a16="http://schemas.microsoft.com/office/drawing/2014/main" id="{6E0FEE3F-A9D9-AD98-3B71-9C18694D0190}"/>
                </a:ext>
              </a:extLst>
            </p:cNvPr>
            <p:cNvGrpSpPr/>
            <p:nvPr/>
          </p:nvGrpSpPr>
          <p:grpSpPr>
            <a:xfrm>
              <a:off x="18027904" y="10490368"/>
              <a:ext cx="2464386" cy="3116161"/>
              <a:chOff x="18205594" y="10642766"/>
              <a:chExt cx="2464386" cy="3116161"/>
            </a:xfrm>
          </p:grpSpPr>
          <p:grpSp>
            <p:nvGrpSpPr>
              <p:cNvPr id="100" name="群組 99">
                <a:extLst>
                  <a:ext uri="{FF2B5EF4-FFF2-40B4-BE49-F238E27FC236}">
                    <a16:creationId xmlns:a16="http://schemas.microsoft.com/office/drawing/2014/main" id="{5CEE5588-E62E-9A46-730A-AE888EBDF65B}"/>
                  </a:ext>
                </a:extLst>
              </p:cNvPr>
              <p:cNvGrpSpPr/>
              <p:nvPr/>
            </p:nvGrpSpPr>
            <p:grpSpPr>
              <a:xfrm>
                <a:off x="19052965" y="11403788"/>
                <a:ext cx="833960" cy="675061"/>
                <a:chOff x="17930179" y="13367954"/>
                <a:chExt cx="833960" cy="675061"/>
              </a:xfrm>
            </p:grpSpPr>
            <p:pic>
              <p:nvPicPr>
                <p:cNvPr id="115" name="Google Shape;103;g3d00297c732_0_7" title="UAV.jpg">
                  <a:extLst>
                    <a:ext uri="{FF2B5EF4-FFF2-40B4-BE49-F238E27FC236}">
                      <a16:creationId xmlns:a16="http://schemas.microsoft.com/office/drawing/2014/main" id="{F1C1F75A-59D6-36EB-4E0B-BF7CDCA6705A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7930179" y="13367954"/>
                  <a:ext cx="833960" cy="478014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6" name="文字方塊 115">
                  <a:extLst>
                    <a:ext uri="{FF2B5EF4-FFF2-40B4-BE49-F238E27FC236}">
                      <a16:creationId xmlns:a16="http://schemas.microsoft.com/office/drawing/2014/main" id="{F4BE5FC3-C9F8-C3DA-28D3-323CE25A8EA9}"/>
                    </a:ext>
                  </a:extLst>
                </p:cNvPr>
                <p:cNvSpPr txBox="1"/>
                <p:nvPr/>
              </p:nvSpPr>
              <p:spPr>
                <a:xfrm>
                  <a:off x="17930179" y="13704461"/>
                  <a:ext cx="8339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Master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1" name="群組 100">
                <a:extLst>
                  <a:ext uri="{FF2B5EF4-FFF2-40B4-BE49-F238E27FC236}">
                    <a16:creationId xmlns:a16="http://schemas.microsoft.com/office/drawing/2014/main" id="{92A0450A-460E-AB52-4713-738835FB13CD}"/>
                  </a:ext>
                </a:extLst>
              </p:cNvPr>
              <p:cNvGrpSpPr/>
              <p:nvPr/>
            </p:nvGrpSpPr>
            <p:grpSpPr>
              <a:xfrm>
                <a:off x="18205594" y="12235073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13" name="Google Shape;103;g3d00297c732_0_7" title="UAV.jpg">
                  <a:extLst>
                    <a:ext uri="{FF2B5EF4-FFF2-40B4-BE49-F238E27FC236}">
                      <a16:creationId xmlns:a16="http://schemas.microsoft.com/office/drawing/2014/main" id="{B036A94E-D2F7-8831-5F3A-41E82E1DFB66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E5542F90-5463-37B7-E731-A26A5A218B2E}"/>
                    </a:ext>
                  </a:extLst>
                </p:cNvPr>
                <p:cNvSpPr txBox="1"/>
                <p:nvPr/>
              </p:nvSpPr>
              <p:spPr>
                <a:xfrm>
                  <a:off x="18318021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2" name="群組 101">
                <a:extLst>
                  <a:ext uri="{FF2B5EF4-FFF2-40B4-BE49-F238E27FC236}">
                    <a16:creationId xmlns:a16="http://schemas.microsoft.com/office/drawing/2014/main" id="{B27838E2-3C43-8515-87EB-EB83E671629E}"/>
                  </a:ext>
                </a:extLst>
              </p:cNvPr>
              <p:cNvGrpSpPr/>
              <p:nvPr/>
            </p:nvGrpSpPr>
            <p:grpSpPr>
              <a:xfrm>
                <a:off x="19052965" y="12369168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11" name="Google Shape;103;g3d00297c732_0_7" title="UAV.jpg">
                  <a:extLst>
                    <a:ext uri="{FF2B5EF4-FFF2-40B4-BE49-F238E27FC236}">
                      <a16:creationId xmlns:a16="http://schemas.microsoft.com/office/drawing/2014/main" id="{2CE8DBAF-D99B-A3C5-4DF9-249E0F22BDDA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2" name="文字方塊 111">
                  <a:extLst>
                    <a:ext uri="{FF2B5EF4-FFF2-40B4-BE49-F238E27FC236}">
                      <a16:creationId xmlns:a16="http://schemas.microsoft.com/office/drawing/2014/main" id="{019DFB16-506C-3AD0-E5D0-BA1492F8FE1C}"/>
                    </a:ext>
                  </a:extLst>
                </p:cNvPr>
                <p:cNvSpPr txBox="1"/>
                <p:nvPr/>
              </p:nvSpPr>
              <p:spPr>
                <a:xfrm>
                  <a:off x="18318021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3" name="群組 102">
                <a:extLst>
                  <a:ext uri="{FF2B5EF4-FFF2-40B4-BE49-F238E27FC236}">
                    <a16:creationId xmlns:a16="http://schemas.microsoft.com/office/drawing/2014/main" id="{AB5BDC4F-EDF6-2103-F0CA-1A031F576BF6}"/>
                  </a:ext>
                </a:extLst>
              </p:cNvPr>
              <p:cNvGrpSpPr/>
              <p:nvPr/>
            </p:nvGrpSpPr>
            <p:grpSpPr>
              <a:xfrm>
                <a:off x="19836020" y="12267299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09" name="Google Shape;103;g3d00297c732_0_7" title="UAV.jpg">
                  <a:extLst>
                    <a:ext uri="{FF2B5EF4-FFF2-40B4-BE49-F238E27FC236}">
                      <a16:creationId xmlns:a16="http://schemas.microsoft.com/office/drawing/2014/main" id="{BE0F5D26-A442-05AF-16B2-1AD3BCD65086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0" name="文字方塊 109">
                  <a:extLst>
                    <a:ext uri="{FF2B5EF4-FFF2-40B4-BE49-F238E27FC236}">
                      <a16:creationId xmlns:a16="http://schemas.microsoft.com/office/drawing/2014/main" id="{61CA5FD1-1A8D-2CDB-AA32-601032B072C5}"/>
                    </a:ext>
                  </a:extLst>
                </p:cNvPr>
                <p:cNvSpPr txBox="1"/>
                <p:nvPr/>
              </p:nvSpPr>
              <p:spPr>
                <a:xfrm>
                  <a:off x="18318021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sp>
            <p:nvSpPr>
              <p:cNvPr id="104" name="Google Shape;205;g3d00297c732_0_53">
                <a:extLst>
                  <a:ext uri="{FF2B5EF4-FFF2-40B4-BE49-F238E27FC236}">
                    <a16:creationId xmlns:a16="http://schemas.microsoft.com/office/drawing/2014/main" id="{4BFFBF92-2D01-A448-B589-F5DE2FBAC1C2}"/>
                  </a:ext>
                </a:extLst>
              </p:cNvPr>
              <p:cNvSpPr/>
              <p:nvPr/>
            </p:nvSpPr>
            <p:spPr>
              <a:xfrm rot="18163514">
                <a:off x="18735312" y="12016201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5" name="Google Shape;205;g3d00297c732_0_53">
                <a:extLst>
                  <a:ext uri="{FF2B5EF4-FFF2-40B4-BE49-F238E27FC236}">
                    <a16:creationId xmlns:a16="http://schemas.microsoft.com/office/drawing/2014/main" id="{1640F0FA-E551-A390-D9B2-1FF2996DB38E}"/>
                  </a:ext>
                </a:extLst>
              </p:cNvPr>
              <p:cNvSpPr/>
              <p:nvPr/>
            </p:nvSpPr>
            <p:spPr>
              <a:xfrm rot="16200000">
                <a:off x="19260520" y="12101983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6" name="Google Shape;205;g3d00297c732_0_53">
                <a:extLst>
                  <a:ext uri="{FF2B5EF4-FFF2-40B4-BE49-F238E27FC236}">
                    <a16:creationId xmlns:a16="http://schemas.microsoft.com/office/drawing/2014/main" id="{A50312B0-0FF7-43F9-200F-AB0196FD9AF0}"/>
                  </a:ext>
                </a:extLst>
              </p:cNvPr>
              <p:cNvSpPr/>
              <p:nvPr/>
            </p:nvSpPr>
            <p:spPr>
              <a:xfrm rot="13940948">
                <a:off x="19773319" y="11997080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" name="Google Shape;205;g3d00297c732_0_53">
                <a:extLst>
                  <a:ext uri="{FF2B5EF4-FFF2-40B4-BE49-F238E27FC236}">
                    <a16:creationId xmlns:a16="http://schemas.microsoft.com/office/drawing/2014/main" id="{86B72903-24DD-26CE-BD12-9631275AD317}"/>
                  </a:ext>
                </a:extLst>
              </p:cNvPr>
              <p:cNvSpPr/>
              <p:nvPr/>
            </p:nvSpPr>
            <p:spPr>
              <a:xfrm rot="16200000">
                <a:off x="19096073" y="10869718"/>
                <a:ext cx="720994" cy="26709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0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8" name="Google Shape;109;g3d00297c732_0_7">
                <a:extLst>
                  <a:ext uri="{FF2B5EF4-FFF2-40B4-BE49-F238E27FC236}">
                    <a16:creationId xmlns:a16="http://schemas.microsoft.com/office/drawing/2014/main" id="{F4A565B9-8ECB-A4D4-9A95-34A2B3F9035C}"/>
                  </a:ext>
                </a:extLst>
              </p:cNvPr>
              <p:cNvSpPr/>
              <p:nvPr/>
            </p:nvSpPr>
            <p:spPr>
              <a:xfrm rot="5400000" flipH="1">
                <a:off x="19144233" y="13327601"/>
                <a:ext cx="617206" cy="245446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cxnSp>
          <p:nvCxnSpPr>
            <p:cNvPr id="117" name="直線接點 116">
              <a:extLst>
                <a:ext uri="{FF2B5EF4-FFF2-40B4-BE49-F238E27FC236}">
                  <a16:creationId xmlns:a16="http://schemas.microsoft.com/office/drawing/2014/main" id="{18DC58B0-B2E0-3256-0D9B-8A530C8B3E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96784" y="10389315"/>
              <a:ext cx="1194699" cy="13007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6C1C0A63-DB2C-2E26-3AA1-8326DDACFD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414813" y="12488909"/>
              <a:ext cx="1183639" cy="131367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0B09867A-A886-D538-799A-EA9A00D1B7BB}"/>
              </a:ext>
            </a:extLst>
          </p:cNvPr>
          <p:cNvSpPr txBox="1"/>
          <p:nvPr/>
        </p:nvSpPr>
        <p:spPr>
          <a:xfrm>
            <a:off x="10087911" y="23122212"/>
            <a:ext cx="32688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1: Polar Beamforming Patterns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E7E391A6-441E-8DCE-8902-D840512FD7B8}"/>
              </a:ext>
            </a:extLst>
          </p:cNvPr>
          <p:cNvSpPr txBox="1"/>
          <p:nvPr/>
        </p:nvSpPr>
        <p:spPr>
          <a:xfrm>
            <a:off x="14492416" y="13156272"/>
            <a:ext cx="6384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Fig. 2: System Architecture</a:t>
            </a:r>
            <a:endParaRPr lang="zh-TW" altLang="en-US" sz="2000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DBD301F-A789-4DC7-B4EF-AC303019B682}"/>
              </a:ext>
            </a:extLst>
          </p:cNvPr>
          <p:cNvSpPr txBox="1"/>
          <p:nvPr/>
        </p:nvSpPr>
        <p:spPr>
          <a:xfrm>
            <a:off x="14477174" y="17740677"/>
            <a:ext cx="6384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Fig. 3: Data Flow</a:t>
            </a:r>
            <a:endParaRPr lang="zh-TW" altLang="en-US" sz="2000" dirty="0"/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82308145-B8A2-E5FD-71E0-BAED30083B6D}"/>
              </a:ext>
            </a:extLst>
          </p:cNvPr>
          <p:cNvSpPr txBox="1"/>
          <p:nvPr/>
        </p:nvSpPr>
        <p:spPr>
          <a:xfrm>
            <a:off x="14631134" y="18132484"/>
            <a:ext cx="620893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SAGIN hierarchy: Sensor → Slave UAV → CH UAV → LEO satellite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Role split: Slave UAVs collect IoT data; CH UAV holds the satellite backhaul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pipeline? Intermittent LEO visibility + massive access congestion demand offline scheduling before uplink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NS-3.35 + ns-3-leo: each link simulated independently: uas-probe.cc (intra-fleet), uav-to-leo.cc (backhaul)</a:t>
            </a:r>
          </a:p>
        </p:txBody>
      </p:sp>
      <p:cxnSp>
        <p:nvCxnSpPr>
          <p:cNvPr id="134" name="直線接點 133">
            <a:extLst>
              <a:ext uri="{FF2B5EF4-FFF2-40B4-BE49-F238E27FC236}">
                <a16:creationId xmlns:a16="http://schemas.microsoft.com/office/drawing/2014/main" id="{ED7D9CE6-CD08-1C69-969F-5AF60A4F7662}"/>
              </a:ext>
            </a:extLst>
          </p:cNvPr>
          <p:cNvCxnSpPr>
            <a:cxnSpLocks/>
            <a:stCxn id="26" idx="3"/>
          </p:cNvCxnSpPr>
          <p:nvPr/>
        </p:nvCxnSpPr>
        <p:spPr>
          <a:xfrm flipV="1">
            <a:off x="13941479" y="21511534"/>
            <a:ext cx="313691" cy="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C94570F3-5C22-B00A-5D46-04CDEBF393D1}"/>
              </a:ext>
            </a:extLst>
          </p:cNvPr>
          <p:cNvCxnSpPr/>
          <p:nvPr/>
        </p:nvCxnSpPr>
        <p:spPr>
          <a:xfrm flipV="1">
            <a:off x="14240256" y="17337024"/>
            <a:ext cx="0" cy="417451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直線單箭頭接點 137">
            <a:extLst>
              <a:ext uri="{FF2B5EF4-FFF2-40B4-BE49-F238E27FC236}">
                <a16:creationId xmlns:a16="http://schemas.microsoft.com/office/drawing/2014/main" id="{43883191-3195-0783-B384-21511476990B}"/>
              </a:ext>
            </a:extLst>
          </p:cNvPr>
          <p:cNvCxnSpPr/>
          <p:nvPr/>
        </p:nvCxnSpPr>
        <p:spPr>
          <a:xfrm>
            <a:off x="14225696" y="17337024"/>
            <a:ext cx="240639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直線接點 138">
            <a:extLst>
              <a:ext uri="{FF2B5EF4-FFF2-40B4-BE49-F238E27FC236}">
                <a16:creationId xmlns:a16="http://schemas.microsoft.com/office/drawing/2014/main" id="{715F88FD-1371-3CB8-B728-7AB18F6B071B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13931846" y="11387392"/>
            <a:ext cx="3084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12B514FA-2D54-6AB9-58F2-A50A56F8B3A8}"/>
              </a:ext>
            </a:extLst>
          </p:cNvPr>
          <p:cNvCxnSpPr>
            <a:cxnSpLocks/>
          </p:cNvCxnSpPr>
          <p:nvPr/>
        </p:nvCxnSpPr>
        <p:spPr>
          <a:xfrm flipV="1">
            <a:off x="14218671" y="11387391"/>
            <a:ext cx="2438" cy="380168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直線單箭頭接點 142">
            <a:extLst>
              <a:ext uri="{FF2B5EF4-FFF2-40B4-BE49-F238E27FC236}">
                <a16:creationId xmlns:a16="http://schemas.microsoft.com/office/drawing/2014/main" id="{B0E69C56-A713-9171-0995-F54FA708FB6C}"/>
              </a:ext>
            </a:extLst>
          </p:cNvPr>
          <p:cNvCxnSpPr>
            <a:cxnSpLocks/>
          </p:cNvCxnSpPr>
          <p:nvPr/>
        </p:nvCxnSpPr>
        <p:spPr>
          <a:xfrm>
            <a:off x="14225696" y="15189079"/>
            <a:ext cx="405438" cy="60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FC7E6B5A-43E1-1F0F-0795-1DED2215BB3B}"/>
              </a:ext>
            </a:extLst>
          </p:cNvPr>
          <p:cNvSpPr txBox="1"/>
          <p:nvPr/>
        </p:nvSpPr>
        <p:spPr>
          <a:xfrm>
            <a:off x="642097" y="9635178"/>
            <a:ext cx="1301792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section aims to characterize the intra-fleet wireless links between slave UAVs and the CH/master UAV before scheduling, and export scheduler-ready link quality logs.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Link Budget Model: Pipeline: distance → Friis path loss → SNR → Shannon capacity.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Active Packet Probing: Send UDP probing packets on each candidate UAV-to-UAV link and record Tx/Rx packets, bytes, delivery ratio, and effective throughput.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Scheduler-Oriented Output: Export per-link CSV logs including </a:t>
            </a:r>
            <a:r>
              <a:rPr lang="en-US" altLang="zh-TW" sz="2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src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2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dst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roles, 3D positions, distance, SNR, estimated rate, and measured throughput.</a:t>
            </a:r>
          </a:p>
        </p:txBody>
      </p:sp>
      <p:graphicFrame>
        <p:nvGraphicFramePr>
          <p:cNvPr id="44" name="表格 43">
            <a:extLst>
              <a:ext uri="{FF2B5EF4-FFF2-40B4-BE49-F238E27FC236}">
                <a16:creationId xmlns:a16="http://schemas.microsoft.com/office/drawing/2014/main" id="{A9007C9F-8992-4846-E572-CB8CCE1916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554822"/>
              </p:ext>
            </p:extLst>
          </p:nvPr>
        </p:nvGraphicFramePr>
        <p:xfrm>
          <a:off x="3085390" y="12380018"/>
          <a:ext cx="6647543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9886">
                  <a:extLst>
                    <a:ext uri="{9D8B030D-6E8A-4147-A177-3AD203B41FA5}">
                      <a16:colId xmlns:a16="http://schemas.microsoft.com/office/drawing/2014/main" val="2868866752"/>
                    </a:ext>
                  </a:extLst>
                </a:gridCol>
                <a:gridCol w="1248229">
                  <a:extLst>
                    <a:ext uri="{9D8B030D-6E8A-4147-A177-3AD203B41FA5}">
                      <a16:colId xmlns:a16="http://schemas.microsoft.com/office/drawing/2014/main" val="32786598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125416225"/>
                    </a:ext>
                  </a:extLst>
                </a:gridCol>
                <a:gridCol w="1466279">
                  <a:extLst>
                    <a:ext uri="{9D8B030D-6E8A-4147-A177-3AD203B41FA5}">
                      <a16:colId xmlns:a16="http://schemas.microsoft.com/office/drawing/2014/main" val="246851647"/>
                    </a:ext>
                  </a:extLst>
                </a:gridCol>
                <a:gridCol w="2017149">
                  <a:extLst>
                    <a:ext uri="{9D8B030D-6E8A-4147-A177-3AD203B41FA5}">
                      <a16:colId xmlns:a16="http://schemas.microsoft.com/office/drawing/2014/main" val="2378117280"/>
                    </a:ext>
                  </a:extLst>
                </a:gridCol>
              </a:tblGrid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Distance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SNR (dB)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Est. Rate (Mbps)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Eff. Throughput (Mbps)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2122212"/>
                  </a:ext>
                </a:extLst>
              </a:tr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S1 →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18.4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34.2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28.7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0853159"/>
                  </a:ext>
                </a:extLst>
              </a:tr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S2 →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24.9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7888213"/>
                  </a:ext>
                </a:extLst>
              </a:tr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S3 →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230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16.8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12.5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7277863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3AF74B4A-6363-35FF-A239-C0E39B901995}"/>
              </a:ext>
            </a:extLst>
          </p:cNvPr>
          <p:cNvSpPr txBox="1"/>
          <p:nvPr/>
        </p:nvSpPr>
        <p:spPr>
          <a:xfrm>
            <a:off x="709408" y="14718860"/>
            <a:ext cx="1301792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section validates whether a scheduler-generated task plan can </a:t>
            </a:r>
            <a:r>
              <a:rPr lang="en-US" altLang="zh-TW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besuccessfully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executed in the NS-3 network simulator under UAV </a:t>
            </a:r>
            <a:r>
              <a:rPr lang="en-US" altLang="zh-TW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mobility,role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changes, and wireless transmission constraints.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Trace-Driven Replay: Read scheduler JSON containing MOVE, ROLE_SET,   SENSOR_TO_UAV, and SLAVE_TO_MASTER events.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Data Dependency Model: Sensor data must first arrive at the assigned   UAV buffer before the slave UAV can forward it to the CH/master UAV.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Verification Output: Record task completion time, deadline satisfaction,   total completed tasks, mission finish time, and effective throughput.</a:t>
            </a:r>
          </a:p>
        </p:txBody>
      </p:sp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8E838DA6-A263-4F95-044E-EC4BAC752E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698348"/>
              </p:ext>
            </p:extLst>
          </p:nvPr>
        </p:nvGraphicFramePr>
        <p:xfrm>
          <a:off x="3194967" y="17788674"/>
          <a:ext cx="7912182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18697">
                  <a:extLst>
                    <a:ext uri="{9D8B030D-6E8A-4147-A177-3AD203B41FA5}">
                      <a16:colId xmlns:a16="http://schemas.microsoft.com/office/drawing/2014/main" val="2437764609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3891642840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1213435560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3242861009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189405218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728506458"/>
                    </a:ext>
                  </a:extLst>
                </a:gridCol>
              </a:tblGrid>
              <a:tr h="1915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Scenario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UAVs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Sensors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Transfers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Completed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Deadline Met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8598044"/>
                  </a:ext>
                </a:extLst>
              </a:tr>
              <a:tr h="1915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Simple trace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79 / 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4040455"/>
                  </a:ext>
                </a:extLst>
              </a:tr>
              <a:tr h="1915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Normal trace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212 / 212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6952168"/>
                  </a:ext>
                </a:extLst>
              </a:tr>
            </a:tbl>
          </a:graphicData>
        </a:graphic>
      </p:graphicFrame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6BBAA2AB-0126-6FD1-4EE9-34E36A54B458}"/>
              </a:ext>
            </a:extLst>
          </p:cNvPr>
          <p:cNvCxnSpPr>
            <a:cxnSpLocks/>
          </p:cNvCxnSpPr>
          <p:nvPr/>
        </p:nvCxnSpPr>
        <p:spPr>
          <a:xfrm>
            <a:off x="13944119" y="15702016"/>
            <a:ext cx="4354415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08F6E4D4-DF3C-DBA4-C7ED-1F401F1EE172}"/>
              </a:ext>
            </a:extLst>
          </p:cNvPr>
          <p:cNvCxnSpPr>
            <a:cxnSpLocks/>
          </p:cNvCxnSpPr>
          <p:nvPr/>
        </p:nvCxnSpPr>
        <p:spPr>
          <a:xfrm flipH="1" flipV="1">
            <a:off x="18295402" y="15696063"/>
            <a:ext cx="3132" cy="42023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784AC50A-921D-8CA5-87CA-8EEF4D88AF7D}"/>
              </a:ext>
            </a:extLst>
          </p:cNvPr>
          <p:cNvCxnSpPr>
            <a:cxnSpLocks/>
          </p:cNvCxnSpPr>
          <p:nvPr/>
        </p:nvCxnSpPr>
        <p:spPr>
          <a:xfrm>
            <a:off x="18291951" y="16116300"/>
            <a:ext cx="26809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9829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01747F6-A2D4-4110-A5FA-5607DAE5FF0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135e1cd-4394-4472-a204-845e7f069d5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868</TotalTime>
  <Words>640</Words>
  <Application>Microsoft Office PowerPoint</Application>
  <PresentationFormat>自訂</PresentationFormat>
  <Paragraphs>84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Times New Roman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李 宗諺</dc:creator>
  <cp:lastModifiedBy>李 宗諺</cp:lastModifiedBy>
  <cp:revision>19</cp:revision>
  <dcterms:created xsi:type="dcterms:W3CDTF">2026-04-29T12:37:48Z</dcterms:created>
  <dcterms:modified xsi:type="dcterms:W3CDTF">2026-05-05T18:52:36Z</dcterms:modified>
</cp:coreProperties>
</file>