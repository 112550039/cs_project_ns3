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3745" autoAdjust="0"/>
  </p:normalViewPr>
  <p:slideViewPr>
    <p:cSldViewPr snapToGrid="0">
      <p:cViewPr>
        <p:scale>
          <a:sx n="50" d="100"/>
          <a:sy n="50" d="100"/>
        </p:scale>
        <p:origin x="301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5262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794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595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622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038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94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5700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4817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80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555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1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FB994-8C7A-432F-9145-2B89982E5304}" type="datetimeFigureOut">
              <a:rPr lang="zh-TW" altLang="en-US" smtClean="0"/>
              <a:t>2026/5/4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9859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4A43AAF6-BC9D-7FC3-0C6E-73D6718EB573}"/>
              </a:ext>
            </a:extLst>
          </p:cNvPr>
          <p:cNvSpPr txBox="1"/>
          <p:nvPr/>
        </p:nvSpPr>
        <p:spPr>
          <a:xfrm>
            <a:off x="2325950" y="872251"/>
            <a:ext cx="171222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5400" b="1" dirty="0">
                <a:solidFill>
                  <a:srgbClr val="C00000"/>
                </a:solidFill>
              </a:rPr>
              <a:t>An NS-3-Based Framework for Schedule Replay, Link Probing, and Mission Verification in UAV-LEO Networks</a:t>
            </a:r>
            <a:endParaRPr lang="zh-TW" altLang="en-US" sz="5400" b="1" dirty="0">
              <a:solidFill>
                <a:srgbClr val="C0000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FC2975-9F1C-A660-B3BA-2A1A04A982F2}"/>
              </a:ext>
            </a:extLst>
          </p:cNvPr>
          <p:cNvSpPr txBox="1"/>
          <p:nvPr/>
        </p:nvSpPr>
        <p:spPr>
          <a:xfrm>
            <a:off x="3833812" y="2626577"/>
            <a:ext cx="13716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Author : 112550039  </a:t>
            </a:r>
            <a:r>
              <a:rPr lang="zh-TW" altLang="en-US" sz="2000" dirty="0"/>
              <a:t>李宗諺</a:t>
            </a:r>
            <a:r>
              <a:rPr lang="en-US" altLang="zh-TW" sz="2000" dirty="0"/>
              <a:t>, 112550139</a:t>
            </a:r>
            <a:r>
              <a:rPr lang="zh-TW" altLang="en-US" sz="2000" dirty="0"/>
              <a:t> 簡士原</a:t>
            </a:r>
            <a:endParaRPr lang="en-US" altLang="zh-TW" sz="2000" dirty="0"/>
          </a:p>
          <a:p>
            <a:pPr algn="ctr"/>
            <a:r>
              <a:rPr lang="en-US" altLang="zh-TW" sz="2000" dirty="0"/>
              <a:t>Department/University : Computer Science/National Yang Ming Chiao Tung University</a:t>
            </a:r>
          </a:p>
          <a:p>
            <a:pPr algn="ctr"/>
            <a:r>
              <a:rPr lang="en-US" altLang="zh-TW" sz="2000" dirty="0"/>
              <a:t>Advisor : Kate Ching-Ju Lin</a:t>
            </a:r>
            <a:endParaRPr lang="zh-TW" altLang="en-US" sz="20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6FC2188-5B09-ED71-44DA-22C61B2F856B}"/>
              </a:ext>
            </a:extLst>
          </p:cNvPr>
          <p:cNvSpPr txBox="1"/>
          <p:nvPr/>
        </p:nvSpPr>
        <p:spPr>
          <a:xfrm>
            <a:off x="928687" y="3826905"/>
            <a:ext cx="199167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</a:rPr>
              <a:t>Background and Motivation</a:t>
            </a:r>
          </a:p>
          <a:p>
            <a:r>
              <a:rPr lang="en-US" altLang="zh-TW" sz="3200" dirty="0"/>
              <a:t> • UAV and LEO networks are important for wide-area communication and task delivery. </a:t>
            </a:r>
          </a:p>
          <a:p>
            <a:r>
              <a:rPr lang="en-US" altLang="zh-TW" sz="3200" dirty="0"/>
              <a:t> • Scheduling and validating communication tasks in such networks is challenging. </a:t>
            </a:r>
          </a:p>
          <a:p>
            <a:r>
              <a:rPr lang="en-US" altLang="zh-TW" sz="3200" dirty="0"/>
              <a:t> • A simulation framework is needed to replay schedules and verify whether mission deadlines can be met.</a:t>
            </a:r>
          </a:p>
          <a:p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7910FA4-9020-0303-B458-DDF5EDCA9A05}"/>
              </a:ext>
            </a:extLst>
          </p:cNvPr>
          <p:cNvSpPr txBox="1"/>
          <p:nvPr/>
        </p:nvSpPr>
        <p:spPr>
          <a:xfrm>
            <a:off x="928685" y="5972911"/>
            <a:ext cx="1991677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</a:rPr>
              <a:t>Problem Statement</a:t>
            </a:r>
          </a:p>
          <a:p>
            <a:r>
              <a:rPr lang="en-US" altLang="zh-TW" sz="3200" dirty="0"/>
              <a:t> • External schedulers may generate communication schedules, but their feasibility must be verified.</a:t>
            </a:r>
          </a:p>
          <a:p>
            <a:r>
              <a:rPr lang="en-US" altLang="zh-TW" sz="3200" dirty="0"/>
              <a:t> • We need a framework that can replay task schedules in NS-3 and evaluate communication performance.</a:t>
            </a:r>
          </a:p>
          <a:p>
            <a:r>
              <a:rPr lang="en-US" altLang="zh-TW" sz="3200" dirty="0"/>
              <a:t> • We also need to estimate or measure link quality for UAV-to-UAV and UAV-to-LEO communication.</a:t>
            </a:r>
            <a:endParaRPr lang="zh-TW" altLang="en-US" sz="3200" dirty="0"/>
          </a:p>
        </p:txBody>
      </p:sp>
      <p:pic>
        <p:nvPicPr>
          <p:cNvPr id="9" name="圖片 8" descr="Seal-NYCU Secretariat">
            <a:extLst>
              <a:ext uri="{FF2B5EF4-FFF2-40B4-BE49-F238E27FC236}">
                <a16:creationId xmlns:a16="http://schemas.microsoft.com/office/drawing/2014/main" id="{22C4AD91-54E8-7E8E-D818-ABBF6F18A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0536" y="2342849"/>
            <a:ext cx="5114925" cy="208859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FDD6EB5-0AA2-48FB-AB3B-8E7649083C2A}"/>
              </a:ext>
            </a:extLst>
          </p:cNvPr>
          <p:cNvSpPr txBox="1"/>
          <p:nvPr/>
        </p:nvSpPr>
        <p:spPr>
          <a:xfrm>
            <a:off x="928685" y="8211891"/>
            <a:ext cx="199167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</a:rPr>
              <a:t>Methods &amp; Results</a:t>
            </a:r>
            <a:endParaRPr lang="zh-TW" altLang="en-US" sz="3200" dirty="0"/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2A5E5E1C-A552-FC5B-0B74-F4A83685DF3A}"/>
              </a:ext>
            </a:extLst>
          </p:cNvPr>
          <p:cNvGrpSpPr/>
          <p:nvPr/>
        </p:nvGrpSpPr>
        <p:grpSpPr>
          <a:xfrm>
            <a:off x="600812" y="8973543"/>
            <a:ext cx="13426956" cy="4829041"/>
            <a:chOff x="928685" y="9572625"/>
            <a:chExt cx="6972301" cy="4450556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6" name="矩形: 圓角 15">
              <a:extLst>
                <a:ext uri="{FF2B5EF4-FFF2-40B4-BE49-F238E27FC236}">
                  <a16:creationId xmlns:a16="http://schemas.microsoft.com/office/drawing/2014/main" id="{B8A06844-7B18-C1C0-22E5-5630CF5522B9}"/>
                </a:ext>
              </a:extLst>
            </p:cNvPr>
            <p:cNvSpPr/>
            <p:nvPr/>
          </p:nvSpPr>
          <p:spPr>
            <a:xfrm>
              <a:off x="928686" y="9572625"/>
              <a:ext cx="6972300" cy="4450556"/>
            </a:xfrm>
            <a:prstGeom prst="roundRect">
              <a:avLst/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7B9B10-86F0-2B8B-E1CA-D7DCA8C616B7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/>
                <a:t>UAV-to-LEO Uplink</a:t>
              </a:r>
              <a:endParaRPr lang="zh-TW" altLang="en-US" sz="3400" b="1" dirty="0"/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CCA2105-6DBB-67BC-DC32-76256CD9A53E}"/>
              </a:ext>
            </a:extLst>
          </p:cNvPr>
          <p:cNvGrpSpPr/>
          <p:nvPr/>
        </p:nvGrpSpPr>
        <p:grpSpPr>
          <a:xfrm>
            <a:off x="514527" y="14020153"/>
            <a:ext cx="13426954" cy="4829041"/>
            <a:chOff x="928685" y="9572625"/>
            <a:chExt cx="6972301" cy="4450556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2EDFDD8B-2059-65BB-4136-A0114F533964}"/>
                </a:ext>
              </a:extLst>
            </p:cNvPr>
            <p:cNvSpPr/>
            <p:nvPr/>
          </p:nvSpPr>
          <p:spPr>
            <a:xfrm>
              <a:off x="928686" y="9572625"/>
              <a:ext cx="6972300" cy="4450556"/>
            </a:xfrm>
            <a:prstGeom prst="roundRect">
              <a:avLst/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87DB47F-64F6-D8FB-1A11-821A516595AE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/>
                <a:t>NS-3 Schedule Replay / Verification</a:t>
              </a:r>
              <a:endParaRPr lang="zh-TW" altLang="en-US" sz="3400" b="1" dirty="0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42758803-CB13-9FD0-EA7B-55416FA5926E}"/>
              </a:ext>
            </a:extLst>
          </p:cNvPr>
          <p:cNvGrpSpPr/>
          <p:nvPr/>
        </p:nvGrpSpPr>
        <p:grpSpPr>
          <a:xfrm>
            <a:off x="514527" y="19097015"/>
            <a:ext cx="13397923" cy="4829041"/>
            <a:chOff x="928685" y="9572625"/>
            <a:chExt cx="6972301" cy="4450556"/>
          </a:xfrm>
        </p:grpSpPr>
        <p:sp>
          <p:nvSpPr>
            <p:cNvPr id="26" name="矩形: 圓角 25">
              <a:extLst>
                <a:ext uri="{FF2B5EF4-FFF2-40B4-BE49-F238E27FC236}">
                  <a16:creationId xmlns:a16="http://schemas.microsoft.com/office/drawing/2014/main" id="{7570CB07-8B77-D06A-05E1-A3388792A05B}"/>
                </a:ext>
              </a:extLst>
            </p:cNvPr>
            <p:cNvSpPr/>
            <p:nvPr/>
          </p:nvSpPr>
          <p:spPr>
            <a:xfrm>
              <a:off x="928686" y="9572625"/>
              <a:ext cx="6972300" cy="4450556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43E54B8B-FFA1-0B09-5621-594F268DAD78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/>
                <a:t>UAV-to-UAV Probe</a:t>
              </a:r>
              <a:endParaRPr lang="zh-TW" altLang="en-US" sz="3400" b="1" dirty="0"/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342C980-884B-A1BC-0F12-CDDFE3330028}"/>
              </a:ext>
            </a:extLst>
          </p:cNvPr>
          <p:cNvGrpSpPr/>
          <p:nvPr/>
        </p:nvGrpSpPr>
        <p:grpSpPr>
          <a:xfrm>
            <a:off x="14437517" y="8973543"/>
            <a:ext cx="6407943" cy="15006279"/>
            <a:chOff x="928686" y="9572625"/>
            <a:chExt cx="6972300" cy="4450556"/>
          </a:xfrm>
        </p:grpSpPr>
        <p:sp>
          <p:nvSpPr>
            <p:cNvPr id="62" name="矩形: 圓角 61">
              <a:extLst>
                <a:ext uri="{FF2B5EF4-FFF2-40B4-BE49-F238E27FC236}">
                  <a16:creationId xmlns:a16="http://schemas.microsoft.com/office/drawing/2014/main" id="{E84668A6-42FE-03D8-DB0D-03993B959D2E}"/>
                </a:ext>
              </a:extLst>
            </p:cNvPr>
            <p:cNvSpPr/>
            <p:nvPr/>
          </p:nvSpPr>
          <p:spPr>
            <a:xfrm>
              <a:off x="928686" y="9572625"/>
              <a:ext cx="6972300" cy="445055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5B3A5BBF-FC38-C7E9-B94E-EE79F57A19E4}"/>
                </a:ext>
              </a:extLst>
            </p:cNvPr>
            <p:cNvSpPr txBox="1"/>
            <p:nvPr/>
          </p:nvSpPr>
          <p:spPr>
            <a:xfrm>
              <a:off x="928686" y="9625394"/>
              <a:ext cx="6972300" cy="8569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/>
                <a:t>System Architecture &amp;</a:t>
              </a:r>
              <a:r>
                <a:rPr lang="zh-TW" altLang="en-US" sz="3400" b="1" dirty="0"/>
                <a:t> </a:t>
              </a:r>
              <a:r>
                <a:rPr lang="en-US" altLang="zh-TW" sz="3400" b="1" dirty="0"/>
                <a:t>Data Flow</a:t>
              </a:r>
              <a:endParaRPr lang="zh-TW" altLang="en-US" sz="3400" b="1" dirty="0"/>
            </a:p>
          </p:txBody>
        </p:sp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F4D66267-415A-FAB0-CFE3-940B29F0CA11}"/>
              </a:ext>
            </a:extLst>
          </p:cNvPr>
          <p:cNvGrpSpPr/>
          <p:nvPr/>
        </p:nvGrpSpPr>
        <p:grpSpPr>
          <a:xfrm>
            <a:off x="15181778" y="10797931"/>
            <a:ext cx="2335001" cy="3105962"/>
            <a:chOff x="15208856" y="10797931"/>
            <a:chExt cx="2335001" cy="3105962"/>
          </a:xfrm>
        </p:grpSpPr>
        <p:grpSp>
          <p:nvGrpSpPr>
            <p:cNvPr id="66" name="群組 65">
              <a:extLst>
                <a:ext uri="{FF2B5EF4-FFF2-40B4-BE49-F238E27FC236}">
                  <a16:creationId xmlns:a16="http://schemas.microsoft.com/office/drawing/2014/main" id="{760E2B63-0C8D-8092-CF7E-1868B9D44E8C}"/>
                </a:ext>
              </a:extLst>
            </p:cNvPr>
            <p:cNvGrpSpPr/>
            <p:nvPr/>
          </p:nvGrpSpPr>
          <p:grpSpPr>
            <a:xfrm>
              <a:off x="15298778" y="10797931"/>
              <a:ext cx="2245079" cy="3105962"/>
              <a:chOff x="15237042" y="10392350"/>
              <a:chExt cx="2245079" cy="3105962"/>
            </a:xfrm>
          </p:grpSpPr>
          <p:pic>
            <p:nvPicPr>
              <p:cNvPr id="2" name="Google Shape;107;g3d00297c732_0_7" title="LEO.png">
                <a:extLst>
                  <a:ext uri="{FF2B5EF4-FFF2-40B4-BE49-F238E27FC236}">
                    <a16:creationId xmlns:a16="http://schemas.microsoft.com/office/drawing/2014/main" id="{5019390A-A784-A1E7-8464-3C34F5828589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6410024" y="10392350"/>
                <a:ext cx="469662" cy="503828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55" name="群組 54">
                <a:extLst>
                  <a:ext uri="{FF2B5EF4-FFF2-40B4-BE49-F238E27FC236}">
                    <a16:creationId xmlns:a16="http://schemas.microsoft.com/office/drawing/2014/main" id="{3F0A6F22-3D60-2051-AE52-515CA91F1FF7}"/>
                  </a:ext>
                </a:extLst>
              </p:cNvPr>
              <p:cNvGrpSpPr/>
              <p:nvPr/>
            </p:nvGrpSpPr>
            <p:grpSpPr>
              <a:xfrm>
                <a:off x="15237042" y="12333702"/>
                <a:ext cx="2245079" cy="1164610"/>
                <a:chOff x="15377373" y="12057214"/>
                <a:chExt cx="2245079" cy="1164610"/>
              </a:xfrm>
            </p:grpSpPr>
            <p:pic>
              <p:nvPicPr>
                <p:cNvPr id="8" name="Google Shape;104;g3d00297c732_0_7" title="sensor.png">
                  <a:extLst>
                    <a:ext uri="{FF2B5EF4-FFF2-40B4-BE49-F238E27FC236}">
                      <a16:creationId xmlns:a16="http://schemas.microsoft.com/office/drawing/2014/main" id="{7328CA3D-2F5C-E88B-4BCD-5F8E98E7AD7E}"/>
                    </a:ext>
                  </a:extLst>
                </p:cNvPr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15377373" y="12486453"/>
                  <a:ext cx="383400" cy="383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51" name="群組 50">
                  <a:extLst>
                    <a:ext uri="{FF2B5EF4-FFF2-40B4-BE49-F238E27FC236}">
                      <a16:creationId xmlns:a16="http://schemas.microsoft.com/office/drawing/2014/main" id="{2537AEE2-4EDC-D75B-6991-49DF2A77458C}"/>
                    </a:ext>
                  </a:extLst>
                </p:cNvPr>
                <p:cNvGrpSpPr/>
                <p:nvPr/>
              </p:nvGrpSpPr>
              <p:grpSpPr>
                <a:xfrm>
                  <a:off x="15588374" y="12057214"/>
                  <a:ext cx="2034078" cy="1164610"/>
                  <a:chOff x="15588374" y="12057214"/>
                  <a:chExt cx="2034078" cy="1164610"/>
                </a:xfrm>
              </p:grpSpPr>
              <p:pic>
                <p:nvPicPr>
                  <p:cNvPr id="14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D5A98E16-2804-8F6E-0A5C-52F2DF44AB4E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/>
                  <a:stretch/>
                </p:blipFill>
                <p:spPr>
                  <a:xfrm>
                    <a:off x="15727874" y="12830692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15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82A21E45-2812-F2AB-323C-2F629AADA327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/>
                  <a:stretch/>
                </p:blipFill>
                <p:spPr>
                  <a:xfrm>
                    <a:off x="16083306" y="12653616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sp>
                <p:nvSpPr>
                  <p:cNvPr id="21" name="Google Shape;109;g3d00297c732_0_7">
                    <a:extLst>
                      <a:ext uri="{FF2B5EF4-FFF2-40B4-BE49-F238E27FC236}">
                        <a16:creationId xmlns:a16="http://schemas.microsoft.com/office/drawing/2014/main" id="{E95FE36E-FBCB-F4AB-8392-D9F48B85FC72}"/>
                      </a:ext>
                    </a:extLst>
                  </p:cNvPr>
                  <p:cNvSpPr/>
                  <p:nvPr/>
                </p:nvSpPr>
                <p:spPr>
                  <a:xfrm rot="17598187">
                    <a:off x="15492974" y="12160468"/>
                    <a:ext cx="312000" cy="121200"/>
                  </a:xfrm>
                  <a:prstGeom prst="rightArrow">
                    <a:avLst>
                      <a:gd name="adj1" fmla="val 50000"/>
                      <a:gd name="adj2" fmla="val 50000"/>
                    </a:avLst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" name="Google Shape;109;g3d00297c732_0_7">
                    <a:extLst>
                      <a:ext uri="{FF2B5EF4-FFF2-40B4-BE49-F238E27FC236}">
                        <a16:creationId xmlns:a16="http://schemas.microsoft.com/office/drawing/2014/main" id="{23E6D459-7515-BFA5-A9AC-37127D39E802}"/>
                      </a:ext>
                    </a:extLst>
                  </p:cNvPr>
                  <p:cNvSpPr/>
                  <p:nvPr/>
                </p:nvSpPr>
                <p:spPr>
                  <a:xfrm rot="17047058">
                    <a:off x="15827406" y="12279995"/>
                    <a:ext cx="312000" cy="121200"/>
                  </a:xfrm>
                  <a:prstGeom prst="rightArrow">
                    <a:avLst>
                      <a:gd name="adj1" fmla="val 50000"/>
                      <a:gd name="adj2" fmla="val 50000"/>
                    </a:avLst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" name="Google Shape;109;g3d00297c732_0_7">
                    <a:extLst>
                      <a:ext uri="{FF2B5EF4-FFF2-40B4-BE49-F238E27FC236}">
                        <a16:creationId xmlns:a16="http://schemas.microsoft.com/office/drawing/2014/main" id="{3E2E710C-1C37-64E9-22BE-7A71550A79C0}"/>
                      </a:ext>
                    </a:extLst>
                  </p:cNvPr>
                  <p:cNvSpPr/>
                  <p:nvPr/>
                </p:nvSpPr>
                <p:spPr>
                  <a:xfrm rot="16621355">
                    <a:off x="16158817" y="12283337"/>
                    <a:ext cx="312000" cy="121200"/>
                  </a:xfrm>
                  <a:prstGeom prst="rightArrow">
                    <a:avLst>
                      <a:gd name="adj1" fmla="val 50000"/>
                      <a:gd name="adj2" fmla="val 50000"/>
                    </a:avLst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35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834AB6D7-84ED-45FD-5D26-0566C0154F3C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/>
                  <a:stretch/>
                </p:blipFill>
                <p:spPr>
                  <a:xfrm flipH="1">
                    <a:off x="17239052" y="12494185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6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D899CEC2-280D-C3D5-79DE-1C3FE3135CC2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/>
                  <a:stretch/>
                </p:blipFill>
                <p:spPr>
                  <a:xfrm flipH="1">
                    <a:off x="16888551" y="12838424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37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1C2ACED8-B817-197B-9941-97151EF27909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/>
                  <a:stretch/>
                </p:blipFill>
                <p:spPr>
                  <a:xfrm flipH="1">
                    <a:off x="16533119" y="12661348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sp>
                <p:nvSpPr>
                  <p:cNvPr id="38" name="Google Shape;109;g3d00297c732_0_7">
                    <a:extLst>
                      <a:ext uri="{FF2B5EF4-FFF2-40B4-BE49-F238E27FC236}">
                        <a16:creationId xmlns:a16="http://schemas.microsoft.com/office/drawing/2014/main" id="{F769B824-1FE8-D1A3-BE88-C58C63B9AF5F}"/>
                      </a:ext>
                    </a:extLst>
                  </p:cNvPr>
                  <p:cNvSpPr/>
                  <p:nvPr/>
                </p:nvSpPr>
                <p:spPr>
                  <a:xfrm rot="4080066" flipH="1">
                    <a:off x="17191878" y="12152614"/>
                    <a:ext cx="312000" cy="121200"/>
                  </a:xfrm>
                  <a:prstGeom prst="rightArrow">
                    <a:avLst>
                      <a:gd name="adj1" fmla="val 50000"/>
                      <a:gd name="adj2" fmla="val 50000"/>
                    </a:avLst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" name="Google Shape;109;g3d00297c732_0_7">
                    <a:extLst>
                      <a:ext uri="{FF2B5EF4-FFF2-40B4-BE49-F238E27FC236}">
                        <a16:creationId xmlns:a16="http://schemas.microsoft.com/office/drawing/2014/main" id="{FB9FC1CD-1880-A32A-F7EA-BA41223CF4C0}"/>
                      </a:ext>
                    </a:extLst>
                  </p:cNvPr>
                  <p:cNvSpPr/>
                  <p:nvPr/>
                </p:nvSpPr>
                <p:spPr>
                  <a:xfrm rot="4552942" flipH="1">
                    <a:off x="16872719" y="12267515"/>
                    <a:ext cx="312000" cy="121200"/>
                  </a:xfrm>
                  <a:prstGeom prst="rightArrow">
                    <a:avLst>
                      <a:gd name="adj1" fmla="val 50000"/>
                      <a:gd name="adj2" fmla="val 50000"/>
                    </a:avLst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" name="Google Shape;109;g3d00297c732_0_7">
                    <a:extLst>
                      <a:ext uri="{FF2B5EF4-FFF2-40B4-BE49-F238E27FC236}">
                        <a16:creationId xmlns:a16="http://schemas.microsoft.com/office/drawing/2014/main" id="{8F5B24D7-AE69-644B-B66B-FF346FEDA6F2}"/>
                      </a:ext>
                    </a:extLst>
                  </p:cNvPr>
                  <p:cNvSpPr/>
                  <p:nvPr/>
                </p:nvSpPr>
                <p:spPr>
                  <a:xfrm rot="4978645" flipH="1">
                    <a:off x="16557738" y="12283336"/>
                    <a:ext cx="312000" cy="121200"/>
                  </a:xfrm>
                  <a:prstGeom prst="rightArrow">
                    <a:avLst>
                      <a:gd name="adj1" fmla="val 50000"/>
                      <a:gd name="adj2" fmla="val 50000"/>
                    </a:avLst>
                  </a:prstGeom>
                  <a:solidFill>
                    <a:schemeClr val="lt2"/>
                  </a:solidFill>
                  <a:ln w="9525" cap="flat" cmpd="sng">
                    <a:solidFill>
                      <a:schemeClr val="dk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400"/>
                      <a:buFont typeface="Arial"/>
                      <a:buNone/>
                    </a:pPr>
                    <a:endParaRPr sz="1400" b="0" i="0" u="none" strike="noStrike" cap="none" dirty="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59" name="群組 58">
                <a:extLst>
                  <a:ext uri="{FF2B5EF4-FFF2-40B4-BE49-F238E27FC236}">
                    <a16:creationId xmlns:a16="http://schemas.microsoft.com/office/drawing/2014/main" id="{00E8080F-859C-66F9-2CC8-6EAE4A48F847}"/>
                  </a:ext>
                </a:extLst>
              </p:cNvPr>
              <p:cNvGrpSpPr/>
              <p:nvPr/>
            </p:nvGrpSpPr>
            <p:grpSpPr>
              <a:xfrm>
                <a:off x="15567575" y="11532544"/>
                <a:ext cx="1709724" cy="598276"/>
                <a:chOff x="15705744" y="11389267"/>
                <a:chExt cx="1709724" cy="598276"/>
              </a:xfrm>
            </p:grpSpPr>
            <p:pic>
              <p:nvPicPr>
                <p:cNvPr id="13" name="Google Shape;103;g3d00297c732_0_7" title="UAV.jpg">
                  <a:extLst>
                    <a:ext uri="{FF2B5EF4-FFF2-40B4-BE49-F238E27FC236}">
                      <a16:creationId xmlns:a16="http://schemas.microsoft.com/office/drawing/2014/main" id="{8DDB2F08-9CE9-EC94-5414-9E477670ADFD}"/>
                    </a:ext>
                  </a:extLst>
                </p:cNvPr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5705744" y="11659650"/>
                  <a:ext cx="595025" cy="32789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43" name="Google Shape;103;g3d00297c732_0_7" title="UAV.jpg">
                  <a:extLst>
                    <a:ext uri="{FF2B5EF4-FFF2-40B4-BE49-F238E27FC236}">
                      <a16:creationId xmlns:a16="http://schemas.microsoft.com/office/drawing/2014/main" id="{FCA038A1-70B1-09EE-6173-44B92AF97EFD}"/>
                    </a:ext>
                  </a:extLst>
                </p:cNvPr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6220742" y="11389267"/>
                  <a:ext cx="595025" cy="32789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44" name="Google Shape;103;g3d00297c732_0_7" title="UAV.jpg">
                  <a:extLst>
                    <a:ext uri="{FF2B5EF4-FFF2-40B4-BE49-F238E27FC236}">
                      <a16:creationId xmlns:a16="http://schemas.microsoft.com/office/drawing/2014/main" id="{3E3217D9-3E67-5BE2-855A-681F37CEE482}"/>
                    </a:ext>
                  </a:extLst>
                </p:cNvPr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6820443" y="11655133"/>
                  <a:ext cx="595025" cy="32789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64" name="Google Shape;111;g3d00297c732_0_7">
                <a:extLst>
                  <a:ext uri="{FF2B5EF4-FFF2-40B4-BE49-F238E27FC236}">
                    <a16:creationId xmlns:a16="http://schemas.microsoft.com/office/drawing/2014/main" id="{AED3F276-3891-7EFB-F71D-A3A4507C8558}"/>
                  </a:ext>
                </a:extLst>
              </p:cNvPr>
              <p:cNvSpPr/>
              <p:nvPr/>
            </p:nvSpPr>
            <p:spPr>
              <a:xfrm rot="16832188">
                <a:off x="16200480" y="11158784"/>
                <a:ext cx="478490" cy="182673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0000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A792605-CE77-97C9-B167-1903088EC774}"/>
                </a:ext>
              </a:extLst>
            </p:cNvPr>
            <p:cNvSpPr/>
            <p:nvPr/>
          </p:nvSpPr>
          <p:spPr>
            <a:xfrm>
              <a:off x="15291346" y="11759626"/>
              <a:ext cx="2252511" cy="1096967"/>
            </a:xfrm>
            <a:prstGeom prst="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54766214-5C41-4253-1029-5AFA1A0F8BA6}"/>
                </a:ext>
              </a:extLst>
            </p:cNvPr>
            <p:cNvSpPr txBox="1"/>
            <p:nvPr/>
          </p:nvSpPr>
          <p:spPr>
            <a:xfrm>
              <a:off x="15208856" y="11452059"/>
              <a:ext cx="10691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b="1" dirty="0"/>
                <a:t>Fleet</a:t>
              </a:r>
              <a:endParaRPr lang="zh-TW" altLang="en-US" b="1" dirty="0"/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33A73AED-5DDB-C16E-211C-8B891E3D8686}"/>
              </a:ext>
            </a:extLst>
          </p:cNvPr>
          <p:cNvGrpSpPr/>
          <p:nvPr/>
        </p:nvGrpSpPr>
        <p:grpSpPr>
          <a:xfrm>
            <a:off x="18147899" y="10707937"/>
            <a:ext cx="2464386" cy="3116161"/>
            <a:chOff x="18205594" y="10642766"/>
            <a:chExt cx="2464386" cy="3116161"/>
          </a:xfrm>
        </p:grpSpPr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69D0B0B7-B46F-FEBA-99A5-D38A4D19FF00}"/>
                </a:ext>
              </a:extLst>
            </p:cNvPr>
            <p:cNvGrpSpPr/>
            <p:nvPr/>
          </p:nvGrpSpPr>
          <p:grpSpPr>
            <a:xfrm>
              <a:off x="19052965" y="11403788"/>
              <a:ext cx="833960" cy="675061"/>
              <a:chOff x="17930179" y="13367954"/>
              <a:chExt cx="833960" cy="675061"/>
            </a:xfrm>
          </p:grpSpPr>
          <p:pic>
            <p:nvPicPr>
              <p:cNvPr id="75" name="Google Shape;103;g3d00297c732_0_7" title="UAV.jpg">
                <a:extLst>
                  <a:ext uri="{FF2B5EF4-FFF2-40B4-BE49-F238E27FC236}">
                    <a16:creationId xmlns:a16="http://schemas.microsoft.com/office/drawing/2014/main" id="{AD9C32FB-FE23-9B7C-7E1C-78DBB316D2E7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7930179" y="13367954"/>
                <a:ext cx="833960" cy="478014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D1190B20-D23C-277E-E775-A632FB17790E}"/>
                  </a:ext>
                </a:extLst>
              </p:cNvPr>
              <p:cNvSpPr txBox="1"/>
              <p:nvPr/>
            </p:nvSpPr>
            <p:spPr>
              <a:xfrm>
                <a:off x="17930179" y="13704461"/>
                <a:ext cx="83396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600" dirty="0"/>
                  <a:t>Master</a:t>
                </a:r>
                <a:endParaRPr lang="zh-TW" altLang="en-US" sz="1600" dirty="0"/>
              </a:p>
            </p:txBody>
          </p:sp>
        </p:grpSp>
        <p:grpSp>
          <p:nvGrpSpPr>
            <p:cNvPr id="86" name="群組 85">
              <a:extLst>
                <a:ext uri="{FF2B5EF4-FFF2-40B4-BE49-F238E27FC236}">
                  <a16:creationId xmlns:a16="http://schemas.microsoft.com/office/drawing/2014/main" id="{AB19B950-F53E-3617-0726-8BCDB811FDDA}"/>
                </a:ext>
              </a:extLst>
            </p:cNvPr>
            <p:cNvGrpSpPr/>
            <p:nvPr/>
          </p:nvGrpSpPr>
          <p:grpSpPr>
            <a:xfrm>
              <a:off x="18205594" y="12235073"/>
              <a:ext cx="833960" cy="747005"/>
              <a:chOff x="18262261" y="12232351"/>
              <a:chExt cx="833960" cy="747005"/>
            </a:xfrm>
          </p:grpSpPr>
          <p:pic>
            <p:nvPicPr>
              <p:cNvPr id="74" name="Google Shape;103;g3d00297c732_0_7" title="UAV.jpg">
                <a:extLst>
                  <a:ext uri="{FF2B5EF4-FFF2-40B4-BE49-F238E27FC236}">
                    <a16:creationId xmlns:a16="http://schemas.microsoft.com/office/drawing/2014/main" id="{3500FDE5-62BD-93F9-D57A-884C2207B732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8262261" y="12232351"/>
                <a:ext cx="833960" cy="54427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7CDACE7F-7D65-5890-8DEC-A1557147FFC2}"/>
                  </a:ext>
                </a:extLst>
              </p:cNvPr>
              <p:cNvSpPr txBox="1"/>
              <p:nvPr/>
            </p:nvSpPr>
            <p:spPr>
              <a:xfrm>
                <a:off x="18318021" y="12640802"/>
                <a:ext cx="69569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600" dirty="0"/>
                  <a:t>Slave</a:t>
                </a:r>
                <a:endParaRPr lang="zh-TW" altLang="en-US" sz="1600" dirty="0"/>
              </a:p>
            </p:txBody>
          </p:sp>
        </p:grpSp>
        <p:grpSp>
          <p:nvGrpSpPr>
            <p:cNvPr id="90" name="群組 89">
              <a:extLst>
                <a:ext uri="{FF2B5EF4-FFF2-40B4-BE49-F238E27FC236}">
                  <a16:creationId xmlns:a16="http://schemas.microsoft.com/office/drawing/2014/main" id="{DA614BED-9A5B-91CB-F46C-44C17F760B9D}"/>
                </a:ext>
              </a:extLst>
            </p:cNvPr>
            <p:cNvGrpSpPr/>
            <p:nvPr/>
          </p:nvGrpSpPr>
          <p:grpSpPr>
            <a:xfrm>
              <a:off x="19052965" y="12369168"/>
              <a:ext cx="833960" cy="747005"/>
              <a:chOff x="18262261" y="12232351"/>
              <a:chExt cx="833960" cy="747005"/>
            </a:xfrm>
          </p:grpSpPr>
          <p:pic>
            <p:nvPicPr>
              <p:cNvPr id="91" name="Google Shape;103;g3d00297c732_0_7" title="UAV.jpg">
                <a:extLst>
                  <a:ext uri="{FF2B5EF4-FFF2-40B4-BE49-F238E27FC236}">
                    <a16:creationId xmlns:a16="http://schemas.microsoft.com/office/drawing/2014/main" id="{0A77D03A-7E51-B83F-B285-E10C2B264559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8262261" y="12232351"/>
                <a:ext cx="833960" cy="54427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27E41979-8B91-2ED1-CD88-C9CB9E405878}"/>
                  </a:ext>
                </a:extLst>
              </p:cNvPr>
              <p:cNvSpPr txBox="1"/>
              <p:nvPr/>
            </p:nvSpPr>
            <p:spPr>
              <a:xfrm>
                <a:off x="18318021" y="12640802"/>
                <a:ext cx="69569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600" dirty="0"/>
                  <a:t>Slave</a:t>
                </a:r>
                <a:endParaRPr lang="zh-TW" altLang="en-US" sz="1600" dirty="0"/>
              </a:p>
            </p:txBody>
          </p:sp>
        </p:grpSp>
        <p:grpSp>
          <p:nvGrpSpPr>
            <p:cNvPr id="87" name="群組 86">
              <a:extLst>
                <a:ext uri="{FF2B5EF4-FFF2-40B4-BE49-F238E27FC236}">
                  <a16:creationId xmlns:a16="http://schemas.microsoft.com/office/drawing/2014/main" id="{3D2FD327-236D-58DC-7045-FBB4C4CCB516}"/>
                </a:ext>
              </a:extLst>
            </p:cNvPr>
            <p:cNvGrpSpPr/>
            <p:nvPr/>
          </p:nvGrpSpPr>
          <p:grpSpPr>
            <a:xfrm>
              <a:off x="19836020" y="12267299"/>
              <a:ext cx="833960" cy="747005"/>
              <a:chOff x="18262261" y="12232351"/>
              <a:chExt cx="833960" cy="747005"/>
            </a:xfrm>
          </p:grpSpPr>
          <p:pic>
            <p:nvPicPr>
              <p:cNvPr id="88" name="Google Shape;103;g3d00297c732_0_7" title="UAV.jpg">
                <a:extLst>
                  <a:ext uri="{FF2B5EF4-FFF2-40B4-BE49-F238E27FC236}">
                    <a16:creationId xmlns:a16="http://schemas.microsoft.com/office/drawing/2014/main" id="{17EA5618-7880-300D-82D1-DD8ED36E4369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8262261" y="12232351"/>
                <a:ext cx="833960" cy="54427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77A0BDAA-72F9-369C-E034-1C36D21D9D03}"/>
                  </a:ext>
                </a:extLst>
              </p:cNvPr>
              <p:cNvSpPr txBox="1"/>
              <p:nvPr/>
            </p:nvSpPr>
            <p:spPr>
              <a:xfrm>
                <a:off x="18318021" y="12640802"/>
                <a:ext cx="69569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600" dirty="0"/>
                  <a:t>Slave</a:t>
                </a:r>
                <a:endParaRPr lang="zh-TW" altLang="en-US" sz="1600" dirty="0"/>
              </a:p>
            </p:txBody>
          </p:sp>
        </p:grpSp>
        <p:sp>
          <p:nvSpPr>
            <p:cNvPr id="78" name="Google Shape;205;g3d00297c732_0_53">
              <a:extLst>
                <a:ext uri="{FF2B5EF4-FFF2-40B4-BE49-F238E27FC236}">
                  <a16:creationId xmlns:a16="http://schemas.microsoft.com/office/drawing/2014/main" id="{DDD8F5CA-4E26-D90A-94FF-E0B28C59C028}"/>
                </a:ext>
              </a:extLst>
            </p:cNvPr>
            <p:cNvSpPr/>
            <p:nvPr/>
          </p:nvSpPr>
          <p:spPr>
            <a:xfrm rot="18163514">
              <a:off x="18735312" y="12016201"/>
              <a:ext cx="392101" cy="2061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205;g3d00297c732_0_53">
              <a:extLst>
                <a:ext uri="{FF2B5EF4-FFF2-40B4-BE49-F238E27FC236}">
                  <a16:creationId xmlns:a16="http://schemas.microsoft.com/office/drawing/2014/main" id="{1E362129-B430-6078-D529-42FEEC95C386}"/>
                </a:ext>
              </a:extLst>
            </p:cNvPr>
            <p:cNvSpPr/>
            <p:nvPr/>
          </p:nvSpPr>
          <p:spPr>
            <a:xfrm rot="16200000">
              <a:off x="19260520" y="12101983"/>
              <a:ext cx="392101" cy="2061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205;g3d00297c732_0_53">
              <a:extLst>
                <a:ext uri="{FF2B5EF4-FFF2-40B4-BE49-F238E27FC236}">
                  <a16:creationId xmlns:a16="http://schemas.microsoft.com/office/drawing/2014/main" id="{76B190AF-97DA-FB2A-86DB-0D63E94DCE35}"/>
                </a:ext>
              </a:extLst>
            </p:cNvPr>
            <p:cNvSpPr/>
            <p:nvPr/>
          </p:nvSpPr>
          <p:spPr>
            <a:xfrm rot="13940948">
              <a:off x="19773319" y="11997080"/>
              <a:ext cx="392101" cy="2061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205;g3d00297c732_0_53">
              <a:extLst>
                <a:ext uri="{FF2B5EF4-FFF2-40B4-BE49-F238E27FC236}">
                  <a16:creationId xmlns:a16="http://schemas.microsoft.com/office/drawing/2014/main" id="{2D86CE44-8757-1852-7E8C-7E733BE5764E}"/>
                </a:ext>
              </a:extLst>
            </p:cNvPr>
            <p:cNvSpPr/>
            <p:nvPr/>
          </p:nvSpPr>
          <p:spPr>
            <a:xfrm rot="16200000">
              <a:off x="19096073" y="10869718"/>
              <a:ext cx="720994" cy="26709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109;g3d00297c732_0_7">
              <a:extLst>
                <a:ext uri="{FF2B5EF4-FFF2-40B4-BE49-F238E27FC236}">
                  <a16:creationId xmlns:a16="http://schemas.microsoft.com/office/drawing/2014/main" id="{2C89A118-B899-8313-9D64-B8E3A095C271}"/>
                </a:ext>
              </a:extLst>
            </p:cNvPr>
            <p:cNvSpPr/>
            <p:nvPr/>
          </p:nvSpPr>
          <p:spPr>
            <a:xfrm rot="5400000" flipH="1">
              <a:off x="19144233" y="13327601"/>
              <a:ext cx="617206" cy="24544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8A906D82-FDDB-B13B-575D-6BA71AEEBF29}"/>
              </a:ext>
            </a:extLst>
          </p:cNvPr>
          <p:cNvCxnSpPr>
            <a:cxnSpLocks/>
          </p:cNvCxnSpPr>
          <p:nvPr/>
        </p:nvCxnSpPr>
        <p:spPr>
          <a:xfrm flipH="1">
            <a:off x="17516779" y="10606884"/>
            <a:ext cx="1194699" cy="13007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069443FF-E5E3-0A02-9E10-6AB3E79BEFC9}"/>
              </a:ext>
            </a:extLst>
          </p:cNvPr>
          <p:cNvCxnSpPr>
            <a:cxnSpLocks/>
          </p:cNvCxnSpPr>
          <p:nvPr/>
        </p:nvCxnSpPr>
        <p:spPr>
          <a:xfrm flipH="1" flipV="1">
            <a:off x="17534808" y="12706478"/>
            <a:ext cx="1183639" cy="1313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DC002FAC-5F11-5307-B175-6C7693871C86}"/>
              </a:ext>
            </a:extLst>
          </p:cNvPr>
          <p:cNvGrpSpPr/>
          <p:nvPr/>
        </p:nvGrpSpPr>
        <p:grpSpPr>
          <a:xfrm>
            <a:off x="15001056" y="14703277"/>
            <a:ext cx="5542630" cy="7919166"/>
            <a:chOff x="1290621" y="7222458"/>
            <a:chExt cx="6762752" cy="9198005"/>
          </a:xfrm>
        </p:grpSpPr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8F59A182-8B59-4063-98F3-8BBDA6B1F5CC}"/>
                </a:ext>
              </a:extLst>
            </p:cNvPr>
            <p:cNvSpPr/>
            <p:nvPr/>
          </p:nvSpPr>
          <p:spPr>
            <a:xfrm>
              <a:off x="1290621" y="7222458"/>
              <a:ext cx="6762752" cy="1509923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EFDD276B-6007-FD82-D1C4-BBA845CC3542}"/>
                </a:ext>
              </a:extLst>
            </p:cNvPr>
            <p:cNvSpPr/>
            <p:nvPr/>
          </p:nvSpPr>
          <p:spPr>
            <a:xfrm>
              <a:off x="1290621" y="8887188"/>
              <a:ext cx="6762752" cy="35832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9C7516FE-7C8D-DFC4-4A39-035BACEDC6D9}"/>
                </a:ext>
              </a:extLst>
            </p:cNvPr>
            <p:cNvSpPr/>
            <p:nvPr/>
          </p:nvSpPr>
          <p:spPr>
            <a:xfrm>
              <a:off x="1347781" y="12648935"/>
              <a:ext cx="6705592" cy="3771528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CE1C5CB5-2266-4D4C-DB15-E0C1D396C33C}"/>
                </a:ext>
              </a:extLst>
            </p:cNvPr>
            <p:cNvSpPr txBox="1"/>
            <p:nvPr/>
          </p:nvSpPr>
          <p:spPr>
            <a:xfrm>
              <a:off x="2196627" y="11357328"/>
              <a:ext cx="5000625" cy="6077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800" dirty="0"/>
                <a:t>Scheduler</a:t>
              </a:r>
              <a:endParaRPr lang="zh-TW" altLang="en-US" sz="2800" dirty="0"/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FF827D4C-1165-F0E3-E604-EF2BE39399F9}"/>
                </a:ext>
              </a:extLst>
            </p:cNvPr>
            <p:cNvSpPr txBox="1"/>
            <p:nvPr/>
          </p:nvSpPr>
          <p:spPr>
            <a:xfrm>
              <a:off x="2270658" y="15272381"/>
              <a:ext cx="5000625" cy="6077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800" dirty="0"/>
                <a:t>Focused Fleet</a:t>
              </a:r>
              <a:endParaRPr lang="zh-TW" altLang="en-US" sz="2800" dirty="0"/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27071513-5C3A-50F2-3856-F4C7EEB6D704}"/>
                </a:ext>
              </a:extLst>
            </p:cNvPr>
            <p:cNvSpPr txBox="1"/>
            <p:nvPr/>
          </p:nvSpPr>
          <p:spPr>
            <a:xfrm>
              <a:off x="2228847" y="14227862"/>
              <a:ext cx="5000625" cy="6077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800" dirty="0"/>
                <a:t>UAV-to-UAV Probe</a:t>
              </a:r>
              <a:endParaRPr lang="zh-TW" altLang="en-US" sz="2800" dirty="0"/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D2571339-AEB4-9862-F6D2-3615E1B5A554}"/>
                </a:ext>
              </a:extLst>
            </p:cNvPr>
            <p:cNvSpPr txBox="1"/>
            <p:nvPr/>
          </p:nvSpPr>
          <p:spPr>
            <a:xfrm>
              <a:off x="2228846" y="13085741"/>
              <a:ext cx="5000625" cy="6077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800" dirty="0"/>
                <a:t>Probe CSV</a:t>
              </a:r>
              <a:endParaRPr lang="zh-TW" altLang="en-US" sz="2800" dirty="0"/>
            </a:p>
          </p:txBody>
        </p:sp>
        <p:sp>
          <p:nvSpPr>
            <p:cNvPr id="118" name="文字方塊 117">
              <a:extLst>
                <a:ext uri="{FF2B5EF4-FFF2-40B4-BE49-F238E27FC236}">
                  <a16:creationId xmlns:a16="http://schemas.microsoft.com/office/drawing/2014/main" id="{32F35919-AD7A-71F4-1896-3E56007BA246}"/>
                </a:ext>
              </a:extLst>
            </p:cNvPr>
            <p:cNvSpPr txBox="1"/>
            <p:nvPr/>
          </p:nvSpPr>
          <p:spPr>
            <a:xfrm>
              <a:off x="2196627" y="7701006"/>
              <a:ext cx="5000625" cy="6077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800" dirty="0"/>
                <a:t>UAV-to-LEO Uplink</a:t>
              </a:r>
              <a:endParaRPr lang="zh-TW" altLang="en-US" sz="2800" dirty="0"/>
            </a:p>
          </p:txBody>
        </p:sp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F7344145-9F70-4D1D-96C4-FA4E714DC269}"/>
                </a:ext>
              </a:extLst>
            </p:cNvPr>
            <p:cNvSpPr txBox="1"/>
            <p:nvPr/>
          </p:nvSpPr>
          <p:spPr>
            <a:xfrm>
              <a:off x="1290621" y="9363569"/>
              <a:ext cx="6762752" cy="6077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800" dirty="0"/>
                <a:t>NS-3 Replay / Verification</a:t>
              </a:r>
              <a:endParaRPr lang="zh-TW" altLang="en-US" sz="2800" dirty="0"/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E8AE58D-461E-AE55-5DEB-7EF12243DC24}"/>
                </a:ext>
              </a:extLst>
            </p:cNvPr>
            <p:cNvSpPr txBox="1"/>
            <p:nvPr/>
          </p:nvSpPr>
          <p:spPr>
            <a:xfrm>
              <a:off x="2180682" y="10393436"/>
              <a:ext cx="5000625" cy="6077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800" dirty="0"/>
                <a:t>Schedule JSON</a:t>
              </a:r>
              <a:endParaRPr lang="zh-TW" altLang="en-US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29829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71FB1-4253-DF0F-6C6C-A16EB0064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群組 12">
            <a:extLst>
              <a:ext uri="{FF2B5EF4-FFF2-40B4-BE49-F238E27FC236}">
                <a16:creationId xmlns:a16="http://schemas.microsoft.com/office/drawing/2014/main" id="{4AF22CEF-CB90-80A3-0E73-F593FD1431B1}"/>
              </a:ext>
            </a:extLst>
          </p:cNvPr>
          <p:cNvGrpSpPr/>
          <p:nvPr/>
        </p:nvGrpSpPr>
        <p:grpSpPr>
          <a:xfrm>
            <a:off x="1290621" y="7146318"/>
            <a:ext cx="6819912" cy="9274145"/>
            <a:chOff x="1290621" y="7146318"/>
            <a:chExt cx="6819912" cy="9274145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36632D2D-1589-ACA8-EEE5-374FD9E7D528}"/>
                </a:ext>
              </a:extLst>
            </p:cNvPr>
            <p:cNvSpPr/>
            <p:nvPr/>
          </p:nvSpPr>
          <p:spPr>
            <a:xfrm>
              <a:off x="1290621" y="7146318"/>
              <a:ext cx="6762752" cy="255709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: 圓角 9">
              <a:extLst>
                <a:ext uri="{FF2B5EF4-FFF2-40B4-BE49-F238E27FC236}">
                  <a16:creationId xmlns:a16="http://schemas.microsoft.com/office/drawing/2014/main" id="{867194AC-ADB8-9A12-2336-21F113E13283}"/>
                </a:ext>
              </a:extLst>
            </p:cNvPr>
            <p:cNvSpPr/>
            <p:nvPr/>
          </p:nvSpPr>
          <p:spPr>
            <a:xfrm>
              <a:off x="1290621" y="9913357"/>
              <a:ext cx="6762752" cy="255709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1EE6D3B3-1EDD-42D2-D073-6CA51AC18A9C}"/>
                </a:ext>
              </a:extLst>
            </p:cNvPr>
            <p:cNvSpPr/>
            <p:nvPr/>
          </p:nvSpPr>
          <p:spPr>
            <a:xfrm>
              <a:off x="1347781" y="12648935"/>
              <a:ext cx="6705592" cy="377152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C3E9BC8E-A950-87A2-78CD-FF66CB2BDAFF}"/>
                </a:ext>
              </a:extLst>
            </p:cNvPr>
            <p:cNvSpPr txBox="1"/>
            <p:nvPr/>
          </p:nvSpPr>
          <p:spPr>
            <a:xfrm>
              <a:off x="2228848" y="11492284"/>
              <a:ext cx="500062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600" dirty="0"/>
                <a:t>Scheduler</a:t>
              </a:r>
              <a:endParaRPr lang="zh-TW" altLang="en-US" sz="3600" dirty="0"/>
            </a:p>
          </p:txBody>
        </p:sp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F7B37C88-2481-39EC-6ADE-31969A89D947}"/>
                </a:ext>
              </a:extLst>
            </p:cNvPr>
            <p:cNvSpPr txBox="1"/>
            <p:nvPr/>
          </p:nvSpPr>
          <p:spPr>
            <a:xfrm>
              <a:off x="2228846" y="15595651"/>
              <a:ext cx="500062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600" dirty="0"/>
                <a:t>Focused Fleet</a:t>
              </a:r>
              <a:endParaRPr lang="zh-TW" altLang="en-US" sz="3600" dirty="0"/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81B356D5-149D-64AD-363F-C90079F9F3F9}"/>
                </a:ext>
              </a:extLst>
            </p:cNvPr>
            <p:cNvSpPr txBox="1"/>
            <p:nvPr/>
          </p:nvSpPr>
          <p:spPr>
            <a:xfrm>
              <a:off x="2228847" y="14227862"/>
              <a:ext cx="500062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600" dirty="0"/>
                <a:t>UAV-to-UAV Probe</a:t>
              </a:r>
              <a:endParaRPr lang="zh-TW" altLang="en-US" sz="3600" dirty="0"/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BAD52B45-B5EB-9CB9-FE48-4DD4F0F83E4A}"/>
                </a:ext>
              </a:extLst>
            </p:cNvPr>
            <p:cNvSpPr txBox="1"/>
            <p:nvPr/>
          </p:nvSpPr>
          <p:spPr>
            <a:xfrm>
              <a:off x="2228848" y="12860073"/>
              <a:ext cx="500062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600" dirty="0"/>
                <a:t>Probe CSV</a:t>
              </a:r>
              <a:endParaRPr lang="zh-TW" altLang="en-US" sz="3600" dirty="0"/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8758937C-F0D6-E50F-A5DB-1646AAE61E34}"/>
                </a:ext>
              </a:extLst>
            </p:cNvPr>
            <p:cNvSpPr txBox="1"/>
            <p:nvPr/>
          </p:nvSpPr>
          <p:spPr>
            <a:xfrm>
              <a:off x="2228845" y="7388917"/>
              <a:ext cx="500062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600" dirty="0"/>
                <a:t>UAV-to-LEO Uplink</a:t>
              </a:r>
              <a:endParaRPr lang="zh-TW" altLang="en-US" sz="3600" dirty="0"/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7CDA19FF-67A7-E269-6322-9A29143EB8F8}"/>
                </a:ext>
              </a:extLst>
            </p:cNvPr>
            <p:cNvSpPr txBox="1"/>
            <p:nvPr/>
          </p:nvSpPr>
          <p:spPr>
            <a:xfrm>
              <a:off x="1347781" y="8756706"/>
              <a:ext cx="67627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600" dirty="0"/>
                <a:t>NS-3 Replay / Verification</a:t>
              </a:r>
              <a:endParaRPr lang="zh-TW" altLang="en-US" sz="3600" dirty="0"/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73EE68CB-458B-D79B-C139-BF42E8897322}"/>
                </a:ext>
              </a:extLst>
            </p:cNvPr>
            <p:cNvSpPr txBox="1"/>
            <p:nvPr/>
          </p:nvSpPr>
          <p:spPr>
            <a:xfrm>
              <a:off x="2228845" y="10124495"/>
              <a:ext cx="500062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600" dirty="0"/>
                <a:t>Schedule JSON</a:t>
              </a:r>
              <a:endParaRPr lang="zh-TW" altLang="en-US" sz="3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86261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D2A9F-6BC6-650C-9F65-E61666C07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7362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422</TotalTime>
  <Words>198</Words>
  <Application>Microsoft Office PowerPoint</Application>
  <PresentationFormat>自訂</PresentationFormat>
  <Paragraphs>36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李 宗諺</dc:creator>
  <cp:lastModifiedBy>李 宗諺</cp:lastModifiedBy>
  <cp:revision>15</cp:revision>
  <dcterms:created xsi:type="dcterms:W3CDTF">2026-04-29T12:37:48Z</dcterms:created>
  <dcterms:modified xsi:type="dcterms:W3CDTF">2026-05-03T19:26:12Z</dcterms:modified>
</cp:coreProperties>
</file>