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21383625" cy="30275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>
    <p:restoredLeft sz="12185" autoAdjust="0"/>
    <p:restoredTop sz="93745" autoAdjust="0"/>
  </p:normalViewPr>
  <p:slideViewPr>
    <p:cSldViewPr snapToGrid="0">
      <p:cViewPr varScale="1">
        <p:scale>
          <a:sx n="24" d="100"/>
          <a:sy n="24" d="100"/>
        </p:scale>
        <p:origin x="3960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3772" y="4954765"/>
            <a:ext cx="18176081" cy="10540259"/>
          </a:xfrm>
        </p:spPr>
        <p:txBody>
          <a:bodyPr anchor="b"/>
          <a:lstStyle>
            <a:lvl1pPr algn="ctr">
              <a:defRPr sz="14031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2953" y="15901497"/>
            <a:ext cx="16037719" cy="7309499"/>
          </a:xfrm>
        </p:spPr>
        <p:txBody>
          <a:bodyPr/>
          <a:lstStyle>
            <a:lvl1pPr marL="0" indent="0" algn="ctr">
              <a:buNone/>
              <a:defRPr sz="5612"/>
            </a:lvl1pPr>
            <a:lvl2pPr marL="1069162" indent="0" algn="ctr">
              <a:buNone/>
              <a:defRPr sz="4677"/>
            </a:lvl2pPr>
            <a:lvl3pPr marL="2138324" indent="0" algn="ctr">
              <a:buNone/>
              <a:defRPr sz="4209"/>
            </a:lvl3pPr>
            <a:lvl4pPr marL="3207487" indent="0" algn="ctr">
              <a:buNone/>
              <a:defRPr sz="3742"/>
            </a:lvl4pPr>
            <a:lvl5pPr marL="4276649" indent="0" algn="ctr">
              <a:buNone/>
              <a:defRPr sz="3742"/>
            </a:lvl5pPr>
            <a:lvl6pPr marL="5345811" indent="0" algn="ctr">
              <a:buNone/>
              <a:defRPr sz="3742"/>
            </a:lvl6pPr>
            <a:lvl7pPr marL="6414973" indent="0" algn="ctr">
              <a:buNone/>
              <a:defRPr sz="3742"/>
            </a:lvl7pPr>
            <a:lvl8pPr marL="7484135" indent="0" algn="ctr">
              <a:buNone/>
              <a:defRPr sz="3742"/>
            </a:lvl8pPr>
            <a:lvl9pPr marL="8553298" indent="0" algn="ctr">
              <a:buNone/>
              <a:defRPr sz="3742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FB994-8C7A-432F-9145-2B89982E5304}" type="datetimeFigureOut">
              <a:rPr lang="zh-TW" altLang="en-US" smtClean="0"/>
              <a:t>2026/5/4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252620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FB994-8C7A-432F-9145-2B89982E5304}" type="datetimeFigureOut">
              <a:rPr lang="zh-TW" altLang="en-US" smtClean="0"/>
              <a:t>2026/5/4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697943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8988" y="7547788"/>
            <a:ext cx="18443377" cy="12593645"/>
          </a:xfrm>
        </p:spPr>
        <p:txBody>
          <a:bodyPr anchor="b"/>
          <a:lstStyle>
            <a:lvl1pPr>
              <a:defRPr sz="14031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8988" y="20260574"/>
            <a:ext cx="18443377" cy="6622701"/>
          </a:xfrm>
        </p:spPr>
        <p:txBody>
          <a:bodyPr/>
          <a:lstStyle>
            <a:lvl1pPr marL="0" indent="0">
              <a:buNone/>
              <a:defRPr sz="5612">
                <a:solidFill>
                  <a:schemeClr val="tx1">
                    <a:tint val="82000"/>
                  </a:schemeClr>
                </a:solidFill>
              </a:defRPr>
            </a:lvl1pPr>
            <a:lvl2pPr marL="1069162" indent="0">
              <a:buNone/>
              <a:defRPr sz="4677">
                <a:solidFill>
                  <a:schemeClr val="tx1">
                    <a:tint val="82000"/>
                  </a:schemeClr>
                </a:solidFill>
              </a:defRPr>
            </a:lvl2pPr>
            <a:lvl3pPr marL="2138324" indent="0">
              <a:buNone/>
              <a:defRPr sz="4209">
                <a:solidFill>
                  <a:schemeClr val="tx1">
                    <a:tint val="82000"/>
                  </a:schemeClr>
                </a:solidFill>
              </a:defRPr>
            </a:lvl3pPr>
            <a:lvl4pPr marL="3207487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4pPr>
            <a:lvl5pPr marL="4276649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5pPr>
            <a:lvl6pPr marL="5345811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6pPr>
            <a:lvl7pPr marL="6414973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7pPr>
            <a:lvl8pPr marL="7484135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8pPr>
            <a:lvl9pPr marL="8553298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FB994-8C7A-432F-9145-2B89982E5304}" type="datetimeFigureOut">
              <a:rPr lang="zh-TW" altLang="en-US" smtClean="0"/>
              <a:t>2026/5/4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275959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70124" y="8059374"/>
            <a:ext cx="9088041" cy="1920934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825460" y="8059374"/>
            <a:ext cx="9088041" cy="1920934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FB994-8C7A-432F-9145-2B89982E5304}" type="datetimeFigureOut">
              <a:rPr lang="zh-TW" altLang="en-US" smtClean="0"/>
              <a:t>2026/5/4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956225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1611882"/>
            <a:ext cx="18443377" cy="5851808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2912" y="7421634"/>
            <a:ext cx="9046274" cy="3637228"/>
          </a:xfrm>
        </p:spPr>
        <p:txBody>
          <a:bodyPr anchor="b"/>
          <a:lstStyle>
            <a:lvl1pPr marL="0" indent="0">
              <a:buNone/>
              <a:defRPr sz="5612" b="1"/>
            </a:lvl1pPr>
            <a:lvl2pPr marL="1069162" indent="0">
              <a:buNone/>
              <a:defRPr sz="4677" b="1"/>
            </a:lvl2pPr>
            <a:lvl3pPr marL="2138324" indent="0">
              <a:buNone/>
              <a:defRPr sz="4209" b="1"/>
            </a:lvl3pPr>
            <a:lvl4pPr marL="3207487" indent="0">
              <a:buNone/>
              <a:defRPr sz="3742" b="1"/>
            </a:lvl4pPr>
            <a:lvl5pPr marL="4276649" indent="0">
              <a:buNone/>
              <a:defRPr sz="3742" b="1"/>
            </a:lvl5pPr>
            <a:lvl6pPr marL="5345811" indent="0">
              <a:buNone/>
              <a:defRPr sz="3742" b="1"/>
            </a:lvl6pPr>
            <a:lvl7pPr marL="6414973" indent="0">
              <a:buNone/>
              <a:defRPr sz="3742" b="1"/>
            </a:lvl7pPr>
            <a:lvl8pPr marL="7484135" indent="0">
              <a:buNone/>
              <a:defRPr sz="3742" b="1"/>
            </a:lvl8pPr>
            <a:lvl9pPr marL="8553298" indent="0">
              <a:buNone/>
              <a:defRPr sz="3742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72912" y="11058863"/>
            <a:ext cx="9046274" cy="1626592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825461" y="7421634"/>
            <a:ext cx="9090826" cy="3637228"/>
          </a:xfrm>
        </p:spPr>
        <p:txBody>
          <a:bodyPr anchor="b"/>
          <a:lstStyle>
            <a:lvl1pPr marL="0" indent="0">
              <a:buNone/>
              <a:defRPr sz="5612" b="1"/>
            </a:lvl1pPr>
            <a:lvl2pPr marL="1069162" indent="0">
              <a:buNone/>
              <a:defRPr sz="4677" b="1"/>
            </a:lvl2pPr>
            <a:lvl3pPr marL="2138324" indent="0">
              <a:buNone/>
              <a:defRPr sz="4209" b="1"/>
            </a:lvl3pPr>
            <a:lvl4pPr marL="3207487" indent="0">
              <a:buNone/>
              <a:defRPr sz="3742" b="1"/>
            </a:lvl4pPr>
            <a:lvl5pPr marL="4276649" indent="0">
              <a:buNone/>
              <a:defRPr sz="3742" b="1"/>
            </a:lvl5pPr>
            <a:lvl6pPr marL="5345811" indent="0">
              <a:buNone/>
              <a:defRPr sz="3742" b="1"/>
            </a:lvl6pPr>
            <a:lvl7pPr marL="6414973" indent="0">
              <a:buNone/>
              <a:defRPr sz="3742" b="1"/>
            </a:lvl7pPr>
            <a:lvl8pPr marL="7484135" indent="0">
              <a:buNone/>
              <a:defRPr sz="3742" b="1"/>
            </a:lvl8pPr>
            <a:lvl9pPr marL="8553298" indent="0">
              <a:buNone/>
              <a:defRPr sz="3742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825461" y="11058863"/>
            <a:ext cx="9090826" cy="1626592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FB994-8C7A-432F-9145-2B89982E5304}" type="datetimeFigureOut">
              <a:rPr lang="zh-TW" altLang="en-US" smtClean="0"/>
              <a:t>2026/5/4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60381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FB994-8C7A-432F-9145-2B89982E5304}" type="datetimeFigureOut">
              <a:rPr lang="zh-TW" altLang="en-US" smtClean="0"/>
              <a:t>2026/5/4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10941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FB994-8C7A-432F-9145-2B89982E5304}" type="datetimeFigureOut">
              <a:rPr lang="zh-TW" altLang="en-US" smtClean="0"/>
              <a:t>2026/5/4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757005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2018348"/>
            <a:ext cx="6896776" cy="7064216"/>
          </a:xfrm>
        </p:spPr>
        <p:txBody>
          <a:bodyPr anchor="b"/>
          <a:lstStyle>
            <a:lvl1pPr>
              <a:defRPr sz="7483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90826" y="4359077"/>
            <a:ext cx="10825460" cy="21515024"/>
          </a:xfrm>
        </p:spPr>
        <p:txBody>
          <a:bodyPr/>
          <a:lstStyle>
            <a:lvl1pPr>
              <a:defRPr sz="7483"/>
            </a:lvl1pPr>
            <a:lvl2pPr>
              <a:defRPr sz="6548"/>
            </a:lvl2pPr>
            <a:lvl3pPr>
              <a:defRPr sz="5612"/>
            </a:lvl3pPr>
            <a:lvl4pPr>
              <a:defRPr sz="4677"/>
            </a:lvl4pPr>
            <a:lvl5pPr>
              <a:defRPr sz="4677"/>
            </a:lvl5pPr>
            <a:lvl6pPr>
              <a:defRPr sz="4677"/>
            </a:lvl6pPr>
            <a:lvl7pPr>
              <a:defRPr sz="4677"/>
            </a:lvl7pPr>
            <a:lvl8pPr>
              <a:defRPr sz="4677"/>
            </a:lvl8pPr>
            <a:lvl9pPr>
              <a:defRPr sz="4677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09" y="9082564"/>
            <a:ext cx="6896776" cy="16826573"/>
          </a:xfrm>
        </p:spPr>
        <p:txBody>
          <a:bodyPr/>
          <a:lstStyle>
            <a:lvl1pPr marL="0" indent="0">
              <a:buNone/>
              <a:defRPr sz="3742"/>
            </a:lvl1pPr>
            <a:lvl2pPr marL="1069162" indent="0">
              <a:buNone/>
              <a:defRPr sz="3274"/>
            </a:lvl2pPr>
            <a:lvl3pPr marL="2138324" indent="0">
              <a:buNone/>
              <a:defRPr sz="2806"/>
            </a:lvl3pPr>
            <a:lvl4pPr marL="3207487" indent="0">
              <a:buNone/>
              <a:defRPr sz="2339"/>
            </a:lvl4pPr>
            <a:lvl5pPr marL="4276649" indent="0">
              <a:buNone/>
              <a:defRPr sz="2339"/>
            </a:lvl5pPr>
            <a:lvl6pPr marL="5345811" indent="0">
              <a:buNone/>
              <a:defRPr sz="2339"/>
            </a:lvl6pPr>
            <a:lvl7pPr marL="6414973" indent="0">
              <a:buNone/>
              <a:defRPr sz="2339"/>
            </a:lvl7pPr>
            <a:lvl8pPr marL="7484135" indent="0">
              <a:buNone/>
              <a:defRPr sz="2339"/>
            </a:lvl8pPr>
            <a:lvl9pPr marL="8553298" indent="0">
              <a:buNone/>
              <a:defRPr sz="2339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FB994-8C7A-432F-9145-2B89982E5304}" type="datetimeFigureOut">
              <a:rPr lang="zh-TW" altLang="en-US" smtClean="0"/>
              <a:t>2026/5/4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048171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2018348"/>
            <a:ext cx="6896776" cy="7064216"/>
          </a:xfrm>
        </p:spPr>
        <p:txBody>
          <a:bodyPr anchor="b"/>
          <a:lstStyle>
            <a:lvl1pPr>
              <a:defRPr sz="7483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090826" y="4359077"/>
            <a:ext cx="10825460" cy="21515024"/>
          </a:xfrm>
        </p:spPr>
        <p:txBody>
          <a:bodyPr anchor="t"/>
          <a:lstStyle>
            <a:lvl1pPr marL="0" indent="0">
              <a:buNone/>
              <a:defRPr sz="7483"/>
            </a:lvl1pPr>
            <a:lvl2pPr marL="1069162" indent="0">
              <a:buNone/>
              <a:defRPr sz="6548"/>
            </a:lvl2pPr>
            <a:lvl3pPr marL="2138324" indent="0">
              <a:buNone/>
              <a:defRPr sz="5612"/>
            </a:lvl3pPr>
            <a:lvl4pPr marL="3207487" indent="0">
              <a:buNone/>
              <a:defRPr sz="4677"/>
            </a:lvl4pPr>
            <a:lvl5pPr marL="4276649" indent="0">
              <a:buNone/>
              <a:defRPr sz="4677"/>
            </a:lvl5pPr>
            <a:lvl6pPr marL="5345811" indent="0">
              <a:buNone/>
              <a:defRPr sz="4677"/>
            </a:lvl6pPr>
            <a:lvl7pPr marL="6414973" indent="0">
              <a:buNone/>
              <a:defRPr sz="4677"/>
            </a:lvl7pPr>
            <a:lvl8pPr marL="7484135" indent="0">
              <a:buNone/>
              <a:defRPr sz="4677"/>
            </a:lvl8pPr>
            <a:lvl9pPr marL="8553298" indent="0">
              <a:buNone/>
              <a:defRPr sz="4677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09" y="9082564"/>
            <a:ext cx="6896776" cy="16826573"/>
          </a:xfrm>
        </p:spPr>
        <p:txBody>
          <a:bodyPr/>
          <a:lstStyle>
            <a:lvl1pPr marL="0" indent="0">
              <a:buNone/>
              <a:defRPr sz="3742"/>
            </a:lvl1pPr>
            <a:lvl2pPr marL="1069162" indent="0">
              <a:buNone/>
              <a:defRPr sz="3274"/>
            </a:lvl2pPr>
            <a:lvl3pPr marL="2138324" indent="0">
              <a:buNone/>
              <a:defRPr sz="2806"/>
            </a:lvl3pPr>
            <a:lvl4pPr marL="3207487" indent="0">
              <a:buNone/>
              <a:defRPr sz="2339"/>
            </a:lvl4pPr>
            <a:lvl5pPr marL="4276649" indent="0">
              <a:buNone/>
              <a:defRPr sz="2339"/>
            </a:lvl5pPr>
            <a:lvl6pPr marL="5345811" indent="0">
              <a:buNone/>
              <a:defRPr sz="2339"/>
            </a:lvl6pPr>
            <a:lvl7pPr marL="6414973" indent="0">
              <a:buNone/>
              <a:defRPr sz="2339"/>
            </a:lvl7pPr>
            <a:lvl8pPr marL="7484135" indent="0">
              <a:buNone/>
              <a:defRPr sz="2339"/>
            </a:lvl8pPr>
            <a:lvl9pPr marL="8553298" indent="0">
              <a:buNone/>
              <a:defRPr sz="2339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FB994-8C7A-432F-9145-2B89982E5304}" type="datetimeFigureOut">
              <a:rPr lang="zh-TW" altLang="en-US" smtClean="0"/>
              <a:t>2026/5/4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462809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FB994-8C7A-432F-9145-2B89982E5304}" type="datetimeFigureOut">
              <a:rPr lang="zh-TW" altLang="en-US" smtClean="0"/>
              <a:t>2026/5/4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005557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302658" y="1611875"/>
            <a:ext cx="4610844" cy="25656844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70125" y="1611875"/>
            <a:ext cx="13565237" cy="25656844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FB994-8C7A-432F-9145-2B89982E5304}" type="datetimeFigureOut">
              <a:rPr lang="zh-TW" altLang="en-US" smtClean="0"/>
              <a:t>2026/5/4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57168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70124" y="1611882"/>
            <a:ext cx="18443377" cy="58518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0124" y="8059374"/>
            <a:ext cx="18443377" cy="192093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70124" y="28060644"/>
            <a:ext cx="4811316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3FB994-8C7A-432F-9145-2B89982E5304}" type="datetimeFigureOut">
              <a:rPr lang="zh-TW" altLang="en-US" smtClean="0"/>
              <a:t>2026/5/4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083326" y="28060644"/>
            <a:ext cx="7216973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102185" y="28060644"/>
            <a:ext cx="4811316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998596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2138324" rtl="0" eaLnBrk="1" latinLnBrk="0" hangingPunct="1">
        <a:lnSpc>
          <a:spcPct val="90000"/>
        </a:lnSpc>
        <a:spcBef>
          <a:spcPct val="0"/>
        </a:spcBef>
        <a:buNone/>
        <a:defRPr sz="1028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34581" indent="-534581" algn="l" defTabSz="2138324" rtl="0" eaLnBrk="1" latinLnBrk="0" hangingPunct="1">
        <a:lnSpc>
          <a:spcPct val="90000"/>
        </a:lnSpc>
        <a:spcBef>
          <a:spcPts val="2339"/>
        </a:spcBef>
        <a:buFont typeface="Arial" panose="020B0604020202020204" pitchFamily="34" charset="0"/>
        <a:buChar char="•"/>
        <a:defRPr sz="6548" kern="1200">
          <a:solidFill>
            <a:schemeClr val="tx1"/>
          </a:solidFill>
          <a:latin typeface="+mn-lt"/>
          <a:ea typeface="+mn-ea"/>
          <a:cs typeface="+mn-cs"/>
        </a:defRPr>
      </a:lvl1pPr>
      <a:lvl2pPr marL="1603743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5612" kern="1200">
          <a:solidFill>
            <a:schemeClr val="tx1"/>
          </a:solidFill>
          <a:latin typeface="+mn-lt"/>
          <a:ea typeface="+mn-ea"/>
          <a:cs typeface="+mn-cs"/>
        </a:defRPr>
      </a:lvl2pPr>
      <a:lvl3pPr marL="2672906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3pPr>
      <a:lvl4pPr marL="3742068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811230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880392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949554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8018717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9087879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1pPr>
      <a:lvl2pPr marL="1069162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2pPr>
      <a:lvl3pPr marL="2138324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3pPr>
      <a:lvl4pPr marL="3207487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276649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345811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414973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7484135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8553298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4A43AAF6-BC9D-7FC3-0C6E-73D6718EB573}"/>
              </a:ext>
            </a:extLst>
          </p:cNvPr>
          <p:cNvSpPr txBox="1"/>
          <p:nvPr/>
        </p:nvSpPr>
        <p:spPr>
          <a:xfrm>
            <a:off x="2325950" y="872251"/>
            <a:ext cx="1712224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5400" b="1" dirty="0">
                <a:solidFill>
                  <a:srgbClr val="C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An NS-3-Based Framework for Schedule Replay, Link Probing, and Mission Verification in UAV-LEO Networks</a:t>
            </a:r>
            <a:endParaRPr lang="zh-TW" altLang="en-US" sz="5400" b="1" dirty="0">
              <a:solidFill>
                <a:srgbClr val="C00000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7CFC2975-9F1C-A660-B3BA-2A1A04A982F2}"/>
              </a:ext>
            </a:extLst>
          </p:cNvPr>
          <p:cNvSpPr txBox="1"/>
          <p:nvPr/>
        </p:nvSpPr>
        <p:spPr>
          <a:xfrm>
            <a:off x="3833812" y="2626577"/>
            <a:ext cx="13716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Author : 112550039  </a:t>
            </a:r>
            <a:r>
              <a:rPr lang="zh-TW" altLang="en-US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李宗諺</a:t>
            </a:r>
            <a:r>
              <a:rPr lang="en-US" altLang="zh-TW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 112550139</a:t>
            </a:r>
            <a:r>
              <a:rPr lang="zh-TW" altLang="en-US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簡士原</a:t>
            </a:r>
            <a:endParaRPr lang="en-US" altLang="zh-TW" sz="2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algn="ctr"/>
            <a:r>
              <a:rPr lang="en-US" altLang="zh-TW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Department/University : Computer Science/National Yang Ming Chiao Tung University</a:t>
            </a:r>
          </a:p>
          <a:p>
            <a:pPr algn="ctr"/>
            <a:r>
              <a:rPr lang="en-US" altLang="zh-TW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Advisor : Kate Ching-Ju Lin</a:t>
            </a:r>
            <a:endParaRPr lang="zh-TW" altLang="en-US" sz="2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36FC2188-5B09-ED71-44DA-22C61B2F856B}"/>
              </a:ext>
            </a:extLst>
          </p:cNvPr>
          <p:cNvSpPr txBox="1"/>
          <p:nvPr/>
        </p:nvSpPr>
        <p:spPr>
          <a:xfrm>
            <a:off x="928687" y="3826905"/>
            <a:ext cx="19916775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000" dirty="0">
                <a:solidFill>
                  <a:srgbClr val="C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Background and Motivation</a:t>
            </a:r>
          </a:p>
          <a:p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• UAV and LEO networks are important for wide-area communication and task delivery. </a:t>
            </a:r>
          </a:p>
          <a:p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• Scheduling and validating communication tasks in such networks is challenging. </a:t>
            </a:r>
          </a:p>
          <a:p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• A simulation framework is needed to replay schedules and verify whether mission deadlines can be met.</a:t>
            </a:r>
          </a:p>
          <a:p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77910FA4-9020-0303-B458-DDF5EDCA9A05}"/>
              </a:ext>
            </a:extLst>
          </p:cNvPr>
          <p:cNvSpPr txBox="1"/>
          <p:nvPr/>
        </p:nvSpPr>
        <p:spPr>
          <a:xfrm>
            <a:off x="928685" y="5972911"/>
            <a:ext cx="19916775" cy="2185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000" dirty="0">
                <a:solidFill>
                  <a:srgbClr val="C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Problem Statement</a:t>
            </a:r>
          </a:p>
          <a:p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• External schedulers may generate communication schedules, but their feasibility must be verified.</a:t>
            </a:r>
          </a:p>
          <a:p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• We need a framework that can replay task schedules in NS-3 and evaluate communication performance.</a:t>
            </a:r>
          </a:p>
          <a:p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• We also need to estimate or measure link quality for UAV-to-UAV and UAV-to-LEO communication.</a:t>
            </a:r>
            <a:endParaRPr lang="zh-TW" altLang="en-US" sz="3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9" name="圖片 8" descr="Seal-NYCU Secretariat">
            <a:extLst>
              <a:ext uri="{FF2B5EF4-FFF2-40B4-BE49-F238E27FC236}">
                <a16:creationId xmlns:a16="http://schemas.microsoft.com/office/drawing/2014/main" id="{22C4AD91-54E8-7E8E-D818-ABBF6F18A9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41133" y="2168297"/>
            <a:ext cx="5114925" cy="2088594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5FDD6EB5-0AA2-48FB-AB3B-8E7649083C2A}"/>
              </a:ext>
            </a:extLst>
          </p:cNvPr>
          <p:cNvSpPr txBox="1"/>
          <p:nvPr/>
        </p:nvSpPr>
        <p:spPr>
          <a:xfrm>
            <a:off x="928685" y="8211891"/>
            <a:ext cx="199167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000" dirty="0">
                <a:solidFill>
                  <a:srgbClr val="C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Methods &amp; Results</a:t>
            </a:r>
            <a:endParaRPr lang="zh-TW" altLang="en-US" sz="3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pSp>
        <p:nvGrpSpPr>
          <p:cNvPr id="18" name="群組 17">
            <a:extLst>
              <a:ext uri="{FF2B5EF4-FFF2-40B4-BE49-F238E27FC236}">
                <a16:creationId xmlns:a16="http://schemas.microsoft.com/office/drawing/2014/main" id="{2A5E5E1C-A552-FC5B-0B74-F4A83685DF3A}"/>
              </a:ext>
            </a:extLst>
          </p:cNvPr>
          <p:cNvGrpSpPr/>
          <p:nvPr/>
        </p:nvGrpSpPr>
        <p:grpSpPr>
          <a:xfrm>
            <a:off x="504892" y="8972871"/>
            <a:ext cx="13522874" cy="4829041"/>
            <a:chOff x="878876" y="9572006"/>
            <a:chExt cx="7022109" cy="4450556"/>
          </a:xfrm>
        </p:grpSpPr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B8A06844-7B18-C1C0-22E5-5630CF5522B9}"/>
                </a:ext>
              </a:extLst>
            </p:cNvPr>
            <p:cNvSpPr/>
            <p:nvPr/>
          </p:nvSpPr>
          <p:spPr>
            <a:xfrm>
              <a:off x="878876" y="9572006"/>
              <a:ext cx="6972300" cy="4450556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147B9B10-86F0-2B8B-E1CA-D7DCA8C616B7}"/>
                </a:ext>
              </a:extLst>
            </p:cNvPr>
            <p:cNvSpPr txBox="1"/>
            <p:nvPr/>
          </p:nvSpPr>
          <p:spPr>
            <a:xfrm>
              <a:off x="928685" y="9677014"/>
              <a:ext cx="6972300" cy="5673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400" b="1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UAV-to-UAV Probe</a:t>
              </a:r>
              <a:endParaRPr lang="zh-TW" altLang="en-US" sz="34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8" name="群組 27">
            <a:extLst>
              <a:ext uri="{FF2B5EF4-FFF2-40B4-BE49-F238E27FC236}">
                <a16:creationId xmlns:a16="http://schemas.microsoft.com/office/drawing/2014/main" id="{8CCA2105-6DBB-67BC-DC32-76256CD9A53E}"/>
              </a:ext>
            </a:extLst>
          </p:cNvPr>
          <p:cNvGrpSpPr/>
          <p:nvPr/>
        </p:nvGrpSpPr>
        <p:grpSpPr>
          <a:xfrm>
            <a:off x="514527" y="14020153"/>
            <a:ext cx="13426954" cy="4829041"/>
            <a:chOff x="928685" y="9572625"/>
            <a:chExt cx="6972301" cy="4450556"/>
          </a:xfrm>
        </p:grpSpPr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2EDFDD8B-2059-65BB-4136-A0114F533964}"/>
                </a:ext>
              </a:extLst>
            </p:cNvPr>
            <p:cNvSpPr/>
            <p:nvPr/>
          </p:nvSpPr>
          <p:spPr>
            <a:xfrm>
              <a:off x="928686" y="9572625"/>
              <a:ext cx="6972300" cy="4450556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sp>
          <p:nvSpPr>
            <p:cNvPr id="30" name="文字方塊 29">
              <a:extLst>
                <a:ext uri="{FF2B5EF4-FFF2-40B4-BE49-F238E27FC236}">
                  <a16:creationId xmlns:a16="http://schemas.microsoft.com/office/drawing/2014/main" id="{C87DB47F-64F6-D8FB-1A11-821A516595AE}"/>
                </a:ext>
              </a:extLst>
            </p:cNvPr>
            <p:cNvSpPr txBox="1"/>
            <p:nvPr/>
          </p:nvSpPr>
          <p:spPr>
            <a:xfrm>
              <a:off x="928685" y="9677014"/>
              <a:ext cx="6972300" cy="5673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400" b="1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NS-3 Schedule Replay / Verification</a:t>
              </a:r>
              <a:endParaRPr lang="zh-TW" altLang="en-US" sz="34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42758803-CB13-9FD0-EA7B-55416FA5926E}"/>
              </a:ext>
            </a:extLst>
          </p:cNvPr>
          <p:cNvGrpSpPr/>
          <p:nvPr/>
        </p:nvGrpSpPr>
        <p:grpSpPr>
          <a:xfrm>
            <a:off x="543558" y="19097017"/>
            <a:ext cx="13397921" cy="4829041"/>
            <a:chOff x="928686" y="9572626"/>
            <a:chExt cx="6972300" cy="4450556"/>
          </a:xfrm>
        </p:grpSpPr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7570CB07-8B77-D06A-05E1-A3388792A05B}"/>
                </a:ext>
              </a:extLst>
            </p:cNvPr>
            <p:cNvSpPr/>
            <p:nvPr/>
          </p:nvSpPr>
          <p:spPr>
            <a:xfrm>
              <a:off x="928686" y="9572626"/>
              <a:ext cx="6972300" cy="4450556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sp>
          <p:nvSpPr>
            <p:cNvPr id="27" name="文字方塊 26">
              <a:extLst>
                <a:ext uri="{FF2B5EF4-FFF2-40B4-BE49-F238E27FC236}">
                  <a16:creationId xmlns:a16="http://schemas.microsoft.com/office/drawing/2014/main" id="{43E54B8B-FFA1-0B09-5621-594F268DAD78}"/>
                </a:ext>
              </a:extLst>
            </p:cNvPr>
            <p:cNvSpPr txBox="1"/>
            <p:nvPr/>
          </p:nvSpPr>
          <p:spPr>
            <a:xfrm>
              <a:off x="3292987" y="9632697"/>
              <a:ext cx="2228590" cy="5673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400" b="1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UAV-to-LEO Uplink</a:t>
              </a:r>
              <a:endParaRPr lang="zh-TW" altLang="en-US" sz="34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61" name="群組 60">
            <a:extLst>
              <a:ext uri="{FF2B5EF4-FFF2-40B4-BE49-F238E27FC236}">
                <a16:creationId xmlns:a16="http://schemas.microsoft.com/office/drawing/2014/main" id="{A342C980-884B-A1BC-0F12-CDDFE3330028}"/>
              </a:ext>
            </a:extLst>
          </p:cNvPr>
          <p:cNvGrpSpPr/>
          <p:nvPr/>
        </p:nvGrpSpPr>
        <p:grpSpPr>
          <a:xfrm>
            <a:off x="14461155" y="8972873"/>
            <a:ext cx="6415563" cy="14953184"/>
            <a:chOff x="928686" y="9588372"/>
            <a:chExt cx="6980591" cy="4434809"/>
          </a:xfrm>
        </p:grpSpPr>
        <p:sp>
          <p:nvSpPr>
            <p:cNvPr id="62" name="矩形 61">
              <a:extLst>
                <a:ext uri="{FF2B5EF4-FFF2-40B4-BE49-F238E27FC236}">
                  <a16:creationId xmlns:a16="http://schemas.microsoft.com/office/drawing/2014/main" id="{E84668A6-42FE-03D8-DB0D-03993B959D2E}"/>
                </a:ext>
              </a:extLst>
            </p:cNvPr>
            <p:cNvSpPr/>
            <p:nvPr/>
          </p:nvSpPr>
          <p:spPr>
            <a:xfrm>
              <a:off x="928686" y="9588372"/>
              <a:ext cx="6972300" cy="4434809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sp>
          <p:nvSpPr>
            <p:cNvPr id="63" name="文字方塊 62">
              <a:extLst>
                <a:ext uri="{FF2B5EF4-FFF2-40B4-BE49-F238E27FC236}">
                  <a16:creationId xmlns:a16="http://schemas.microsoft.com/office/drawing/2014/main" id="{5B3A5BBF-FC38-C7E9-B94E-EE79F57A19E4}"/>
                </a:ext>
              </a:extLst>
            </p:cNvPr>
            <p:cNvSpPr txBox="1"/>
            <p:nvPr/>
          </p:nvSpPr>
          <p:spPr>
            <a:xfrm>
              <a:off x="936977" y="9625394"/>
              <a:ext cx="6972300" cy="3377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400" b="1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System Architecture &amp;</a:t>
              </a:r>
              <a:r>
                <a:rPr lang="zh-TW" altLang="en-US" sz="3400" b="1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 </a:t>
              </a:r>
              <a:r>
                <a:rPr lang="en-US" altLang="zh-TW" sz="3400" b="1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Data Flow</a:t>
              </a:r>
              <a:endParaRPr lang="zh-TW" altLang="en-US" sz="34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</p:grpSp>
      <p:sp>
        <p:nvSpPr>
          <p:cNvPr id="2" name="文字方塊 1">
            <a:extLst>
              <a:ext uri="{FF2B5EF4-FFF2-40B4-BE49-F238E27FC236}">
                <a16:creationId xmlns:a16="http://schemas.microsoft.com/office/drawing/2014/main" id="{5CB20C62-B21F-A99A-CD7F-185F3493148E}"/>
              </a:ext>
            </a:extLst>
          </p:cNvPr>
          <p:cNvSpPr txBox="1"/>
          <p:nvPr/>
        </p:nvSpPr>
        <p:spPr>
          <a:xfrm>
            <a:off x="928683" y="24173877"/>
            <a:ext cx="19916775" cy="2185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000" dirty="0">
                <a:solidFill>
                  <a:srgbClr val="C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Conclusion</a:t>
            </a:r>
          </a:p>
          <a:p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• External schedulers may generate communication schedules, but their feasibility must be verified.</a:t>
            </a:r>
          </a:p>
          <a:p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• We need a framework that can replay task schedules in NS-3 and evaluate communication performance.</a:t>
            </a:r>
          </a:p>
          <a:p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• We also need to estimate or measure link quality for UAV-to-UAV and UAV-to-LEO communication.</a:t>
            </a:r>
            <a:endParaRPr lang="zh-TW" altLang="en-US" sz="3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5E2C089B-EA9E-D04B-3B9A-D596A60FFD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5676" y="19576446"/>
            <a:ext cx="2919351" cy="3420280"/>
          </a:xfrm>
          <a:prstGeom prst="rect">
            <a:avLst/>
          </a:prstGeom>
        </p:spPr>
      </p:pic>
      <p:sp>
        <p:nvSpPr>
          <p:cNvPr id="13" name="文字方塊 12">
            <a:extLst>
              <a:ext uri="{FF2B5EF4-FFF2-40B4-BE49-F238E27FC236}">
                <a16:creationId xmlns:a16="http://schemas.microsoft.com/office/drawing/2014/main" id="{D3FB72C8-4D58-25C6-0F39-17BDDCC1E026}"/>
              </a:ext>
            </a:extLst>
          </p:cNvPr>
          <p:cNvSpPr txBox="1"/>
          <p:nvPr/>
        </p:nvSpPr>
        <p:spPr>
          <a:xfrm>
            <a:off x="867712" y="19911763"/>
            <a:ext cx="9220199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Cluster Head UAV maintains uplink across multiple LEO satellites over successive visible windows. As each satellite rises and sets, the simulation tracks geometry changes — slant distance and elevation angle — to compute FSPL, SNR, and Shannon capacity (</a:t>
            </a:r>
            <a:r>
              <a:rPr lang="en-US" altLang="zh-TW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 = B log₂(1+SNR)</a:t>
            </a:r>
            <a:r>
              <a:rPr lang="en-US" altLang="zh-TW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 Hybrid beamforming (ULA array factor, elevation taper) steers the beam toward the current serving satellite, while SNR-adaptive rate control smoothly hands throughput between windows.</a:t>
            </a:r>
            <a:endParaRPr lang="zh-TW" altLang="en-US" sz="28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pSp>
        <p:nvGrpSpPr>
          <p:cNvPr id="121" name="群組 120">
            <a:extLst>
              <a:ext uri="{FF2B5EF4-FFF2-40B4-BE49-F238E27FC236}">
                <a16:creationId xmlns:a16="http://schemas.microsoft.com/office/drawing/2014/main" id="{7AD7EA96-04D1-25C3-0484-915EA243BC05}"/>
              </a:ext>
            </a:extLst>
          </p:cNvPr>
          <p:cNvGrpSpPr/>
          <p:nvPr/>
        </p:nvGrpSpPr>
        <p:grpSpPr>
          <a:xfrm>
            <a:off x="14957492" y="9997054"/>
            <a:ext cx="5430507" cy="3413269"/>
            <a:chOff x="15061783" y="10389315"/>
            <a:chExt cx="5430507" cy="3413269"/>
          </a:xfrm>
        </p:grpSpPr>
        <p:grpSp>
          <p:nvGrpSpPr>
            <p:cNvPr id="75" name="群組 74">
              <a:extLst>
                <a:ext uri="{FF2B5EF4-FFF2-40B4-BE49-F238E27FC236}">
                  <a16:creationId xmlns:a16="http://schemas.microsoft.com/office/drawing/2014/main" id="{51CF963B-E21C-3686-9A42-0C06057B3C1C}"/>
                </a:ext>
              </a:extLst>
            </p:cNvPr>
            <p:cNvGrpSpPr/>
            <p:nvPr/>
          </p:nvGrpSpPr>
          <p:grpSpPr>
            <a:xfrm>
              <a:off x="15061783" y="10580362"/>
              <a:ext cx="2335001" cy="3105962"/>
              <a:chOff x="15208856" y="10797931"/>
              <a:chExt cx="2335001" cy="3105962"/>
            </a:xfrm>
          </p:grpSpPr>
          <p:grpSp>
            <p:nvGrpSpPr>
              <p:cNvPr id="76" name="群組 75">
                <a:extLst>
                  <a:ext uri="{FF2B5EF4-FFF2-40B4-BE49-F238E27FC236}">
                    <a16:creationId xmlns:a16="http://schemas.microsoft.com/office/drawing/2014/main" id="{842DB1CD-AF5F-6CAD-427E-39E0841644C1}"/>
                  </a:ext>
                </a:extLst>
              </p:cNvPr>
              <p:cNvGrpSpPr/>
              <p:nvPr/>
            </p:nvGrpSpPr>
            <p:grpSpPr>
              <a:xfrm>
                <a:off x="15298778" y="10797931"/>
                <a:ext cx="2245079" cy="3105962"/>
                <a:chOff x="15237042" y="10392350"/>
                <a:chExt cx="2245079" cy="3105962"/>
              </a:xfrm>
            </p:grpSpPr>
            <p:pic>
              <p:nvPicPr>
                <p:cNvPr id="79" name="Google Shape;107;g3d00297c732_0_7" title="LEO.png">
                  <a:extLst>
                    <a:ext uri="{FF2B5EF4-FFF2-40B4-BE49-F238E27FC236}">
                      <a16:creationId xmlns:a16="http://schemas.microsoft.com/office/drawing/2014/main" id="{D28763A7-9CCC-5BD8-78A2-111D7CC29642}"/>
                    </a:ext>
                  </a:extLst>
                </p:cNvPr>
                <p:cNvPicPr preferRelativeResize="0"/>
                <p:nvPr/>
              </p:nvPicPr>
              <p:blipFill rotWithShape="1">
                <a:blip r:embed="rId4">
                  <a:alphaModFix/>
                </a:blip>
                <a:srcRect/>
                <a:stretch/>
              </p:blipFill>
              <p:spPr>
                <a:xfrm>
                  <a:off x="16410024" y="10392350"/>
                  <a:ext cx="469662" cy="503828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grpSp>
              <p:nvGrpSpPr>
                <p:cNvPr id="80" name="群組 79">
                  <a:extLst>
                    <a:ext uri="{FF2B5EF4-FFF2-40B4-BE49-F238E27FC236}">
                      <a16:creationId xmlns:a16="http://schemas.microsoft.com/office/drawing/2014/main" id="{9CE5536B-196A-0D58-094C-C8EC7D3C9845}"/>
                    </a:ext>
                  </a:extLst>
                </p:cNvPr>
                <p:cNvGrpSpPr/>
                <p:nvPr/>
              </p:nvGrpSpPr>
              <p:grpSpPr>
                <a:xfrm>
                  <a:off x="15237042" y="12333702"/>
                  <a:ext cx="2245079" cy="1164610"/>
                  <a:chOff x="15377373" y="12057214"/>
                  <a:chExt cx="2245079" cy="1164610"/>
                </a:xfrm>
              </p:grpSpPr>
              <p:pic>
                <p:nvPicPr>
                  <p:cNvPr id="86" name="Google Shape;104;g3d00297c732_0_7" title="sensor.png">
                    <a:extLst>
                      <a:ext uri="{FF2B5EF4-FFF2-40B4-BE49-F238E27FC236}">
                        <a16:creationId xmlns:a16="http://schemas.microsoft.com/office/drawing/2014/main" id="{F97F1933-8423-C93B-611D-51C017554756}"/>
                      </a:ext>
                    </a:extLst>
                  </p:cNvPr>
                  <p:cNvPicPr preferRelativeResize="0"/>
                  <p:nvPr/>
                </p:nvPicPr>
                <p:blipFill rotWithShape="1">
                  <a:blip r:embed="rId5">
                    <a:alphaModFix/>
                  </a:blip>
                  <a:srcRect/>
                  <a:stretch/>
                </p:blipFill>
                <p:spPr>
                  <a:xfrm>
                    <a:off x="15377373" y="12486453"/>
                    <a:ext cx="383400" cy="3834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grpSp>
                <p:nvGrpSpPr>
                  <p:cNvPr id="87" name="群組 86">
                    <a:extLst>
                      <a:ext uri="{FF2B5EF4-FFF2-40B4-BE49-F238E27FC236}">
                        <a16:creationId xmlns:a16="http://schemas.microsoft.com/office/drawing/2014/main" id="{D0F769AA-10B8-8760-0B18-60CF61D322FC}"/>
                      </a:ext>
                    </a:extLst>
                  </p:cNvPr>
                  <p:cNvGrpSpPr/>
                  <p:nvPr/>
                </p:nvGrpSpPr>
                <p:grpSpPr>
                  <a:xfrm>
                    <a:off x="15588374" y="12057214"/>
                    <a:ext cx="2034078" cy="1164610"/>
                    <a:chOff x="15588374" y="12057214"/>
                    <a:chExt cx="2034078" cy="1164610"/>
                  </a:xfrm>
                </p:grpSpPr>
                <p:pic>
                  <p:nvPicPr>
                    <p:cNvPr id="88" name="Google Shape;104;g3d00297c732_0_7" title="sensor.png">
                      <a:extLst>
                        <a:ext uri="{FF2B5EF4-FFF2-40B4-BE49-F238E27FC236}">
                          <a16:creationId xmlns:a16="http://schemas.microsoft.com/office/drawing/2014/main" id="{38FA44F1-C5DC-4CF2-88F5-9DEA6DDEF08D}"/>
                        </a:ext>
                      </a:extLst>
                    </p:cNvPr>
                    <p:cNvPicPr preferRelativeResize="0"/>
                    <p:nvPr/>
                  </p:nvPicPr>
                  <p:blipFill rotWithShape="1">
                    <a:blip r:embed="rId5">
                      <a:alphaModFix/>
                    </a:blip>
                    <a:srcRect/>
                    <a:stretch/>
                  </p:blipFill>
                  <p:spPr>
                    <a:xfrm>
                      <a:off x="15727874" y="12830692"/>
                      <a:ext cx="383400" cy="3834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</p:pic>
                <p:pic>
                  <p:nvPicPr>
                    <p:cNvPr id="89" name="Google Shape;104;g3d00297c732_0_7" title="sensor.png">
                      <a:extLst>
                        <a:ext uri="{FF2B5EF4-FFF2-40B4-BE49-F238E27FC236}">
                          <a16:creationId xmlns:a16="http://schemas.microsoft.com/office/drawing/2014/main" id="{335D3EE6-B85F-6BB5-04E6-2CA47C745368}"/>
                        </a:ext>
                      </a:extLst>
                    </p:cNvPr>
                    <p:cNvPicPr preferRelativeResize="0"/>
                    <p:nvPr/>
                  </p:nvPicPr>
                  <p:blipFill rotWithShape="1">
                    <a:blip r:embed="rId5">
                      <a:alphaModFix/>
                    </a:blip>
                    <a:srcRect/>
                    <a:stretch/>
                  </p:blipFill>
                  <p:spPr>
                    <a:xfrm>
                      <a:off x="16083306" y="12653616"/>
                      <a:ext cx="383400" cy="3834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</p:pic>
                <p:sp>
                  <p:nvSpPr>
                    <p:cNvPr id="90" name="Google Shape;109;g3d00297c732_0_7">
                      <a:extLst>
                        <a:ext uri="{FF2B5EF4-FFF2-40B4-BE49-F238E27FC236}">
                          <a16:creationId xmlns:a16="http://schemas.microsoft.com/office/drawing/2014/main" id="{552F6F87-CCD7-F192-04C3-FBCD816597EF}"/>
                        </a:ext>
                      </a:extLst>
                    </p:cNvPr>
                    <p:cNvSpPr/>
                    <p:nvPr/>
                  </p:nvSpPr>
                  <p:spPr>
                    <a:xfrm rot="17598187">
                      <a:off x="15492974" y="12160468"/>
                      <a:ext cx="312000" cy="121200"/>
                    </a:xfrm>
                    <a:prstGeom prst="rightArrow">
                      <a:avLst>
                        <a:gd name="adj1" fmla="val 50000"/>
                        <a:gd name="adj2" fmla="val 50000"/>
                      </a:avLst>
                    </a:prstGeom>
                    <a:solidFill>
                      <a:schemeClr val="lt2"/>
                    </a:solidFill>
                    <a:ln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>
                      <a:defPPr marR="0" lvl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defPPr>
                      <a:lvl1pPr marR="0" lvl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1pPr>
                      <a:lvl2pPr marR="0" lvl="1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2pPr>
                      <a:lvl3pPr marR="0" lvl="2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3pPr>
                      <a:lvl4pPr marR="0" lvl="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4pPr>
                      <a:lvl5pPr marR="0" lvl="4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5pPr>
                      <a:lvl6pPr marR="0" lvl="5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6pPr>
                      <a:lvl7pPr marR="0" lvl="6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7pPr>
                      <a:lvl8pPr marR="0" lvl="7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8pPr>
                      <a:lvl9pPr marR="0" lvl="8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91" name="Google Shape;109;g3d00297c732_0_7">
                      <a:extLst>
                        <a:ext uri="{FF2B5EF4-FFF2-40B4-BE49-F238E27FC236}">
                          <a16:creationId xmlns:a16="http://schemas.microsoft.com/office/drawing/2014/main" id="{4330FF46-FAF1-236E-A749-3461CB18C111}"/>
                        </a:ext>
                      </a:extLst>
                    </p:cNvPr>
                    <p:cNvSpPr/>
                    <p:nvPr/>
                  </p:nvSpPr>
                  <p:spPr>
                    <a:xfrm rot="17047058">
                      <a:off x="15827406" y="12279995"/>
                      <a:ext cx="312000" cy="121200"/>
                    </a:xfrm>
                    <a:prstGeom prst="rightArrow">
                      <a:avLst>
                        <a:gd name="adj1" fmla="val 50000"/>
                        <a:gd name="adj2" fmla="val 50000"/>
                      </a:avLst>
                    </a:prstGeom>
                    <a:solidFill>
                      <a:schemeClr val="lt2"/>
                    </a:solidFill>
                    <a:ln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>
                      <a:defPPr marR="0" lvl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defPPr>
                      <a:lvl1pPr marR="0" lvl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1pPr>
                      <a:lvl2pPr marR="0" lvl="1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2pPr>
                      <a:lvl3pPr marR="0" lvl="2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3pPr>
                      <a:lvl4pPr marR="0" lvl="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4pPr>
                      <a:lvl5pPr marR="0" lvl="4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5pPr>
                      <a:lvl6pPr marR="0" lvl="5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6pPr>
                      <a:lvl7pPr marR="0" lvl="6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7pPr>
                      <a:lvl8pPr marR="0" lvl="7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8pPr>
                      <a:lvl9pPr marR="0" lvl="8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92" name="Google Shape;109;g3d00297c732_0_7">
                      <a:extLst>
                        <a:ext uri="{FF2B5EF4-FFF2-40B4-BE49-F238E27FC236}">
                          <a16:creationId xmlns:a16="http://schemas.microsoft.com/office/drawing/2014/main" id="{A307B14D-A883-E367-B482-20773A762E74}"/>
                        </a:ext>
                      </a:extLst>
                    </p:cNvPr>
                    <p:cNvSpPr/>
                    <p:nvPr/>
                  </p:nvSpPr>
                  <p:spPr>
                    <a:xfrm rot="16621355">
                      <a:off x="16158817" y="12283337"/>
                      <a:ext cx="312000" cy="121200"/>
                    </a:xfrm>
                    <a:prstGeom prst="rightArrow">
                      <a:avLst>
                        <a:gd name="adj1" fmla="val 50000"/>
                        <a:gd name="adj2" fmla="val 50000"/>
                      </a:avLst>
                    </a:prstGeom>
                    <a:solidFill>
                      <a:schemeClr val="lt2"/>
                    </a:solidFill>
                    <a:ln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>
                      <a:defPPr marR="0" lvl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defPPr>
                      <a:lvl1pPr marR="0" lvl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1pPr>
                      <a:lvl2pPr marR="0" lvl="1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2pPr>
                      <a:lvl3pPr marR="0" lvl="2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3pPr>
                      <a:lvl4pPr marR="0" lvl="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4pPr>
                      <a:lvl5pPr marR="0" lvl="4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5pPr>
                      <a:lvl6pPr marR="0" lvl="5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6pPr>
                      <a:lvl7pPr marR="0" lvl="6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7pPr>
                      <a:lvl8pPr marR="0" lvl="7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8pPr>
                      <a:lvl9pPr marR="0" lvl="8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pic>
                  <p:nvPicPr>
                    <p:cNvPr id="93" name="Google Shape;104;g3d00297c732_0_7" title="sensor.png">
                      <a:extLst>
                        <a:ext uri="{FF2B5EF4-FFF2-40B4-BE49-F238E27FC236}">
                          <a16:creationId xmlns:a16="http://schemas.microsoft.com/office/drawing/2014/main" id="{15E6D0A1-712B-76B6-604B-D6370FC01C8F}"/>
                        </a:ext>
                      </a:extLst>
                    </p:cNvPr>
                    <p:cNvPicPr preferRelativeResize="0"/>
                    <p:nvPr/>
                  </p:nvPicPr>
                  <p:blipFill rotWithShape="1">
                    <a:blip r:embed="rId5">
                      <a:alphaModFix/>
                    </a:blip>
                    <a:srcRect/>
                    <a:stretch/>
                  </p:blipFill>
                  <p:spPr>
                    <a:xfrm flipH="1">
                      <a:off x="17239052" y="12494185"/>
                      <a:ext cx="383400" cy="3834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</p:pic>
                <p:pic>
                  <p:nvPicPr>
                    <p:cNvPr id="94" name="Google Shape;104;g3d00297c732_0_7" title="sensor.png">
                      <a:extLst>
                        <a:ext uri="{FF2B5EF4-FFF2-40B4-BE49-F238E27FC236}">
                          <a16:creationId xmlns:a16="http://schemas.microsoft.com/office/drawing/2014/main" id="{02E7A73B-902F-4CA3-7335-18D1CE808776}"/>
                        </a:ext>
                      </a:extLst>
                    </p:cNvPr>
                    <p:cNvPicPr preferRelativeResize="0"/>
                    <p:nvPr/>
                  </p:nvPicPr>
                  <p:blipFill rotWithShape="1">
                    <a:blip r:embed="rId5">
                      <a:alphaModFix/>
                    </a:blip>
                    <a:srcRect/>
                    <a:stretch/>
                  </p:blipFill>
                  <p:spPr>
                    <a:xfrm flipH="1">
                      <a:off x="16888551" y="12838424"/>
                      <a:ext cx="383400" cy="3834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</p:pic>
                <p:pic>
                  <p:nvPicPr>
                    <p:cNvPr id="95" name="Google Shape;104;g3d00297c732_0_7" title="sensor.png">
                      <a:extLst>
                        <a:ext uri="{FF2B5EF4-FFF2-40B4-BE49-F238E27FC236}">
                          <a16:creationId xmlns:a16="http://schemas.microsoft.com/office/drawing/2014/main" id="{6F990D08-D729-39FC-0B6A-5201C5699AFF}"/>
                        </a:ext>
                      </a:extLst>
                    </p:cNvPr>
                    <p:cNvPicPr preferRelativeResize="0"/>
                    <p:nvPr/>
                  </p:nvPicPr>
                  <p:blipFill rotWithShape="1">
                    <a:blip r:embed="rId5">
                      <a:alphaModFix/>
                    </a:blip>
                    <a:srcRect/>
                    <a:stretch/>
                  </p:blipFill>
                  <p:spPr>
                    <a:xfrm flipH="1">
                      <a:off x="16533119" y="12661348"/>
                      <a:ext cx="383400" cy="3834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</p:pic>
                <p:sp>
                  <p:nvSpPr>
                    <p:cNvPr id="96" name="Google Shape;109;g3d00297c732_0_7">
                      <a:extLst>
                        <a:ext uri="{FF2B5EF4-FFF2-40B4-BE49-F238E27FC236}">
                          <a16:creationId xmlns:a16="http://schemas.microsoft.com/office/drawing/2014/main" id="{09D880C5-AD4B-5AB6-E01C-B052FC2B3423}"/>
                        </a:ext>
                      </a:extLst>
                    </p:cNvPr>
                    <p:cNvSpPr/>
                    <p:nvPr/>
                  </p:nvSpPr>
                  <p:spPr>
                    <a:xfrm rot="4080066" flipH="1">
                      <a:off x="17191878" y="12152614"/>
                      <a:ext cx="312000" cy="121200"/>
                    </a:xfrm>
                    <a:prstGeom prst="rightArrow">
                      <a:avLst>
                        <a:gd name="adj1" fmla="val 50000"/>
                        <a:gd name="adj2" fmla="val 50000"/>
                      </a:avLst>
                    </a:prstGeom>
                    <a:solidFill>
                      <a:schemeClr val="lt2"/>
                    </a:solidFill>
                    <a:ln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>
                      <a:defPPr marR="0" lvl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defPPr>
                      <a:lvl1pPr marR="0" lvl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1pPr>
                      <a:lvl2pPr marR="0" lvl="1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2pPr>
                      <a:lvl3pPr marR="0" lvl="2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3pPr>
                      <a:lvl4pPr marR="0" lvl="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4pPr>
                      <a:lvl5pPr marR="0" lvl="4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5pPr>
                      <a:lvl6pPr marR="0" lvl="5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6pPr>
                      <a:lvl7pPr marR="0" lvl="6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7pPr>
                      <a:lvl8pPr marR="0" lvl="7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8pPr>
                      <a:lvl9pPr marR="0" lvl="8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97" name="Google Shape;109;g3d00297c732_0_7">
                      <a:extLst>
                        <a:ext uri="{FF2B5EF4-FFF2-40B4-BE49-F238E27FC236}">
                          <a16:creationId xmlns:a16="http://schemas.microsoft.com/office/drawing/2014/main" id="{8CAC37A8-8B85-7756-6EFA-2EEC25890DF0}"/>
                        </a:ext>
                      </a:extLst>
                    </p:cNvPr>
                    <p:cNvSpPr/>
                    <p:nvPr/>
                  </p:nvSpPr>
                  <p:spPr>
                    <a:xfrm rot="4552942" flipH="1">
                      <a:off x="16872719" y="12267515"/>
                      <a:ext cx="312000" cy="121200"/>
                    </a:xfrm>
                    <a:prstGeom prst="rightArrow">
                      <a:avLst>
                        <a:gd name="adj1" fmla="val 50000"/>
                        <a:gd name="adj2" fmla="val 50000"/>
                      </a:avLst>
                    </a:prstGeom>
                    <a:solidFill>
                      <a:schemeClr val="lt2"/>
                    </a:solidFill>
                    <a:ln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>
                      <a:defPPr marR="0" lvl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defPPr>
                      <a:lvl1pPr marR="0" lvl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1pPr>
                      <a:lvl2pPr marR="0" lvl="1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2pPr>
                      <a:lvl3pPr marR="0" lvl="2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3pPr>
                      <a:lvl4pPr marR="0" lvl="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4pPr>
                      <a:lvl5pPr marR="0" lvl="4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5pPr>
                      <a:lvl6pPr marR="0" lvl="5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6pPr>
                      <a:lvl7pPr marR="0" lvl="6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7pPr>
                      <a:lvl8pPr marR="0" lvl="7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8pPr>
                      <a:lvl9pPr marR="0" lvl="8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98" name="Google Shape;109;g3d00297c732_0_7">
                      <a:extLst>
                        <a:ext uri="{FF2B5EF4-FFF2-40B4-BE49-F238E27FC236}">
                          <a16:creationId xmlns:a16="http://schemas.microsoft.com/office/drawing/2014/main" id="{0B2386F4-E7A0-3675-8D13-5E743F26BF0E}"/>
                        </a:ext>
                      </a:extLst>
                    </p:cNvPr>
                    <p:cNvSpPr/>
                    <p:nvPr/>
                  </p:nvSpPr>
                  <p:spPr>
                    <a:xfrm rot="4978645" flipH="1">
                      <a:off x="16557738" y="12283336"/>
                      <a:ext cx="312000" cy="121200"/>
                    </a:xfrm>
                    <a:prstGeom prst="rightArrow">
                      <a:avLst>
                        <a:gd name="adj1" fmla="val 50000"/>
                        <a:gd name="adj2" fmla="val 50000"/>
                      </a:avLst>
                    </a:prstGeom>
                    <a:solidFill>
                      <a:schemeClr val="lt2"/>
                    </a:solidFill>
                    <a:ln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>
                      <a:defPPr marR="0" lvl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defPPr>
                      <a:lvl1pPr marR="0" lvl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1pPr>
                      <a:lvl2pPr marR="0" lvl="1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2pPr>
                      <a:lvl3pPr marR="0" lvl="2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3pPr>
                      <a:lvl4pPr marR="0" lvl="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4pPr>
                      <a:lvl5pPr marR="0" lvl="4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5pPr>
                      <a:lvl6pPr marR="0" lvl="5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6pPr>
                      <a:lvl7pPr marR="0" lvl="6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7pPr>
                      <a:lvl8pPr marR="0" lvl="7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8pPr>
                      <a:lvl9pPr marR="0" lvl="8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</p:grpSp>
            <p:grpSp>
              <p:nvGrpSpPr>
                <p:cNvPr id="81" name="群組 80">
                  <a:extLst>
                    <a:ext uri="{FF2B5EF4-FFF2-40B4-BE49-F238E27FC236}">
                      <a16:creationId xmlns:a16="http://schemas.microsoft.com/office/drawing/2014/main" id="{B248D708-D818-681C-DC52-69B29C31FA18}"/>
                    </a:ext>
                  </a:extLst>
                </p:cNvPr>
                <p:cNvGrpSpPr/>
                <p:nvPr/>
              </p:nvGrpSpPr>
              <p:grpSpPr>
                <a:xfrm>
                  <a:off x="15567575" y="11532544"/>
                  <a:ext cx="1709724" cy="598276"/>
                  <a:chOff x="15705744" y="11389267"/>
                  <a:chExt cx="1709724" cy="598276"/>
                </a:xfrm>
              </p:grpSpPr>
              <p:pic>
                <p:nvPicPr>
                  <p:cNvPr id="83" name="Google Shape;103;g3d00297c732_0_7" title="UAV.jpg">
                    <a:extLst>
                      <a:ext uri="{FF2B5EF4-FFF2-40B4-BE49-F238E27FC236}">
                        <a16:creationId xmlns:a16="http://schemas.microsoft.com/office/drawing/2014/main" id="{79D94D9D-8297-9E27-2620-7875041FAF14}"/>
                      </a:ext>
                    </a:extLst>
                  </p:cNvPr>
                  <p:cNvPicPr preferRelativeResize="0"/>
                  <p:nvPr/>
                </p:nvPicPr>
                <p:blipFill rotWithShape="1">
                  <a:blip r:embed="rId6">
                    <a:alphaModFix/>
                  </a:blip>
                  <a:srcRect l="7734" t="19877" r="3576" b="30215"/>
                  <a:stretch>
                    <a:fillRect/>
                  </a:stretch>
                </p:blipFill>
                <p:spPr>
                  <a:xfrm>
                    <a:off x="15705744" y="11659650"/>
                    <a:ext cx="595025" cy="327893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pic>
                <p:nvPicPr>
                  <p:cNvPr id="84" name="Google Shape;103;g3d00297c732_0_7" title="UAV.jpg">
                    <a:extLst>
                      <a:ext uri="{FF2B5EF4-FFF2-40B4-BE49-F238E27FC236}">
                        <a16:creationId xmlns:a16="http://schemas.microsoft.com/office/drawing/2014/main" id="{891CBAC3-09E4-6B09-91C9-8DC207D95E4A}"/>
                      </a:ext>
                    </a:extLst>
                  </p:cNvPr>
                  <p:cNvPicPr preferRelativeResize="0"/>
                  <p:nvPr/>
                </p:nvPicPr>
                <p:blipFill rotWithShape="1">
                  <a:blip r:embed="rId6">
                    <a:alphaModFix/>
                  </a:blip>
                  <a:srcRect l="7734" t="19877" r="3576" b="30215"/>
                  <a:stretch>
                    <a:fillRect/>
                  </a:stretch>
                </p:blipFill>
                <p:spPr>
                  <a:xfrm>
                    <a:off x="16220742" y="11389267"/>
                    <a:ext cx="595025" cy="327893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pic>
                <p:nvPicPr>
                  <p:cNvPr id="85" name="Google Shape;103;g3d00297c732_0_7" title="UAV.jpg">
                    <a:extLst>
                      <a:ext uri="{FF2B5EF4-FFF2-40B4-BE49-F238E27FC236}">
                        <a16:creationId xmlns:a16="http://schemas.microsoft.com/office/drawing/2014/main" id="{D7A89C2D-4FEE-5C60-D3A8-1BC4294DB03E}"/>
                      </a:ext>
                    </a:extLst>
                  </p:cNvPr>
                  <p:cNvPicPr preferRelativeResize="0"/>
                  <p:nvPr/>
                </p:nvPicPr>
                <p:blipFill rotWithShape="1">
                  <a:blip r:embed="rId6">
                    <a:alphaModFix/>
                  </a:blip>
                  <a:srcRect l="7734" t="19877" r="3576" b="30215"/>
                  <a:stretch>
                    <a:fillRect/>
                  </a:stretch>
                </p:blipFill>
                <p:spPr>
                  <a:xfrm>
                    <a:off x="16820443" y="11655133"/>
                    <a:ext cx="595025" cy="327893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</p:grpSp>
            <p:sp>
              <p:nvSpPr>
                <p:cNvPr id="82" name="Google Shape;111;g3d00297c732_0_7">
                  <a:extLst>
                    <a:ext uri="{FF2B5EF4-FFF2-40B4-BE49-F238E27FC236}">
                      <a16:creationId xmlns:a16="http://schemas.microsoft.com/office/drawing/2014/main" id="{99B1C149-E0F7-F70C-3661-865C840F7C9B}"/>
                    </a:ext>
                  </a:extLst>
                </p:cNvPr>
                <p:cNvSpPr/>
                <p:nvPr/>
              </p:nvSpPr>
              <p:spPr>
                <a:xfrm rot="16832188">
                  <a:off x="16200480" y="11158784"/>
                  <a:ext cx="478490" cy="182673"/>
                </a:xfrm>
                <a:prstGeom prst="rightArrow">
                  <a:avLst>
                    <a:gd name="adj1" fmla="val 50000"/>
                    <a:gd name="adj2" fmla="val 50000"/>
                  </a:avLst>
                </a:prstGeom>
                <a:solidFill>
                  <a:srgbClr val="FF0000"/>
                </a:solidFill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chemeClr val="dk2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77" name="矩形 76">
                <a:extLst>
                  <a:ext uri="{FF2B5EF4-FFF2-40B4-BE49-F238E27FC236}">
                    <a16:creationId xmlns:a16="http://schemas.microsoft.com/office/drawing/2014/main" id="{39BD07F8-E764-5315-A365-79E9A4DD7E13}"/>
                  </a:ext>
                </a:extLst>
              </p:cNvPr>
              <p:cNvSpPr/>
              <p:nvPr/>
            </p:nvSpPr>
            <p:spPr>
              <a:xfrm>
                <a:off x="15291346" y="11759626"/>
                <a:ext cx="2252511" cy="1096967"/>
              </a:xfrm>
              <a:prstGeom prst="rect">
                <a:avLst/>
              </a:prstGeom>
              <a:noFill/>
              <a:ln w="9525" cap="flat" cmpd="sng" algn="ctr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accen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39596CA9-063A-7B1B-67ED-C2D86FE60907}"/>
                  </a:ext>
                </a:extLst>
              </p:cNvPr>
              <p:cNvSpPr txBox="1"/>
              <p:nvPr/>
            </p:nvSpPr>
            <p:spPr>
              <a:xfrm>
                <a:off x="15208856" y="11452059"/>
                <a:ext cx="10691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b="1" dirty="0"/>
                  <a:t>Fleet</a:t>
                </a:r>
                <a:endParaRPr lang="zh-TW" altLang="en-US" b="1" dirty="0"/>
              </a:p>
            </p:txBody>
          </p:sp>
        </p:grpSp>
        <p:grpSp>
          <p:nvGrpSpPr>
            <p:cNvPr id="99" name="群組 98">
              <a:extLst>
                <a:ext uri="{FF2B5EF4-FFF2-40B4-BE49-F238E27FC236}">
                  <a16:creationId xmlns:a16="http://schemas.microsoft.com/office/drawing/2014/main" id="{6E0FEE3F-A9D9-AD98-3B71-9C18694D0190}"/>
                </a:ext>
              </a:extLst>
            </p:cNvPr>
            <p:cNvGrpSpPr/>
            <p:nvPr/>
          </p:nvGrpSpPr>
          <p:grpSpPr>
            <a:xfrm>
              <a:off x="18027904" y="10490368"/>
              <a:ext cx="2464386" cy="3116161"/>
              <a:chOff x="18205594" y="10642766"/>
              <a:chExt cx="2464386" cy="3116161"/>
            </a:xfrm>
          </p:grpSpPr>
          <p:grpSp>
            <p:nvGrpSpPr>
              <p:cNvPr id="100" name="群組 99">
                <a:extLst>
                  <a:ext uri="{FF2B5EF4-FFF2-40B4-BE49-F238E27FC236}">
                    <a16:creationId xmlns:a16="http://schemas.microsoft.com/office/drawing/2014/main" id="{5CEE5588-E62E-9A46-730A-AE888EBDF65B}"/>
                  </a:ext>
                </a:extLst>
              </p:cNvPr>
              <p:cNvGrpSpPr/>
              <p:nvPr/>
            </p:nvGrpSpPr>
            <p:grpSpPr>
              <a:xfrm>
                <a:off x="19052965" y="11403788"/>
                <a:ext cx="833960" cy="675061"/>
                <a:chOff x="17930179" y="13367954"/>
                <a:chExt cx="833960" cy="675061"/>
              </a:xfrm>
            </p:grpSpPr>
            <p:pic>
              <p:nvPicPr>
                <p:cNvPr id="115" name="Google Shape;103;g3d00297c732_0_7" title="UAV.jpg">
                  <a:extLst>
                    <a:ext uri="{FF2B5EF4-FFF2-40B4-BE49-F238E27FC236}">
                      <a16:creationId xmlns:a16="http://schemas.microsoft.com/office/drawing/2014/main" id="{F1C1F75A-59D6-36EB-4E0B-BF7CDCA6705A}"/>
                    </a:ext>
                  </a:extLst>
                </p:cNvPr>
                <p:cNvPicPr preferRelativeResize="0"/>
                <p:nvPr/>
              </p:nvPicPr>
              <p:blipFill rotWithShape="1">
                <a:blip r:embed="rId6">
                  <a:alphaModFix/>
                </a:blip>
                <a:srcRect l="7734" t="19877" r="3576" b="30215"/>
                <a:stretch>
                  <a:fillRect/>
                </a:stretch>
              </p:blipFill>
              <p:spPr>
                <a:xfrm>
                  <a:off x="17930179" y="13367954"/>
                  <a:ext cx="833960" cy="478014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16" name="文字方塊 115">
                  <a:extLst>
                    <a:ext uri="{FF2B5EF4-FFF2-40B4-BE49-F238E27FC236}">
                      <a16:creationId xmlns:a16="http://schemas.microsoft.com/office/drawing/2014/main" id="{F4BE5FC3-C9F8-C3DA-28D3-323CE25A8EA9}"/>
                    </a:ext>
                  </a:extLst>
                </p:cNvPr>
                <p:cNvSpPr txBox="1"/>
                <p:nvPr/>
              </p:nvSpPr>
              <p:spPr>
                <a:xfrm>
                  <a:off x="17930179" y="13704461"/>
                  <a:ext cx="833960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TW" sz="1600" dirty="0"/>
                    <a:t>Master</a:t>
                  </a:r>
                  <a:endParaRPr lang="zh-TW" altLang="en-US" sz="1600" dirty="0"/>
                </a:p>
              </p:txBody>
            </p:sp>
          </p:grpSp>
          <p:grpSp>
            <p:nvGrpSpPr>
              <p:cNvPr id="101" name="群組 100">
                <a:extLst>
                  <a:ext uri="{FF2B5EF4-FFF2-40B4-BE49-F238E27FC236}">
                    <a16:creationId xmlns:a16="http://schemas.microsoft.com/office/drawing/2014/main" id="{92A0450A-460E-AB52-4713-738835FB13CD}"/>
                  </a:ext>
                </a:extLst>
              </p:cNvPr>
              <p:cNvGrpSpPr/>
              <p:nvPr/>
            </p:nvGrpSpPr>
            <p:grpSpPr>
              <a:xfrm>
                <a:off x="18205594" y="12235073"/>
                <a:ext cx="833960" cy="747005"/>
                <a:chOff x="18262261" y="12232351"/>
                <a:chExt cx="833960" cy="747005"/>
              </a:xfrm>
            </p:grpSpPr>
            <p:pic>
              <p:nvPicPr>
                <p:cNvPr id="113" name="Google Shape;103;g3d00297c732_0_7" title="UAV.jpg">
                  <a:extLst>
                    <a:ext uri="{FF2B5EF4-FFF2-40B4-BE49-F238E27FC236}">
                      <a16:creationId xmlns:a16="http://schemas.microsoft.com/office/drawing/2014/main" id="{B036A94E-D2F7-8831-5F3A-41E82E1DFB66}"/>
                    </a:ext>
                  </a:extLst>
                </p:cNvPr>
                <p:cNvPicPr preferRelativeResize="0"/>
                <p:nvPr/>
              </p:nvPicPr>
              <p:blipFill rotWithShape="1">
                <a:blip r:embed="rId6">
                  <a:alphaModFix/>
                </a:blip>
                <a:srcRect l="7734" t="19877" r="3576" b="30215"/>
                <a:stretch>
                  <a:fillRect/>
                </a:stretch>
              </p:blipFill>
              <p:spPr>
                <a:xfrm>
                  <a:off x="18262261" y="12232351"/>
                  <a:ext cx="833960" cy="54427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14" name="文字方塊 113">
                  <a:extLst>
                    <a:ext uri="{FF2B5EF4-FFF2-40B4-BE49-F238E27FC236}">
                      <a16:creationId xmlns:a16="http://schemas.microsoft.com/office/drawing/2014/main" id="{E5542F90-5463-37B7-E731-A26A5A218B2E}"/>
                    </a:ext>
                  </a:extLst>
                </p:cNvPr>
                <p:cNvSpPr txBox="1"/>
                <p:nvPr/>
              </p:nvSpPr>
              <p:spPr>
                <a:xfrm>
                  <a:off x="18318021" y="12640802"/>
                  <a:ext cx="695691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TW" sz="1600" dirty="0"/>
                    <a:t>Slave</a:t>
                  </a:r>
                  <a:endParaRPr lang="zh-TW" altLang="en-US" sz="1600" dirty="0"/>
                </a:p>
              </p:txBody>
            </p:sp>
          </p:grpSp>
          <p:grpSp>
            <p:nvGrpSpPr>
              <p:cNvPr id="102" name="群組 101">
                <a:extLst>
                  <a:ext uri="{FF2B5EF4-FFF2-40B4-BE49-F238E27FC236}">
                    <a16:creationId xmlns:a16="http://schemas.microsoft.com/office/drawing/2014/main" id="{B27838E2-3C43-8515-87EB-EB83E671629E}"/>
                  </a:ext>
                </a:extLst>
              </p:cNvPr>
              <p:cNvGrpSpPr/>
              <p:nvPr/>
            </p:nvGrpSpPr>
            <p:grpSpPr>
              <a:xfrm>
                <a:off x="19052965" y="12369168"/>
                <a:ext cx="833960" cy="747005"/>
                <a:chOff x="18262261" y="12232351"/>
                <a:chExt cx="833960" cy="747005"/>
              </a:xfrm>
            </p:grpSpPr>
            <p:pic>
              <p:nvPicPr>
                <p:cNvPr id="111" name="Google Shape;103;g3d00297c732_0_7" title="UAV.jpg">
                  <a:extLst>
                    <a:ext uri="{FF2B5EF4-FFF2-40B4-BE49-F238E27FC236}">
                      <a16:creationId xmlns:a16="http://schemas.microsoft.com/office/drawing/2014/main" id="{2CE8DBAF-D99B-A3C5-4DF9-249E0F22BDDA}"/>
                    </a:ext>
                  </a:extLst>
                </p:cNvPr>
                <p:cNvPicPr preferRelativeResize="0"/>
                <p:nvPr/>
              </p:nvPicPr>
              <p:blipFill rotWithShape="1">
                <a:blip r:embed="rId6">
                  <a:alphaModFix/>
                </a:blip>
                <a:srcRect l="7734" t="19877" r="3576" b="30215"/>
                <a:stretch>
                  <a:fillRect/>
                </a:stretch>
              </p:blipFill>
              <p:spPr>
                <a:xfrm>
                  <a:off x="18262261" y="12232351"/>
                  <a:ext cx="833960" cy="54427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12" name="文字方塊 111">
                  <a:extLst>
                    <a:ext uri="{FF2B5EF4-FFF2-40B4-BE49-F238E27FC236}">
                      <a16:creationId xmlns:a16="http://schemas.microsoft.com/office/drawing/2014/main" id="{019DFB16-506C-3AD0-E5D0-BA1492F8FE1C}"/>
                    </a:ext>
                  </a:extLst>
                </p:cNvPr>
                <p:cNvSpPr txBox="1"/>
                <p:nvPr/>
              </p:nvSpPr>
              <p:spPr>
                <a:xfrm>
                  <a:off x="18318021" y="12640802"/>
                  <a:ext cx="695691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TW" sz="1600" dirty="0"/>
                    <a:t>Slave</a:t>
                  </a:r>
                  <a:endParaRPr lang="zh-TW" altLang="en-US" sz="1600" dirty="0"/>
                </a:p>
              </p:txBody>
            </p:sp>
          </p:grpSp>
          <p:grpSp>
            <p:nvGrpSpPr>
              <p:cNvPr id="103" name="群組 102">
                <a:extLst>
                  <a:ext uri="{FF2B5EF4-FFF2-40B4-BE49-F238E27FC236}">
                    <a16:creationId xmlns:a16="http://schemas.microsoft.com/office/drawing/2014/main" id="{AB5BDC4F-EDF6-2103-F0CA-1A031F576BF6}"/>
                  </a:ext>
                </a:extLst>
              </p:cNvPr>
              <p:cNvGrpSpPr/>
              <p:nvPr/>
            </p:nvGrpSpPr>
            <p:grpSpPr>
              <a:xfrm>
                <a:off x="19836020" y="12267299"/>
                <a:ext cx="833960" cy="747005"/>
                <a:chOff x="18262261" y="12232351"/>
                <a:chExt cx="833960" cy="747005"/>
              </a:xfrm>
            </p:grpSpPr>
            <p:pic>
              <p:nvPicPr>
                <p:cNvPr id="109" name="Google Shape;103;g3d00297c732_0_7" title="UAV.jpg">
                  <a:extLst>
                    <a:ext uri="{FF2B5EF4-FFF2-40B4-BE49-F238E27FC236}">
                      <a16:creationId xmlns:a16="http://schemas.microsoft.com/office/drawing/2014/main" id="{BE0F5D26-A442-05AF-16B2-1AD3BCD65086}"/>
                    </a:ext>
                  </a:extLst>
                </p:cNvPr>
                <p:cNvPicPr preferRelativeResize="0"/>
                <p:nvPr/>
              </p:nvPicPr>
              <p:blipFill rotWithShape="1">
                <a:blip r:embed="rId6">
                  <a:alphaModFix/>
                </a:blip>
                <a:srcRect l="7734" t="19877" r="3576" b="30215"/>
                <a:stretch>
                  <a:fillRect/>
                </a:stretch>
              </p:blipFill>
              <p:spPr>
                <a:xfrm>
                  <a:off x="18262261" y="12232351"/>
                  <a:ext cx="833960" cy="54427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10" name="文字方塊 109">
                  <a:extLst>
                    <a:ext uri="{FF2B5EF4-FFF2-40B4-BE49-F238E27FC236}">
                      <a16:creationId xmlns:a16="http://schemas.microsoft.com/office/drawing/2014/main" id="{61CA5FD1-1A8D-2CDB-AA32-601032B072C5}"/>
                    </a:ext>
                  </a:extLst>
                </p:cNvPr>
                <p:cNvSpPr txBox="1"/>
                <p:nvPr/>
              </p:nvSpPr>
              <p:spPr>
                <a:xfrm>
                  <a:off x="18318021" y="12640802"/>
                  <a:ext cx="695691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TW" sz="1600" dirty="0"/>
                    <a:t>Slave</a:t>
                  </a:r>
                  <a:endParaRPr lang="zh-TW" altLang="en-US" sz="1600" dirty="0"/>
                </a:p>
              </p:txBody>
            </p:sp>
          </p:grpSp>
          <p:sp>
            <p:nvSpPr>
              <p:cNvPr id="104" name="Google Shape;205;g3d00297c732_0_53">
                <a:extLst>
                  <a:ext uri="{FF2B5EF4-FFF2-40B4-BE49-F238E27FC236}">
                    <a16:creationId xmlns:a16="http://schemas.microsoft.com/office/drawing/2014/main" id="{4BFFBF92-2D01-A448-B589-F5DE2FBAC1C2}"/>
                  </a:ext>
                </a:extLst>
              </p:cNvPr>
              <p:cNvSpPr/>
              <p:nvPr/>
            </p:nvSpPr>
            <p:spPr>
              <a:xfrm rot="18163514">
                <a:off x="18735312" y="12016201"/>
                <a:ext cx="392101" cy="206100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solidFill>
                <a:srgbClr val="FFC000"/>
              </a:solidFill>
              <a:ln>
                <a:noFill/>
              </a:ln>
            </p:spPr>
            <p:txBody>
              <a:bodyPr spcFirstLastPara="1" wrap="square" lIns="66850" tIns="66850" rIns="66850" bIns="6685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23"/>
                  <a:buFont typeface="Arial"/>
                  <a:buNone/>
                </a:pPr>
                <a:endParaRPr sz="1022" b="0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5" name="Google Shape;205;g3d00297c732_0_53">
                <a:extLst>
                  <a:ext uri="{FF2B5EF4-FFF2-40B4-BE49-F238E27FC236}">
                    <a16:creationId xmlns:a16="http://schemas.microsoft.com/office/drawing/2014/main" id="{1640F0FA-E551-A390-D9B2-1FF2996DB38E}"/>
                  </a:ext>
                </a:extLst>
              </p:cNvPr>
              <p:cNvSpPr/>
              <p:nvPr/>
            </p:nvSpPr>
            <p:spPr>
              <a:xfrm rot="16200000">
                <a:off x="19260520" y="12101983"/>
                <a:ext cx="392101" cy="206100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solidFill>
                <a:srgbClr val="FFC000"/>
              </a:solidFill>
              <a:ln>
                <a:noFill/>
              </a:ln>
            </p:spPr>
            <p:txBody>
              <a:bodyPr spcFirstLastPara="1" wrap="square" lIns="66850" tIns="66850" rIns="66850" bIns="6685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23"/>
                  <a:buFont typeface="Arial"/>
                  <a:buNone/>
                </a:pPr>
                <a:endParaRPr sz="1022" b="0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6" name="Google Shape;205;g3d00297c732_0_53">
                <a:extLst>
                  <a:ext uri="{FF2B5EF4-FFF2-40B4-BE49-F238E27FC236}">
                    <a16:creationId xmlns:a16="http://schemas.microsoft.com/office/drawing/2014/main" id="{A50312B0-0FF7-43F9-200F-AB0196FD9AF0}"/>
                  </a:ext>
                </a:extLst>
              </p:cNvPr>
              <p:cNvSpPr/>
              <p:nvPr/>
            </p:nvSpPr>
            <p:spPr>
              <a:xfrm rot="13940948">
                <a:off x="19773319" y="11997080"/>
                <a:ext cx="392101" cy="206100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solidFill>
                <a:srgbClr val="FFC000"/>
              </a:solidFill>
              <a:ln>
                <a:noFill/>
              </a:ln>
            </p:spPr>
            <p:txBody>
              <a:bodyPr spcFirstLastPara="1" wrap="square" lIns="66850" tIns="66850" rIns="66850" bIns="6685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23"/>
                  <a:buFont typeface="Arial"/>
                  <a:buNone/>
                </a:pPr>
                <a:endParaRPr sz="1022" b="0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7" name="Google Shape;205;g3d00297c732_0_53">
                <a:extLst>
                  <a:ext uri="{FF2B5EF4-FFF2-40B4-BE49-F238E27FC236}">
                    <a16:creationId xmlns:a16="http://schemas.microsoft.com/office/drawing/2014/main" id="{86B72903-24DD-26CE-BD12-9631275AD317}"/>
                  </a:ext>
                </a:extLst>
              </p:cNvPr>
              <p:cNvSpPr/>
              <p:nvPr/>
            </p:nvSpPr>
            <p:spPr>
              <a:xfrm rot="16200000">
                <a:off x="19096073" y="10869718"/>
                <a:ext cx="720994" cy="267090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solidFill>
                <a:srgbClr val="FF0000"/>
              </a:solidFill>
              <a:ln>
                <a:noFill/>
              </a:ln>
            </p:spPr>
            <p:txBody>
              <a:bodyPr spcFirstLastPara="1" wrap="square" lIns="66850" tIns="66850" rIns="66850" bIns="6685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23"/>
                  <a:buFont typeface="Arial"/>
                  <a:buNone/>
                </a:pPr>
                <a:endParaRPr sz="1022" b="0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8" name="Google Shape;109;g3d00297c732_0_7">
                <a:extLst>
                  <a:ext uri="{FF2B5EF4-FFF2-40B4-BE49-F238E27FC236}">
                    <a16:creationId xmlns:a16="http://schemas.microsoft.com/office/drawing/2014/main" id="{F4A565B9-8ECB-A4D4-9A95-34A2B3F9035C}"/>
                  </a:ext>
                </a:extLst>
              </p:cNvPr>
              <p:cNvSpPr/>
              <p:nvPr/>
            </p:nvSpPr>
            <p:spPr>
              <a:xfrm rot="5400000" flipH="1">
                <a:off x="19144233" y="13327601"/>
                <a:ext cx="617206" cy="245446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cxnSp>
          <p:nvCxnSpPr>
            <p:cNvPr id="117" name="直線接點 116">
              <a:extLst>
                <a:ext uri="{FF2B5EF4-FFF2-40B4-BE49-F238E27FC236}">
                  <a16:creationId xmlns:a16="http://schemas.microsoft.com/office/drawing/2014/main" id="{18DC58B0-B2E0-3256-0D9B-8A530C8B3E5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96784" y="10389315"/>
              <a:ext cx="1194699" cy="130073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直線接點 117">
              <a:extLst>
                <a:ext uri="{FF2B5EF4-FFF2-40B4-BE49-F238E27FC236}">
                  <a16:creationId xmlns:a16="http://schemas.microsoft.com/office/drawing/2014/main" id="{6C1C0A63-DB2C-2E26-3AA1-8326DDACFDC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414813" y="12488909"/>
              <a:ext cx="1183639" cy="131367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0B09867A-A886-D538-799A-EA9A00D1B7BB}"/>
              </a:ext>
            </a:extLst>
          </p:cNvPr>
          <p:cNvSpPr txBox="1"/>
          <p:nvPr/>
        </p:nvSpPr>
        <p:spPr>
          <a:xfrm>
            <a:off x="10195676" y="22996726"/>
            <a:ext cx="32688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dirty="0"/>
              <a:t>Fig. 1: Polar Beamforming Patterns</a:t>
            </a:r>
            <a:endParaRPr lang="zh-TW" altLang="en-US" sz="2000" dirty="0"/>
          </a:p>
        </p:txBody>
      </p:sp>
      <p:sp>
        <p:nvSpPr>
          <p:cNvPr id="120" name="文字方塊 119">
            <a:extLst>
              <a:ext uri="{FF2B5EF4-FFF2-40B4-BE49-F238E27FC236}">
                <a16:creationId xmlns:a16="http://schemas.microsoft.com/office/drawing/2014/main" id="{E7E391A6-441E-8DCE-8902-D840512FD7B8}"/>
              </a:ext>
            </a:extLst>
          </p:cNvPr>
          <p:cNvSpPr txBox="1"/>
          <p:nvPr/>
        </p:nvSpPr>
        <p:spPr>
          <a:xfrm>
            <a:off x="14484794" y="13411702"/>
            <a:ext cx="63843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dirty="0"/>
              <a:t>Fig. 2: System Architecture</a:t>
            </a:r>
            <a:endParaRPr lang="zh-TW" altLang="en-US" sz="2000" dirty="0"/>
          </a:p>
        </p:txBody>
      </p:sp>
      <p:pic>
        <p:nvPicPr>
          <p:cNvPr id="123" name="圖形 122">
            <a:extLst>
              <a:ext uri="{FF2B5EF4-FFF2-40B4-BE49-F238E27FC236}">
                <a16:creationId xmlns:a16="http://schemas.microsoft.com/office/drawing/2014/main" id="{46FF9D9C-A2EC-C35F-A357-A45EB98096C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838234" y="13788476"/>
            <a:ext cx="5669023" cy="3921150"/>
          </a:xfrm>
          <a:prstGeom prst="rect">
            <a:avLst/>
          </a:prstGeom>
        </p:spPr>
      </p:pic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FDBD301F-A789-4DC7-B4EF-AC303019B682}"/>
              </a:ext>
            </a:extLst>
          </p:cNvPr>
          <p:cNvSpPr txBox="1"/>
          <p:nvPr/>
        </p:nvSpPr>
        <p:spPr>
          <a:xfrm>
            <a:off x="14477174" y="17695827"/>
            <a:ext cx="63843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dirty="0"/>
              <a:t>Fig. 3: Data Flow</a:t>
            </a:r>
            <a:endParaRPr lang="zh-TW" altLang="en-US" sz="2000" dirty="0"/>
          </a:p>
        </p:txBody>
      </p: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82308145-B8A2-E5FD-71E0-BAED30083B6D}"/>
              </a:ext>
            </a:extLst>
          </p:cNvPr>
          <p:cNvSpPr txBox="1"/>
          <p:nvPr/>
        </p:nvSpPr>
        <p:spPr>
          <a:xfrm>
            <a:off x="14631135" y="18083646"/>
            <a:ext cx="6208932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Three NS-3 simulation modules operate in pipeline. A Focused Fleet of UAVs performs pairwise UAV-to-UAV Probing, logging link quality measurements into a Probe CSV. An external Scheduler produces a Schedule JSON defining the communication task plan. The NS-3 Replay &amp; Verification engine ingests both files to replay the schedule and validate deadline feasibility. Verified uplink traffic is finally handed to UAV-to-LEO Uplink, where the Cluster Head UAV transmits the aggregated data to the LEO satellite.</a:t>
            </a:r>
            <a:endParaRPr lang="zh-TW" altLang="en-US" sz="28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298290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佈景主題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479</TotalTime>
  <Words>404</Words>
  <Application>Microsoft Office PowerPoint</Application>
  <PresentationFormat>自訂</PresentationFormat>
  <Paragraphs>31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Calibri</vt:lpstr>
      <vt:lpstr>Times New Roman</vt:lpstr>
      <vt:lpstr>Office 佈景主題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李 宗諺</dc:creator>
  <cp:lastModifiedBy>熊 白</cp:lastModifiedBy>
  <cp:revision>11</cp:revision>
  <dcterms:created xsi:type="dcterms:W3CDTF">2026-04-29T12:37:48Z</dcterms:created>
  <dcterms:modified xsi:type="dcterms:W3CDTF">2026-05-03T20:08:21Z</dcterms:modified>
</cp:coreProperties>
</file>