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185" autoAdjust="0"/>
    <p:restoredTop sz="94680" autoAdjust="0"/>
  </p:normalViewPr>
  <p:slideViewPr>
    <p:cSldViewPr snapToGrid="0">
      <p:cViewPr varScale="1">
        <p:scale>
          <a:sx n="29" d="100"/>
          <a:sy n="29" d="100"/>
        </p:scale>
        <p:origin x="288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26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79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59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6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3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94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70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81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8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555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1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FB994-8C7A-432F-9145-2B89982E5304}" type="datetimeFigureOut">
              <a:rPr lang="zh-TW" altLang="en-US" smtClean="0"/>
              <a:t>2026/5/11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5A892-6254-4263-AA61-BFCAED4A54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985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9EC42D2E-2BE8-CE40-4DA3-94BA8AA79D2C}"/>
              </a:ext>
            </a:extLst>
          </p:cNvPr>
          <p:cNvGrpSpPr/>
          <p:nvPr/>
        </p:nvGrpSpPr>
        <p:grpSpPr>
          <a:xfrm>
            <a:off x="9334253" y="9790839"/>
            <a:ext cx="2062650" cy="1527861"/>
            <a:chOff x="11169062" y="9292519"/>
            <a:chExt cx="2960539" cy="2124130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C6C6C7E-EEDA-04EC-7E2C-22CB0C298DE6}"/>
                </a:ext>
              </a:extLst>
            </p:cNvPr>
            <p:cNvGrpSpPr/>
            <p:nvPr/>
          </p:nvGrpSpPr>
          <p:grpSpPr>
            <a:xfrm>
              <a:off x="11452052" y="9292519"/>
              <a:ext cx="2369088" cy="2124130"/>
              <a:chOff x="13531736" y="8000390"/>
              <a:chExt cx="2369088" cy="1707543"/>
            </a:xfrm>
          </p:grpSpPr>
          <p:pic>
            <p:nvPicPr>
              <p:cNvPr id="37" name="Google Shape;103;g3d00297c732_0_7" title="UAV.jpg">
                <a:extLst>
                  <a:ext uri="{FF2B5EF4-FFF2-40B4-BE49-F238E27FC236}">
                    <a16:creationId xmlns:a16="http://schemas.microsoft.com/office/drawing/2014/main" id="{D8E118A8-0280-2823-FDB4-6089F61AE98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 l="7734" t="19877" r="3576" b="30215"/>
              <a:stretch>
                <a:fillRect/>
              </a:stretch>
            </p:blipFill>
            <p:spPr>
              <a:xfrm>
                <a:off x="14158066" y="8000390"/>
                <a:ext cx="1110501" cy="5771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" name="Google Shape;103;g3d00297c732_0_7" title="UAV.jpg">
                <a:extLst>
                  <a:ext uri="{FF2B5EF4-FFF2-40B4-BE49-F238E27FC236}">
                    <a16:creationId xmlns:a16="http://schemas.microsoft.com/office/drawing/2014/main" id="{1FA300D6-9F3B-DA5E-72A7-E2CDF3BEBC74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 l="7734" t="19877" r="3576" b="30215"/>
              <a:stretch>
                <a:fillRect/>
              </a:stretch>
            </p:blipFill>
            <p:spPr>
              <a:xfrm>
                <a:off x="13531736" y="9110731"/>
                <a:ext cx="1060270" cy="5972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" name="Google Shape;103;g3d00297c732_0_7" title="UAV.jpg">
                <a:extLst>
                  <a:ext uri="{FF2B5EF4-FFF2-40B4-BE49-F238E27FC236}">
                    <a16:creationId xmlns:a16="http://schemas.microsoft.com/office/drawing/2014/main" id="{0CD416DE-EE29-437E-A485-EB668BD70E13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 l="7734" t="19877" r="3576" b="30215"/>
              <a:stretch>
                <a:fillRect/>
              </a:stretch>
            </p:blipFill>
            <p:spPr>
              <a:xfrm>
                <a:off x="14801481" y="9105694"/>
                <a:ext cx="1099343" cy="6022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9" name="Google Shape;205;g3d00297c732_0_53">
              <a:extLst>
                <a:ext uri="{FF2B5EF4-FFF2-40B4-BE49-F238E27FC236}">
                  <a16:creationId xmlns:a16="http://schemas.microsoft.com/office/drawing/2014/main" id="{DA7CAE6B-49DD-5D84-6FFD-E2B22A567A11}"/>
                </a:ext>
              </a:extLst>
            </p:cNvPr>
            <p:cNvSpPr/>
            <p:nvPr/>
          </p:nvSpPr>
          <p:spPr>
            <a:xfrm rot="17168672">
              <a:off x="11743325" y="10198668"/>
              <a:ext cx="916218" cy="36420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6850" tIns="66850" rIns="66850" bIns="668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3"/>
                <a:buFont typeface="Arial"/>
                <a:buNone/>
              </a:pPr>
              <a:endParaRPr sz="1022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05;g3d00297c732_0_53">
              <a:extLst>
                <a:ext uri="{FF2B5EF4-FFF2-40B4-BE49-F238E27FC236}">
                  <a16:creationId xmlns:a16="http://schemas.microsoft.com/office/drawing/2014/main" id="{C525DE75-DCF7-0DD2-FC9B-B5BFC4ACEB0F}"/>
                </a:ext>
              </a:extLst>
            </p:cNvPr>
            <p:cNvSpPr/>
            <p:nvPr/>
          </p:nvSpPr>
          <p:spPr>
            <a:xfrm rot="15631595">
              <a:off x="12525926" y="10208020"/>
              <a:ext cx="916218" cy="36420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6850" tIns="66850" rIns="66850" bIns="6685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23"/>
                <a:buFont typeface="Arial"/>
                <a:buNone/>
              </a:pPr>
              <a:endParaRPr sz="1022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C1FA52A2-B364-F724-3E3A-742BED4B9066}"/>
                </a:ext>
              </a:extLst>
            </p:cNvPr>
            <p:cNvSpPr txBox="1"/>
            <p:nvPr/>
          </p:nvSpPr>
          <p:spPr>
            <a:xfrm>
              <a:off x="11169062" y="10109367"/>
              <a:ext cx="2960539" cy="599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Probing Packets</a:t>
              </a:r>
              <a:endParaRPr lang="zh-TW" altLang="en-US" sz="2200" dirty="0"/>
            </a:p>
          </p:txBody>
        </p:sp>
      </p:grpSp>
      <p:pic>
        <p:nvPicPr>
          <p:cNvPr id="8" name="圖片 7">
            <a:extLst>
              <a:ext uri="{FF2B5EF4-FFF2-40B4-BE49-F238E27FC236}">
                <a16:creationId xmlns:a16="http://schemas.microsoft.com/office/drawing/2014/main" id="{2B97F92C-5FA1-9D94-2E5F-9A4332266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1111" y="15193650"/>
            <a:ext cx="7431380" cy="495425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A43AAF6-BC9D-7FC3-0C6E-73D6718EB573}"/>
              </a:ext>
            </a:extLst>
          </p:cNvPr>
          <p:cNvSpPr txBox="1"/>
          <p:nvPr/>
        </p:nvSpPr>
        <p:spPr>
          <a:xfrm>
            <a:off x="2325950" y="872251"/>
            <a:ext cx="171222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54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 Evaluation for Deadline-Aware Hierarchical IoT Data Collection  in SAGIN</a:t>
            </a:r>
            <a:endParaRPr lang="zh-TW" altLang="en-US" sz="54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C2975-9F1C-A660-B3BA-2A1A04A982F2}"/>
              </a:ext>
            </a:extLst>
          </p:cNvPr>
          <p:cNvSpPr txBox="1"/>
          <p:nvPr/>
        </p:nvSpPr>
        <p:spPr>
          <a:xfrm>
            <a:off x="3833812" y="2762045"/>
            <a:ext cx="1371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Author : 112550039 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李宗諺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112550139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簡士原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Department/University : Computer Science/National Yang Ming Chiao Tung University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Advisor : Kate Ching-Ju Lin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6FC2188-5B09-ED71-44DA-22C61B2F856B}"/>
              </a:ext>
            </a:extLst>
          </p:cNvPr>
          <p:cNvSpPr txBox="1"/>
          <p:nvPr/>
        </p:nvSpPr>
        <p:spPr>
          <a:xfrm>
            <a:off x="928687" y="4007463"/>
            <a:ext cx="199167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Background and Motivation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• UAV and LEO networks are important for wide-area communication and task delivery. 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• Scheduling and validating communication tasks in such networks is challenging. 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• Simulation-based evaluation is crucial for </a:t>
            </a:r>
            <a:r>
              <a:rPr lang="en-US" altLang="zh-TW" sz="3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analizing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the performance of data collection in SAGIN.</a:t>
            </a: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910FA4-9020-0303-B458-DDF5EDCA9A05}"/>
              </a:ext>
            </a:extLst>
          </p:cNvPr>
          <p:cNvSpPr txBox="1"/>
          <p:nvPr/>
        </p:nvSpPr>
        <p:spPr>
          <a:xfrm>
            <a:off x="928685" y="6353077"/>
            <a:ext cx="199167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• Implement channel variation and link quality for UAV-to-UAV and UAV-to-LEO communications.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• Replay the data collection schedule in NS-3 and evaluate end-to-end communication performance.</a:t>
            </a:r>
          </a:p>
        </p:txBody>
      </p:sp>
      <p:pic>
        <p:nvPicPr>
          <p:cNvPr id="9" name="圖片 8" descr="Seal-NYCU Secretariat">
            <a:extLst>
              <a:ext uri="{FF2B5EF4-FFF2-40B4-BE49-F238E27FC236}">
                <a16:creationId xmlns:a16="http://schemas.microsoft.com/office/drawing/2014/main" id="{22C4AD91-54E8-7E8E-D818-ABBF6F18A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1133" y="2530247"/>
            <a:ext cx="5114925" cy="208859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FDD6EB5-0AA2-48FB-AB3B-8E7649083C2A}"/>
              </a:ext>
            </a:extLst>
          </p:cNvPr>
          <p:cNvSpPr txBox="1"/>
          <p:nvPr/>
        </p:nvSpPr>
        <p:spPr>
          <a:xfrm>
            <a:off x="928685" y="8286088"/>
            <a:ext cx="19916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Methods &amp; Results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A5E5E1C-A552-FC5B-0B74-F4A83685DF3A}"/>
              </a:ext>
            </a:extLst>
          </p:cNvPr>
          <p:cNvGrpSpPr/>
          <p:nvPr/>
        </p:nvGrpSpPr>
        <p:grpSpPr>
          <a:xfrm>
            <a:off x="504892" y="9047068"/>
            <a:ext cx="12456348" cy="5310686"/>
            <a:chOff x="878876" y="9572006"/>
            <a:chExt cx="7022109" cy="445055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8A06844-7B18-C1C0-22E5-5630CF5522B9}"/>
                </a:ext>
              </a:extLst>
            </p:cNvPr>
            <p:cNvSpPr/>
            <p:nvPr/>
          </p:nvSpPr>
          <p:spPr>
            <a:xfrm>
              <a:off x="878876" y="9572006"/>
              <a:ext cx="6972300" cy="445055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147B9B10-86F0-2B8B-E1CA-D7DCA8C616B7}"/>
                </a:ext>
              </a:extLst>
            </p:cNvPr>
            <p:cNvSpPr txBox="1"/>
            <p:nvPr/>
          </p:nvSpPr>
          <p:spPr>
            <a:xfrm>
              <a:off x="928685" y="9677014"/>
              <a:ext cx="6972300" cy="567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4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UAV-to-UAV Probe</a:t>
              </a:r>
              <a:endParaRPr lang="zh-TW" altLang="en-US" sz="3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A342C980-884B-A1BC-0F12-CDDFE3330028}"/>
              </a:ext>
            </a:extLst>
          </p:cNvPr>
          <p:cNvGrpSpPr/>
          <p:nvPr/>
        </p:nvGrpSpPr>
        <p:grpSpPr>
          <a:xfrm>
            <a:off x="13222786" y="9047067"/>
            <a:ext cx="7621321" cy="16636924"/>
            <a:chOff x="928686" y="9588372"/>
            <a:chExt cx="6980591" cy="443480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84668A6-42FE-03D8-DB0D-03993B959D2E}"/>
                </a:ext>
              </a:extLst>
            </p:cNvPr>
            <p:cNvSpPr/>
            <p:nvPr/>
          </p:nvSpPr>
          <p:spPr>
            <a:xfrm>
              <a:off x="928686" y="9588372"/>
              <a:ext cx="6972300" cy="443480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5B3A5BBF-FC38-C7E9-B94E-EE79F57A19E4}"/>
                </a:ext>
              </a:extLst>
            </p:cNvPr>
            <p:cNvSpPr txBox="1"/>
            <p:nvPr/>
          </p:nvSpPr>
          <p:spPr>
            <a:xfrm>
              <a:off x="936977" y="9625394"/>
              <a:ext cx="6972300" cy="33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4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System Architecture &amp;</a:t>
              </a:r>
              <a:r>
                <a:rPr lang="zh-TW" altLang="en-US" sz="34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34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Data Flow</a:t>
              </a:r>
              <a:endParaRPr lang="zh-TW" altLang="en-US" sz="3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5CB20C62-B21F-A99A-CD7F-185F3493148E}"/>
              </a:ext>
            </a:extLst>
          </p:cNvPr>
          <p:cNvSpPr txBox="1"/>
          <p:nvPr/>
        </p:nvSpPr>
        <p:spPr>
          <a:xfrm>
            <a:off x="593247" y="26162993"/>
            <a:ext cx="199167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pPr marL="277813" indent="-277813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 built an NS-3-based framework to support link probing, schedule replay, and end-to-end performance measurement in SAGIN scenarios.</a:t>
            </a:r>
          </a:p>
          <a:p>
            <a:pPr marL="277813" indent="-277813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framework provides a platform for analyzing various scheduling decisions.</a:t>
            </a:r>
          </a:p>
          <a:p>
            <a:pPr marL="277813" indent="-277813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Future work: integrate scheduling algorithm into the simulation framework to enable interactive network planning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21" name="群組 120">
            <a:extLst>
              <a:ext uri="{FF2B5EF4-FFF2-40B4-BE49-F238E27FC236}">
                <a16:creationId xmlns:a16="http://schemas.microsoft.com/office/drawing/2014/main" id="{7AD7EA96-04D1-25C3-0484-915EA243BC05}"/>
              </a:ext>
            </a:extLst>
          </p:cNvPr>
          <p:cNvGrpSpPr/>
          <p:nvPr/>
        </p:nvGrpSpPr>
        <p:grpSpPr>
          <a:xfrm>
            <a:off x="13702021" y="10073974"/>
            <a:ext cx="6384302" cy="4283780"/>
            <a:chOff x="15061783" y="10389315"/>
            <a:chExt cx="5430507" cy="3413269"/>
          </a:xfrm>
        </p:grpSpPr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id="{51CF963B-E21C-3686-9A42-0C06057B3C1C}"/>
                </a:ext>
              </a:extLst>
            </p:cNvPr>
            <p:cNvGrpSpPr/>
            <p:nvPr/>
          </p:nvGrpSpPr>
          <p:grpSpPr>
            <a:xfrm>
              <a:off x="15061783" y="10580363"/>
              <a:ext cx="2335001" cy="3105961"/>
              <a:chOff x="15208856" y="10797932"/>
              <a:chExt cx="2335001" cy="3105961"/>
            </a:xfrm>
          </p:grpSpPr>
          <p:grpSp>
            <p:nvGrpSpPr>
              <p:cNvPr id="76" name="群組 75">
                <a:extLst>
                  <a:ext uri="{FF2B5EF4-FFF2-40B4-BE49-F238E27FC236}">
                    <a16:creationId xmlns:a16="http://schemas.microsoft.com/office/drawing/2014/main" id="{842DB1CD-AF5F-6CAD-427E-39E0841644C1}"/>
                  </a:ext>
                </a:extLst>
              </p:cNvPr>
              <p:cNvGrpSpPr/>
              <p:nvPr/>
            </p:nvGrpSpPr>
            <p:grpSpPr>
              <a:xfrm>
                <a:off x="15298778" y="10797932"/>
                <a:ext cx="2245079" cy="3105961"/>
                <a:chOff x="15237042" y="10392351"/>
                <a:chExt cx="2245079" cy="3105961"/>
              </a:xfrm>
            </p:grpSpPr>
            <p:pic>
              <p:nvPicPr>
                <p:cNvPr id="79" name="Google Shape;107;g3d00297c732_0_7" title="LEO.png">
                  <a:extLst>
                    <a:ext uri="{FF2B5EF4-FFF2-40B4-BE49-F238E27FC236}">
                      <a16:creationId xmlns:a16="http://schemas.microsoft.com/office/drawing/2014/main" id="{D28763A7-9CCC-5BD8-78A2-111D7CC2964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6392788" y="10392351"/>
                  <a:ext cx="486898" cy="4826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0" name="群組 79">
                  <a:extLst>
                    <a:ext uri="{FF2B5EF4-FFF2-40B4-BE49-F238E27FC236}">
                      <a16:creationId xmlns:a16="http://schemas.microsoft.com/office/drawing/2014/main" id="{9CE5536B-196A-0D58-094C-C8EC7D3C9845}"/>
                    </a:ext>
                  </a:extLst>
                </p:cNvPr>
                <p:cNvGrpSpPr/>
                <p:nvPr/>
              </p:nvGrpSpPr>
              <p:grpSpPr>
                <a:xfrm>
                  <a:off x="15237042" y="12333702"/>
                  <a:ext cx="2245079" cy="1164610"/>
                  <a:chOff x="15377373" y="12057214"/>
                  <a:chExt cx="2245079" cy="1164610"/>
                </a:xfrm>
              </p:grpSpPr>
              <p:pic>
                <p:nvPicPr>
                  <p:cNvPr id="86" name="Google Shape;104;g3d00297c732_0_7" title="sensor.png">
                    <a:extLst>
                      <a:ext uri="{FF2B5EF4-FFF2-40B4-BE49-F238E27FC236}">
                        <a16:creationId xmlns:a16="http://schemas.microsoft.com/office/drawing/2014/main" id="{F97F1933-8423-C93B-611D-51C017554756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/>
                  <a:stretch/>
                </p:blipFill>
                <p:spPr>
                  <a:xfrm>
                    <a:off x="15377373" y="12486453"/>
                    <a:ext cx="383400" cy="383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87" name="群組 86">
                    <a:extLst>
                      <a:ext uri="{FF2B5EF4-FFF2-40B4-BE49-F238E27FC236}">
                        <a16:creationId xmlns:a16="http://schemas.microsoft.com/office/drawing/2014/main" id="{D0F769AA-10B8-8760-0B18-60CF61D322FC}"/>
                      </a:ext>
                    </a:extLst>
                  </p:cNvPr>
                  <p:cNvGrpSpPr/>
                  <p:nvPr/>
                </p:nvGrpSpPr>
                <p:grpSpPr>
                  <a:xfrm>
                    <a:off x="15588374" y="12057214"/>
                    <a:ext cx="2034078" cy="1164610"/>
                    <a:chOff x="15588374" y="12057214"/>
                    <a:chExt cx="2034078" cy="1164610"/>
                  </a:xfrm>
                </p:grpSpPr>
                <p:pic>
                  <p:nvPicPr>
                    <p:cNvPr id="88" name="Google Shape;104;g3d00297c732_0_7" title="sensor.png">
                      <a:extLst>
                        <a:ext uri="{FF2B5EF4-FFF2-40B4-BE49-F238E27FC236}">
                          <a16:creationId xmlns:a16="http://schemas.microsoft.com/office/drawing/2014/main" id="{38FA44F1-C5DC-4CF2-88F5-9DEA6DDEF08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6">
                      <a:alphaModFix/>
                    </a:blip>
                    <a:srcRect/>
                    <a:stretch/>
                  </p:blipFill>
                  <p:spPr>
                    <a:xfrm>
                      <a:off x="15727874" y="12830692"/>
                      <a:ext cx="383400" cy="383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89" name="Google Shape;104;g3d00297c732_0_7" title="sensor.png">
                      <a:extLst>
                        <a:ext uri="{FF2B5EF4-FFF2-40B4-BE49-F238E27FC236}">
                          <a16:creationId xmlns:a16="http://schemas.microsoft.com/office/drawing/2014/main" id="{335D3EE6-B85F-6BB5-04E6-2CA47C745368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6">
                      <a:alphaModFix/>
                    </a:blip>
                    <a:srcRect/>
                    <a:stretch/>
                  </p:blipFill>
                  <p:spPr>
                    <a:xfrm>
                      <a:off x="16083306" y="12653616"/>
                      <a:ext cx="383400" cy="383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90" name="Google Shape;109;g3d00297c732_0_7">
                      <a:extLst>
                        <a:ext uri="{FF2B5EF4-FFF2-40B4-BE49-F238E27FC236}">
                          <a16:creationId xmlns:a16="http://schemas.microsoft.com/office/drawing/2014/main" id="{552F6F87-CCD7-F192-04C3-FBCD816597EF}"/>
                        </a:ext>
                      </a:extLst>
                    </p:cNvPr>
                    <p:cNvSpPr/>
                    <p:nvPr/>
                  </p:nvSpPr>
                  <p:spPr>
                    <a:xfrm rot="17598187">
                      <a:off x="15492974" y="12160468"/>
                      <a:ext cx="312000" cy="121200"/>
                    </a:xfrm>
                    <a:prstGeom prst="right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" name="Google Shape;109;g3d00297c732_0_7">
                      <a:extLst>
                        <a:ext uri="{FF2B5EF4-FFF2-40B4-BE49-F238E27FC236}">
                          <a16:creationId xmlns:a16="http://schemas.microsoft.com/office/drawing/2014/main" id="{4330FF46-FAF1-236E-A749-3461CB18C111}"/>
                        </a:ext>
                      </a:extLst>
                    </p:cNvPr>
                    <p:cNvSpPr/>
                    <p:nvPr/>
                  </p:nvSpPr>
                  <p:spPr>
                    <a:xfrm rot="17047058">
                      <a:off x="15827406" y="12279995"/>
                      <a:ext cx="312000" cy="121200"/>
                    </a:xfrm>
                    <a:prstGeom prst="right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" name="Google Shape;109;g3d00297c732_0_7">
                      <a:extLst>
                        <a:ext uri="{FF2B5EF4-FFF2-40B4-BE49-F238E27FC236}">
                          <a16:creationId xmlns:a16="http://schemas.microsoft.com/office/drawing/2014/main" id="{A307B14D-A883-E367-B482-20773A762E74}"/>
                        </a:ext>
                      </a:extLst>
                    </p:cNvPr>
                    <p:cNvSpPr/>
                    <p:nvPr/>
                  </p:nvSpPr>
                  <p:spPr>
                    <a:xfrm rot="16621355">
                      <a:off x="16158817" y="12283337"/>
                      <a:ext cx="312000" cy="121200"/>
                    </a:xfrm>
                    <a:prstGeom prst="right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pic>
                  <p:nvPicPr>
                    <p:cNvPr id="93" name="Google Shape;104;g3d00297c732_0_7" title="sensor.png">
                      <a:extLst>
                        <a:ext uri="{FF2B5EF4-FFF2-40B4-BE49-F238E27FC236}">
                          <a16:creationId xmlns:a16="http://schemas.microsoft.com/office/drawing/2014/main" id="{15E6D0A1-712B-76B6-604B-D6370FC01C8F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6">
                      <a:alphaModFix/>
                    </a:blip>
                    <a:srcRect/>
                    <a:stretch/>
                  </p:blipFill>
                  <p:spPr>
                    <a:xfrm flipH="1">
                      <a:off x="17239052" y="12494185"/>
                      <a:ext cx="383400" cy="383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94" name="Google Shape;104;g3d00297c732_0_7" title="sensor.png">
                      <a:extLst>
                        <a:ext uri="{FF2B5EF4-FFF2-40B4-BE49-F238E27FC236}">
                          <a16:creationId xmlns:a16="http://schemas.microsoft.com/office/drawing/2014/main" id="{02E7A73B-902F-4CA3-7335-18D1CE808776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6">
                      <a:alphaModFix/>
                    </a:blip>
                    <a:srcRect/>
                    <a:stretch/>
                  </p:blipFill>
                  <p:spPr>
                    <a:xfrm flipH="1">
                      <a:off x="16888551" y="12838424"/>
                      <a:ext cx="383400" cy="383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95" name="Google Shape;104;g3d00297c732_0_7" title="sensor.png">
                      <a:extLst>
                        <a:ext uri="{FF2B5EF4-FFF2-40B4-BE49-F238E27FC236}">
                          <a16:creationId xmlns:a16="http://schemas.microsoft.com/office/drawing/2014/main" id="{6F990D08-D729-39FC-0B6A-5201C5699AFF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6">
                      <a:alphaModFix/>
                    </a:blip>
                    <a:srcRect/>
                    <a:stretch/>
                  </p:blipFill>
                  <p:spPr>
                    <a:xfrm flipH="1">
                      <a:off x="16533119" y="12661348"/>
                      <a:ext cx="383400" cy="383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96" name="Google Shape;109;g3d00297c732_0_7">
                      <a:extLst>
                        <a:ext uri="{FF2B5EF4-FFF2-40B4-BE49-F238E27FC236}">
                          <a16:creationId xmlns:a16="http://schemas.microsoft.com/office/drawing/2014/main" id="{09D880C5-AD4B-5AB6-E01C-B052FC2B3423}"/>
                        </a:ext>
                      </a:extLst>
                    </p:cNvPr>
                    <p:cNvSpPr/>
                    <p:nvPr/>
                  </p:nvSpPr>
                  <p:spPr>
                    <a:xfrm rot="4080066" flipH="1">
                      <a:off x="17191878" y="12152614"/>
                      <a:ext cx="312000" cy="121200"/>
                    </a:xfrm>
                    <a:prstGeom prst="right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7" name="Google Shape;109;g3d00297c732_0_7">
                      <a:extLst>
                        <a:ext uri="{FF2B5EF4-FFF2-40B4-BE49-F238E27FC236}">
                          <a16:creationId xmlns:a16="http://schemas.microsoft.com/office/drawing/2014/main" id="{8CAC37A8-8B85-7756-6EFA-2EEC25890DF0}"/>
                        </a:ext>
                      </a:extLst>
                    </p:cNvPr>
                    <p:cNvSpPr/>
                    <p:nvPr/>
                  </p:nvSpPr>
                  <p:spPr>
                    <a:xfrm rot="4552942" flipH="1">
                      <a:off x="16872719" y="12267515"/>
                      <a:ext cx="312000" cy="121200"/>
                    </a:xfrm>
                    <a:prstGeom prst="right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8" name="Google Shape;109;g3d00297c732_0_7">
                      <a:extLst>
                        <a:ext uri="{FF2B5EF4-FFF2-40B4-BE49-F238E27FC236}">
                          <a16:creationId xmlns:a16="http://schemas.microsoft.com/office/drawing/2014/main" id="{0B2386F4-E7A0-3675-8D13-5E743F26BF0E}"/>
                        </a:ext>
                      </a:extLst>
                    </p:cNvPr>
                    <p:cNvSpPr/>
                    <p:nvPr/>
                  </p:nvSpPr>
                  <p:spPr>
                    <a:xfrm rot="4978645" flipH="1">
                      <a:off x="16557738" y="12283336"/>
                      <a:ext cx="312000" cy="121200"/>
                    </a:xfrm>
                    <a:prstGeom prst="right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>
                      <a:def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defPPr>
                      <a:lvl1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1pPr>
                      <a:lvl2pPr marR="0" lvl="1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2pPr>
                      <a:lvl3pPr marR="0" lvl="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3pPr>
                      <a:lvl4pPr marR="0" lvl="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4pPr>
                      <a:lvl5pPr marR="0" lvl="4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5pPr>
                      <a:lvl6pPr marR="0" lvl="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6pPr>
                      <a:lvl7pPr marR="0" lvl="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7pPr>
                      <a:lvl8pPr marR="0" lvl="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8pPr>
                      <a:lvl9pPr marR="0" lvl="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1" name="群組 80">
                  <a:extLst>
                    <a:ext uri="{FF2B5EF4-FFF2-40B4-BE49-F238E27FC236}">
                      <a16:creationId xmlns:a16="http://schemas.microsoft.com/office/drawing/2014/main" id="{B248D708-D818-681C-DC52-69B29C31FA18}"/>
                    </a:ext>
                  </a:extLst>
                </p:cNvPr>
                <p:cNvGrpSpPr/>
                <p:nvPr/>
              </p:nvGrpSpPr>
              <p:grpSpPr>
                <a:xfrm>
                  <a:off x="15567575" y="11532544"/>
                  <a:ext cx="1709724" cy="598276"/>
                  <a:chOff x="15705744" y="11389267"/>
                  <a:chExt cx="1709724" cy="598276"/>
                </a:xfrm>
              </p:grpSpPr>
              <p:pic>
                <p:nvPicPr>
                  <p:cNvPr id="83" name="Google Shape;103;g3d00297c732_0_7" title="UAV.jpg">
                    <a:extLst>
                      <a:ext uri="{FF2B5EF4-FFF2-40B4-BE49-F238E27FC236}">
                        <a16:creationId xmlns:a16="http://schemas.microsoft.com/office/drawing/2014/main" id="{79D94D9D-8297-9E27-2620-7875041FAF14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7734" t="19877" r="3576" b="30215"/>
                  <a:stretch>
                    <a:fillRect/>
                  </a:stretch>
                </p:blipFill>
                <p:spPr>
                  <a:xfrm>
                    <a:off x="15705744" y="11659650"/>
                    <a:ext cx="595025" cy="3278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84" name="Google Shape;103;g3d00297c732_0_7" title="UAV.jpg">
                    <a:extLst>
                      <a:ext uri="{FF2B5EF4-FFF2-40B4-BE49-F238E27FC236}">
                        <a16:creationId xmlns:a16="http://schemas.microsoft.com/office/drawing/2014/main" id="{891CBAC3-09E4-6B09-91C9-8DC207D95E4A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7734" t="19877" r="3576" b="30215"/>
                  <a:stretch>
                    <a:fillRect/>
                  </a:stretch>
                </p:blipFill>
                <p:spPr>
                  <a:xfrm>
                    <a:off x="16220742" y="11389267"/>
                    <a:ext cx="595025" cy="3278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85" name="Google Shape;103;g3d00297c732_0_7" title="UAV.jpg">
                    <a:extLst>
                      <a:ext uri="{FF2B5EF4-FFF2-40B4-BE49-F238E27FC236}">
                        <a16:creationId xmlns:a16="http://schemas.microsoft.com/office/drawing/2014/main" id="{D7A89C2D-4FEE-5C60-D3A8-1BC4294DB03E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7734" t="19877" r="3576" b="30215"/>
                  <a:stretch>
                    <a:fillRect/>
                  </a:stretch>
                </p:blipFill>
                <p:spPr>
                  <a:xfrm>
                    <a:off x="16820443" y="11655133"/>
                    <a:ext cx="595025" cy="3278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sp>
              <p:nvSpPr>
                <p:cNvPr id="82" name="Google Shape;111;g3d00297c732_0_7">
                  <a:extLst>
                    <a:ext uri="{FF2B5EF4-FFF2-40B4-BE49-F238E27FC236}">
                      <a16:creationId xmlns:a16="http://schemas.microsoft.com/office/drawing/2014/main" id="{99B1C149-E0F7-F70C-3661-865C840F7C9B}"/>
                    </a:ext>
                  </a:extLst>
                </p:cNvPr>
                <p:cNvSpPr/>
                <p:nvPr/>
              </p:nvSpPr>
              <p:spPr>
                <a:xfrm rot="16832188">
                  <a:off x="16200480" y="11158784"/>
                  <a:ext cx="478490" cy="182673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rgbClr val="FF0000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39BD07F8-E764-5315-A365-79E9A4DD7E13}"/>
                  </a:ext>
                </a:extLst>
              </p:cNvPr>
              <p:cNvSpPr/>
              <p:nvPr/>
            </p:nvSpPr>
            <p:spPr>
              <a:xfrm>
                <a:off x="15291346" y="11759626"/>
                <a:ext cx="2252511" cy="1096967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39596CA9-063A-7B1B-67ED-C2D86FE60907}"/>
                  </a:ext>
                </a:extLst>
              </p:cNvPr>
              <p:cNvSpPr txBox="1"/>
              <p:nvPr/>
            </p:nvSpPr>
            <p:spPr>
              <a:xfrm>
                <a:off x="15208856" y="11452059"/>
                <a:ext cx="1069137" cy="294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Fleet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6E0FEE3F-A9D9-AD98-3B71-9C18694D0190}"/>
                </a:ext>
              </a:extLst>
            </p:cNvPr>
            <p:cNvGrpSpPr/>
            <p:nvPr/>
          </p:nvGrpSpPr>
          <p:grpSpPr>
            <a:xfrm>
              <a:off x="18027904" y="10490368"/>
              <a:ext cx="2464386" cy="3116161"/>
              <a:chOff x="18205594" y="10642766"/>
              <a:chExt cx="2464386" cy="3116161"/>
            </a:xfrm>
          </p:grpSpPr>
          <p:grpSp>
            <p:nvGrpSpPr>
              <p:cNvPr id="100" name="群組 99">
                <a:extLst>
                  <a:ext uri="{FF2B5EF4-FFF2-40B4-BE49-F238E27FC236}">
                    <a16:creationId xmlns:a16="http://schemas.microsoft.com/office/drawing/2014/main" id="{5CEE5588-E62E-9A46-730A-AE888EBDF65B}"/>
                  </a:ext>
                </a:extLst>
              </p:cNvPr>
              <p:cNvGrpSpPr/>
              <p:nvPr/>
            </p:nvGrpSpPr>
            <p:grpSpPr>
              <a:xfrm>
                <a:off x="19052965" y="11403788"/>
                <a:ext cx="914980" cy="606263"/>
                <a:chOff x="17930179" y="13367954"/>
                <a:chExt cx="914980" cy="606263"/>
              </a:xfrm>
            </p:grpSpPr>
            <p:pic>
              <p:nvPicPr>
                <p:cNvPr id="115" name="Google Shape;103;g3d00297c732_0_7" title="UAV.jpg">
                  <a:extLst>
                    <a:ext uri="{FF2B5EF4-FFF2-40B4-BE49-F238E27FC236}">
                      <a16:creationId xmlns:a16="http://schemas.microsoft.com/office/drawing/2014/main" id="{F1C1F75A-59D6-36EB-4E0B-BF7CDCA6705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7734" t="19877" r="3576" b="30215"/>
                <a:stretch>
                  <a:fillRect/>
                </a:stretch>
              </p:blipFill>
              <p:spPr>
                <a:xfrm>
                  <a:off x="17930179" y="13367954"/>
                  <a:ext cx="833960" cy="47801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F4BE5FC3-C9F8-C3DA-28D3-323CE25A8EA9}"/>
                    </a:ext>
                  </a:extLst>
                </p:cNvPr>
                <p:cNvSpPr txBox="1"/>
                <p:nvPr/>
              </p:nvSpPr>
              <p:spPr>
                <a:xfrm>
                  <a:off x="18011199" y="13704461"/>
                  <a:ext cx="833960" cy="2697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Master</a:t>
                  </a:r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1" name="群組 100">
                <a:extLst>
                  <a:ext uri="{FF2B5EF4-FFF2-40B4-BE49-F238E27FC236}">
                    <a16:creationId xmlns:a16="http://schemas.microsoft.com/office/drawing/2014/main" id="{92A0450A-460E-AB52-4713-738835FB13CD}"/>
                  </a:ext>
                </a:extLst>
              </p:cNvPr>
              <p:cNvGrpSpPr/>
              <p:nvPr/>
            </p:nvGrpSpPr>
            <p:grpSpPr>
              <a:xfrm>
                <a:off x="18205594" y="12235074"/>
                <a:ext cx="833960" cy="678206"/>
                <a:chOff x="18262261" y="12232352"/>
                <a:chExt cx="833960" cy="678206"/>
              </a:xfrm>
            </p:grpSpPr>
            <p:pic>
              <p:nvPicPr>
                <p:cNvPr id="113" name="Google Shape;103;g3d00297c732_0_7" title="UAV.jpg">
                  <a:extLst>
                    <a:ext uri="{FF2B5EF4-FFF2-40B4-BE49-F238E27FC236}">
                      <a16:creationId xmlns:a16="http://schemas.microsoft.com/office/drawing/2014/main" id="{B036A94E-D2F7-8831-5F3A-41E82E1DFB6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7734" t="19877" r="3576" b="30215"/>
                <a:stretch>
                  <a:fillRect/>
                </a:stretch>
              </p:blipFill>
              <p:spPr>
                <a:xfrm>
                  <a:off x="18262261" y="12232352"/>
                  <a:ext cx="833960" cy="5442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E5542F90-5463-37B7-E731-A26A5A218B2E}"/>
                    </a:ext>
                  </a:extLst>
                </p:cNvPr>
                <p:cNvSpPr txBox="1"/>
                <p:nvPr/>
              </p:nvSpPr>
              <p:spPr>
                <a:xfrm>
                  <a:off x="18382837" y="12640802"/>
                  <a:ext cx="695691" cy="2697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Slave</a:t>
                  </a:r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2" name="群組 101">
                <a:extLst>
                  <a:ext uri="{FF2B5EF4-FFF2-40B4-BE49-F238E27FC236}">
                    <a16:creationId xmlns:a16="http://schemas.microsoft.com/office/drawing/2014/main" id="{B27838E2-3C43-8515-87EB-EB83E671629E}"/>
                  </a:ext>
                </a:extLst>
              </p:cNvPr>
              <p:cNvGrpSpPr/>
              <p:nvPr/>
            </p:nvGrpSpPr>
            <p:grpSpPr>
              <a:xfrm>
                <a:off x="19052965" y="12369168"/>
                <a:ext cx="833960" cy="678207"/>
                <a:chOff x="18262261" y="12232351"/>
                <a:chExt cx="833960" cy="678207"/>
              </a:xfrm>
            </p:grpSpPr>
            <p:pic>
              <p:nvPicPr>
                <p:cNvPr id="111" name="Google Shape;103;g3d00297c732_0_7" title="UAV.jpg">
                  <a:extLst>
                    <a:ext uri="{FF2B5EF4-FFF2-40B4-BE49-F238E27FC236}">
                      <a16:creationId xmlns:a16="http://schemas.microsoft.com/office/drawing/2014/main" id="{2CE8DBAF-D99B-A3C5-4DF9-249E0F22BDD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7734" t="19877" r="3576" b="30215"/>
                <a:stretch>
                  <a:fillRect/>
                </a:stretch>
              </p:blipFill>
              <p:spPr>
                <a:xfrm>
                  <a:off x="18262261" y="12232351"/>
                  <a:ext cx="833960" cy="5442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019DFB16-506C-3AD0-E5D0-BA1492F8FE1C}"/>
                    </a:ext>
                  </a:extLst>
                </p:cNvPr>
                <p:cNvSpPr txBox="1"/>
                <p:nvPr/>
              </p:nvSpPr>
              <p:spPr>
                <a:xfrm>
                  <a:off x="18382837" y="12640802"/>
                  <a:ext cx="695691" cy="2697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Slave</a:t>
                  </a:r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3" name="群組 102">
                <a:extLst>
                  <a:ext uri="{FF2B5EF4-FFF2-40B4-BE49-F238E27FC236}">
                    <a16:creationId xmlns:a16="http://schemas.microsoft.com/office/drawing/2014/main" id="{AB5BDC4F-EDF6-2103-F0CA-1A031F576BF6}"/>
                  </a:ext>
                </a:extLst>
              </p:cNvPr>
              <p:cNvGrpSpPr/>
              <p:nvPr/>
            </p:nvGrpSpPr>
            <p:grpSpPr>
              <a:xfrm>
                <a:off x="19836020" y="12267299"/>
                <a:ext cx="833960" cy="678207"/>
                <a:chOff x="18262261" y="12232351"/>
                <a:chExt cx="833960" cy="678207"/>
              </a:xfrm>
            </p:grpSpPr>
            <p:pic>
              <p:nvPicPr>
                <p:cNvPr id="109" name="Google Shape;103;g3d00297c732_0_7" title="UAV.jpg">
                  <a:extLst>
                    <a:ext uri="{FF2B5EF4-FFF2-40B4-BE49-F238E27FC236}">
                      <a16:creationId xmlns:a16="http://schemas.microsoft.com/office/drawing/2014/main" id="{BE0F5D26-A442-05AF-16B2-1AD3BCD6508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7734" t="19877" r="3576" b="30215"/>
                <a:stretch>
                  <a:fillRect/>
                </a:stretch>
              </p:blipFill>
              <p:spPr>
                <a:xfrm>
                  <a:off x="18262261" y="12232351"/>
                  <a:ext cx="833960" cy="54427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61CA5FD1-1A8D-2CDB-AA32-601032B072C5}"/>
                    </a:ext>
                  </a:extLst>
                </p:cNvPr>
                <p:cNvSpPr txBox="1"/>
                <p:nvPr/>
              </p:nvSpPr>
              <p:spPr>
                <a:xfrm>
                  <a:off x="18399041" y="12640802"/>
                  <a:ext cx="695691" cy="2697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Slave</a:t>
                  </a:r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4" name="Google Shape;205;g3d00297c732_0_53">
                <a:extLst>
                  <a:ext uri="{FF2B5EF4-FFF2-40B4-BE49-F238E27FC236}">
                    <a16:creationId xmlns:a16="http://schemas.microsoft.com/office/drawing/2014/main" id="{4BFFBF92-2D01-A448-B589-F5DE2FBAC1C2}"/>
                  </a:ext>
                </a:extLst>
              </p:cNvPr>
              <p:cNvSpPr/>
              <p:nvPr/>
            </p:nvSpPr>
            <p:spPr>
              <a:xfrm rot="18163514">
                <a:off x="18735312" y="12016201"/>
                <a:ext cx="392101" cy="206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2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205;g3d00297c732_0_53">
                <a:extLst>
                  <a:ext uri="{FF2B5EF4-FFF2-40B4-BE49-F238E27FC236}">
                    <a16:creationId xmlns:a16="http://schemas.microsoft.com/office/drawing/2014/main" id="{1640F0FA-E551-A390-D9B2-1FF2996DB38E}"/>
                  </a:ext>
                </a:extLst>
              </p:cNvPr>
              <p:cNvSpPr/>
              <p:nvPr/>
            </p:nvSpPr>
            <p:spPr>
              <a:xfrm rot="16200000">
                <a:off x="19260520" y="12101983"/>
                <a:ext cx="392101" cy="206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2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205;g3d00297c732_0_53">
                <a:extLst>
                  <a:ext uri="{FF2B5EF4-FFF2-40B4-BE49-F238E27FC236}">
                    <a16:creationId xmlns:a16="http://schemas.microsoft.com/office/drawing/2014/main" id="{A50312B0-0FF7-43F9-200F-AB0196FD9AF0}"/>
                  </a:ext>
                </a:extLst>
              </p:cNvPr>
              <p:cNvSpPr/>
              <p:nvPr/>
            </p:nvSpPr>
            <p:spPr>
              <a:xfrm rot="13940948">
                <a:off x="19773319" y="11997080"/>
                <a:ext cx="392101" cy="206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2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205;g3d00297c732_0_53">
                <a:extLst>
                  <a:ext uri="{FF2B5EF4-FFF2-40B4-BE49-F238E27FC236}">
                    <a16:creationId xmlns:a16="http://schemas.microsoft.com/office/drawing/2014/main" id="{86B72903-24DD-26CE-BD12-9631275AD317}"/>
                  </a:ext>
                </a:extLst>
              </p:cNvPr>
              <p:cNvSpPr/>
              <p:nvPr/>
            </p:nvSpPr>
            <p:spPr>
              <a:xfrm rot="16200000">
                <a:off x="19096073" y="10869718"/>
                <a:ext cx="720994" cy="26709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66850" tIns="66850" rIns="66850" bIns="6685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23"/>
                  <a:buFont typeface="Arial"/>
                  <a:buNone/>
                </a:pPr>
                <a:endParaRPr sz="1022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9;g3d00297c732_0_7">
                <a:extLst>
                  <a:ext uri="{FF2B5EF4-FFF2-40B4-BE49-F238E27FC236}">
                    <a16:creationId xmlns:a16="http://schemas.microsoft.com/office/drawing/2014/main" id="{F4A565B9-8ECB-A4D4-9A95-34A2B3F9035C}"/>
                  </a:ext>
                </a:extLst>
              </p:cNvPr>
              <p:cNvSpPr/>
              <p:nvPr/>
            </p:nvSpPr>
            <p:spPr>
              <a:xfrm rot="5400000" flipH="1">
                <a:off x="19144233" y="13327601"/>
                <a:ext cx="617206" cy="245446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7" name="直線接點 116">
              <a:extLst>
                <a:ext uri="{FF2B5EF4-FFF2-40B4-BE49-F238E27FC236}">
                  <a16:creationId xmlns:a16="http://schemas.microsoft.com/office/drawing/2014/main" id="{18DC58B0-B2E0-3256-0D9B-8A530C8B3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96784" y="10389315"/>
              <a:ext cx="1194699" cy="13007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接點 117">
              <a:extLst>
                <a:ext uri="{FF2B5EF4-FFF2-40B4-BE49-F238E27FC236}">
                  <a16:creationId xmlns:a16="http://schemas.microsoft.com/office/drawing/2014/main" id="{6C1C0A63-DB2C-2E26-3AA1-8326DDACFD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14813" y="12488909"/>
              <a:ext cx="1183639" cy="13136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4AA07EF0-DC5F-999B-68F2-09331B7E548B}"/>
              </a:ext>
            </a:extLst>
          </p:cNvPr>
          <p:cNvGrpSpPr/>
          <p:nvPr/>
        </p:nvGrpSpPr>
        <p:grpSpPr>
          <a:xfrm>
            <a:off x="516546" y="20071550"/>
            <a:ext cx="12356339" cy="5612439"/>
            <a:chOff x="543558" y="19097017"/>
            <a:chExt cx="13397921" cy="4829041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42758803-CB13-9FD0-EA7B-55416FA5926E}"/>
                </a:ext>
              </a:extLst>
            </p:cNvPr>
            <p:cNvGrpSpPr/>
            <p:nvPr/>
          </p:nvGrpSpPr>
          <p:grpSpPr>
            <a:xfrm>
              <a:off x="543558" y="19097017"/>
              <a:ext cx="13397921" cy="4829041"/>
              <a:chOff x="928686" y="9572626"/>
              <a:chExt cx="6972300" cy="4450556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570CB07-8B77-D06A-05E1-A3388792A05B}"/>
                  </a:ext>
                </a:extLst>
              </p:cNvPr>
              <p:cNvSpPr/>
              <p:nvPr/>
            </p:nvSpPr>
            <p:spPr>
              <a:xfrm>
                <a:off x="928686" y="9572626"/>
                <a:ext cx="6972300" cy="4450556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3E54B8B-FFA1-0B09-5621-594F268DAD78}"/>
                  </a:ext>
                </a:extLst>
              </p:cNvPr>
              <p:cNvSpPr txBox="1"/>
              <p:nvPr/>
            </p:nvSpPr>
            <p:spPr>
              <a:xfrm>
                <a:off x="2865487" y="9668111"/>
                <a:ext cx="3101772" cy="515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34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UAV-to-LEO Uplink</a:t>
                </a:r>
                <a:endParaRPr lang="zh-TW" altLang="en-US" sz="34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5E2C089B-EA9E-D04B-3B9A-D596A60FF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5591" y="19349978"/>
              <a:ext cx="3642581" cy="3759283"/>
            </a:xfrm>
            <a:prstGeom prst="rect">
              <a:avLst/>
            </a:prstGeom>
          </p:spPr>
        </p:pic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D3FB72C8-4D58-25C6-0F39-17BDDCC1E026}"/>
                </a:ext>
              </a:extLst>
            </p:cNvPr>
            <p:cNvSpPr txBox="1"/>
            <p:nvPr/>
          </p:nvSpPr>
          <p:spPr>
            <a:xfrm>
              <a:off x="922432" y="19668820"/>
              <a:ext cx="8942872" cy="3866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Goal</a:t>
              </a:r>
            </a:p>
            <a:p>
              <a:pPr lvl="1"/>
              <a:r>
                <a: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Establish high-capacity uplink between Cluster Head UAV and fast-moving LEO satellite</a:t>
              </a:r>
            </a:p>
            <a:p>
              <a:r>
                <a: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en-US" altLang="zh-TW" sz="2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Link Budget Model: Pipeline: FSPL → SNR → Shannon capacity.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en-US" altLang="zh-TW" sz="2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Hybrid Beamforming Gain (Fig. 1)</a:t>
              </a:r>
            </a:p>
            <a:p>
              <a:pPr marL="514350" indent="-514350">
                <a:buFont typeface="+mj-lt"/>
                <a:buAutoNum type="arabicPeriod"/>
              </a:pPr>
              <a:r>
                <a:rPr lang="en-US" altLang="zh-TW" sz="2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SNR-Adaptive Rate Control</a:t>
              </a:r>
            </a:p>
            <a:p>
              <a:r>
                <a:rPr lang="en-US" altLang="zh-TW" sz="2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Output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altLang="zh-TW" sz="2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Link related data (e.g. SNR)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altLang="zh-TW" sz="2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Visible time window</a:t>
              </a:r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0B09867A-A886-D538-799A-EA9A00D1B7BB}"/>
                </a:ext>
              </a:extLst>
            </p:cNvPr>
            <p:cNvSpPr txBox="1"/>
            <p:nvPr/>
          </p:nvSpPr>
          <p:spPr>
            <a:xfrm>
              <a:off x="9891333" y="23163716"/>
              <a:ext cx="32688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Fig. 1: Polar Beamforming Patterns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E7E391A6-441E-8DCE-8902-D840512FD7B8}"/>
              </a:ext>
            </a:extLst>
          </p:cNvPr>
          <p:cNvSpPr txBox="1"/>
          <p:nvPr/>
        </p:nvSpPr>
        <p:spPr>
          <a:xfrm>
            <a:off x="13663321" y="14395415"/>
            <a:ext cx="6384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System Architecture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FDBD301F-A789-4DC7-B4EF-AC303019B682}"/>
              </a:ext>
            </a:extLst>
          </p:cNvPr>
          <p:cNvSpPr txBox="1"/>
          <p:nvPr/>
        </p:nvSpPr>
        <p:spPr>
          <a:xfrm>
            <a:off x="13663321" y="20160835"/>
            <a:ext cx="6384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Data Flow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82308145-B8A2-E5FD-71E0-BAED30083B6D}"/>
              </a:ext>
            </a:extLst>
          </p:cNvPr>
          <p:cNvSpPr txBox="1"/>
          <p:nvPr/>
        </p:nvSpPr>
        <p:spPr>
          <a:xfrm>
            <a:off x="13604148" y="20791971"/>
            <a:ext cx="690891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SAGIN hierarchy: Sensor → Slave UAV → CH UAV → LEO satellite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split: Slave UAVs collect IoT data; CH UAV holds the satellite backhaul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pipeline? Intermittent LEO visibility + massive access congestion demand offline scheduling before uplink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NS-3.35 + ns-3-leo: each link simulated independently: uas-probe.cc (intra-fleet), uav-to-leo.cc (backhaul)</a:t>
            </a:r>
          </a:p>
        </p:txBody>
      </p:sp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ED7D9CE6-CD08-1C69-969F-5AF60A4F7662}"/>
              </a:ext>
            </a:extLst>
          </p:cNvPr>
          <p:cNvCxnSpPr>
            <a:cxnSpLocks/>
          </p:cNvCxnSpPr>
          <p:nvPr/>
        </p:nvCxnSpPr>
        <p:spPr>
          <a:xfrm>
            <a:off x="12867107" y="22838685"/>
            <a:ext cx="20294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C94570F3-5C22-B00A-5D46-04CDEBF393D1}"/>
              </a:ext>
            </a:extLst>
          </p:cNvPr>
          <p:cNvCxnSpPr>
            <a:cxnSpLocks/>
          </p:cNvCxnSpPr>
          <p:nvPr/>
        </p:nvCxnSpPr>
        <p:spPr>
          <a:xfrm flipH="1" flipV="1">
            <a:off x="13070048" y="19529106"/>
            <a:ext cx="2563" cy="33095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>
            <a:extLst>
              <a:ext uri="{FF2B5EF4-FFF2-40B4-BE49-F238E27FC236}">
                <a16:creationId xmlns:a16="http://schemas.microsoft.com/office/drawing/2014/main" id="{43883191-3195-0783-B384-21511476990B}"/>
              </a:ext>
            </a:extLst>
          </p:cNvPr>
          <p:cNvCxnSpPr>
            <a:cxnSpLocks/>
          </p:cNvCxnSpPr>
          <p:nvPr/>
        </p:nvCxnSpPr>
        <p:spPr>
          <a:xfrm>
            <a:off x="13057871" y="19529106"/>
            <a:ext cx="273846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線接點 138">
            <a:extLst>
              <a:ext uri="{FF2B5EF4-FFF2-40B4-BE49-F238E27FC236}">
                <a16:creationId xmlns:a16="http://schemas.microsoft.com/office/drawing/2014/main" id="{715F88FD-1371-3CB8-B728-7AB18F6B071B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2872885" y="11702411"/>
            <a:ext cx="197163" cy="9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12B514FA-2D54-6AB9-58F2-A50A56F8B3A8}"/>
              </a:ext>
            </a:extLst>
          </p:cNvPr>
          <p:cNvCxnSpPr>
            <a:cxnSpLocks/>
          </p:cNvCxnSpPr>
          <p:nvPr/>
        </p:nvCxnSpPr>
        <p:spPr>
          <a:xfrm flipV="1">
            <a:off x="13030119" y="11702411"/>
            <a:ext cx="27752" cy="53651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>
            <a:extLst>
              <a:ext uri="{FF2B5EF4-FFF2-40B4-BE49-F238E27FC236}">
                <a16:creationId xmlns:a16="http://schemas.microsoft.com/office/drawing/2014/main" id="{B0E69C56-A713-9171-0995-F54FA708FB6C}"/>
              </a:ext>
            </a:extLst>
          </p:cNvPr>
          <p:cNvCxnSpPr>
            <a:cxnSpLocks/>
          </p:cNvCxnSpPr>
          <p:nvPr/>
        </p:nvCxnSpPr>
        <p:spPr>
          <a:xfrm>
            <a:off x="13024814" y="17067539"/>
            <a:ext cx="47374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7E6B5A-43E1-1F0F-0795-1DED2215BB3B}"/>
              </a:ext>
            </a:extLst>
          </p:cNvPr>
          <p:cNvSpPr txBox="1"/>
          <p:nvPr/>
        </p:nvSpPr>
        <p:spPr>
          <a:xfrm>
            <a:off x="760166" y="9827300"/>
            <a:ext cx="78807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Intra-fleet link quality measurement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Slave UAV → CH/master UAV</a:t>
            </a:r>
          </a:p>
          <a:p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Distance → Friis path loss → SNR → Shannon rate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UDP probing packets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Tx/Rx bytes, delivery ratio, throughput</a:t>
            </a:r>
          </a:p>
          <a:p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Per-link CSV log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3D position, distance, SNR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Estimated rate, measured throughput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A9007C9F-8992-4846-E572-CB8CCE191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534750"/>
              </p:ext>
            </p:extLst>
          </p:nvPr>
        </p:nvGraphicFramePr>
        <p:xfrm>
          <a:off x="6370842" y="12265425"/>
          <a:ext cx="6301463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6141">
                  <a:extLst>
                    <a:ext uri="{9D8B030D-6E8A-4147-A177-3AD203B41FA5}">
                      <a16:colId xmlns:a16="http://schemas.microsoft.com/office/drawing/2014/main" val="2868866752"/>
                    </a:ext>
                  </a:extLst>
                </a:gridCol>
                <a:gridCol w="934497">
                  <a:extLst>
                    <a:ext uri="{9D8B030D-6E8A-4147-A177-3AD203B41FA5}">
                      <a16:colId xmlns:a16="http://schemas.microsoft.com/office/drawing/2014/main" val="3278659831"/>
                    </a:ext>
                  </a:extLst>
                </a:gridCol>
                <a:gridCol w="974690">
                  <a:extLst>
                    <a:ext uri="{9D8B030D-6E8A-4147-A177-3AD203B41FA5}">
                      <a16:colId xmlns:a16="http://schemas.microsoft.com/office/drawing/2014/main" val="3125416225"/>
                    </a:ext>
                  </a:extLst>
                </a:gridCol>
                <a:gridCol w="1286189">
                  <a:extLst>
                    <a:ext uri="{9D8B030D-6E8A-4147-A177-3AD203B41FA5}">
                      <a16:colId xmlns:a16="http://schemas.microsoft.com/office/drawing/2014/main" val="246851647"/>
                    </a:ext>
                  </a:extLst>
                </a:gridCol>
                <a:gridCol w="1829946">
                  <a:extLst>
                    <a:ext uri="{9D8B030D-6E8A-4147-A177-3AD203B41FA5}">
                      <a16:colId xmlns:a16="http://schemas.microsoft.com/office/drawing/2014/main" val="2378117280"/>
                    </a:ext>
                  </a:extLst>
                </a:gridCol>
              </a:tblGrid>
              <a:tr h="24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SNR (dB)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Est. Rate (Mbps)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Eff. Throughput (Mbps)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2122212"/>
                  </a:ext>
                </a:extLst>
              </a:tr>
              <a:tr h="24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 →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853159"/>
                  </a:ext>
                </a:extLst>
              </a:tr>
              <a:tr h="24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 →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888213"/>
                  </a:ext>
                </a:extLst>
              </a:tr>
              <a:tr h="246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S3 →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277863"/>
                  </a:ext>
                </a:extLst>
              </a:tr>
            </a:tbl>
          </a:graphicData>
        </a:graphic>
      </p:graphicFrame>
      <p:sp>
        <p:nvSpPr>
          <p:cNvPr id="45" name="文字方塊 44">
            <a:extLst>
              <a:ext uri="{FF2B5EF4-FFF2-40B4-BE49-F238E27FC236}">
                <a16:creationId xmlns:a16="http://schemas.microsoft.com/office/drawing/2014/main" id="{3AF74B4A-6363-35FF-A239-C0E39B901995}"/>
              </a:ext>
            </a:extLst>
          </p:cNvPr>
          <p:cNvSpPr txBox="1"/>
          <p:nvPr/>
        </p:nvSpPr>
        <p:spPr>
          <a:xfrm>
            <a:off x="760166" y="15331253"/>
            <a:ext cx="687215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Schedule feasibility validation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Trace-driven NS-3 replay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Scheduler JSON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MOVE / ROLE_SET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SENSOR_TO_UAV/SLAVE_TO_MASTER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8E838DA6-A263-4F95-044E-EC4BAC75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10557"/>
              </p:ext>
            </p:extLst>
          </p:nvPr>
        </p:nvGraphicFramePr>
        <p:xfrm>
          <a:off x="2732797" y="18667588"/>
          <a:ext cx="791218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2553">
                  <a:extLst>
                    <a:ext uri="{9D8B030D-6E8A-4147-A177-3AD203B41FA5}">
                      <a16:colId xmlns:a16="http://schemas.microsoft.com/office/drawing/2014/main" val="2437764609"/>
                    </a:ext>
                  </a:extLst>
                </a:gridCol>
                <a:gridCol w="1042307">
                  <a:extLst>
                    <a:ext uri="{9D8B030D-6E8A-4147-A177-3AD203B41FA5}">
                      <a16:colId xmlns:a16="http://schemas.microsoft.com/office/drawing/2014/main" val="3891642840"/>
                    </a:ext>
                  </a:extLst>
                </a:gridCol>
                <a:gridCol w="1091293">
                  <a:extLst>
                    <a:ext uri="{9D8B030D-6E8A-4147-A177-3AD203B41FA5}">
                      <a16:colId xmlns:a16="http://schemas.microsoft.com/office/drawing/2014/main" val="1213435560"/>
                    </a:ext>
                  </a:extLst>
                </a:gridCol>
                <a:gridCol w="1168635">
                  <a:extLst>
                    <a:ext uri="{9D8B030D-6E8A-4147-A177-3AD203B41FA5}">
                      <a16:colId xmlns:a16="http://schemas.microsoft.com/office/drawing/2014/main" val="3242861009"/>
                    </a:ext>
                  </a:extLst>
                </a:gridCol>
                <a:gridCol w="1318697">
                  <a:extLst>
                    <a:ext uri="{9D8B030D-6E8A-4147-A177-3AD203B41FA5}">
                      <a16:colId xmlns:a16="http://schemas.microsoft.com/office/drawing/2014/main" val="189405218"/>
                    </a:ext>
                  </a:extLst>
                </a:gridCol>
                <a:gridCol w="1318697">
                  <a:extLst>
                    <a:ext uri="{9D8B030D-6E8A-4147-A177-3AD203B41FA5}">
                      <a16:colId xmlns:a16="http://schemas.microsoft.com/office/drawing/2014/main" val="728506458"/>
                    </a:ext>
                  </a:extLst>
                </a:gridCol>
              </a:tblGrid>
              <a:tr h="191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598044"/>
                  </a:ext>
                </a:extLst>
              </a:tr>
              <a:tr h="191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trace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 / 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040455"/>
                  </a:ext>
                </a:extLst>
              </a:tr>
              <a:tr h="249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trace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212 / 212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952168"/>
                  </a:ext>
                </a:extLst>
              </a:tr>
            </a:tbl>
          </a:graphicData>
        </a:graphic>
      </p:graphicFrame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6BBAA2AB-0126-6FD1-4EE9-34E36A54B458}"/>
              </a:ext>
            </a:extLst>
          </p:cNvPr>
          <p:cNvCxnSpPr>
            <a:cxnSpLocks/>
          </p:cNvCxnSpPr>
          <p:nvPr/>
        </p:nvCxnSpPr>
        <p:spPr>
          <a:xfrm>
            <a:off x="12867107" y="17655216"/>
            <a:ext cx="4940296" cy="233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8F6E4D4-DF3C-DBA4-C7ED-1F401F1EE172}"/>
              </a:ext>
            </a:extLst>
          </p:cNvPr>
          <p:cNvCxnSpPr>
            <a:cxnSpLocks/>
          </p:cNvCxnSpPr>
          <p:nvPr/>
        </p:nvCxnSpPr>
        <p:spPr>
          <a:xfrm flipH="1" flipV="1">
            <a:off x="17798451" y="17678522"/>
            <a:ext cx="8952" cy="48229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784AC50A-921D-8CA5-87CA-8EEF4D88AF7D}"/>
              </a:ext>
            </a:extLst>
          </p:cNvPr>
          <p:cNvCxnSpPr>
            <a:cxnSpLocks/>
          </p:cNvCxnSpPr>
          <p:nvPr/>
        </p:nvCxnSpPr>
        <p:spPr>
          <a:xfrm>
            <a:off x="17798451" y="18160814"/>
            <a:ext cx="30142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5ED7D99-F2F7-A77C-1E2C-0CA4819CDE7B}"/>
              </a:ext>
            </a:extLst>
          </p:cNvPr>
          <p:cNvSpPr/>
          <p:nvPr/>
        </p:nvSpPr>
        <p:spPr>
          <a:xfrm>
            <a:off x="504892" y="14559310"/>
            <a:ext cx="12367993" cy="53106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6A20A49-AE23-C34C-C2F7-7985B6E0F30C}"/>
              </a:ext>
            </a:extLst>
          </p:cNvPr>
          <p:cNvSpPr txBox="1"/>
          <p:nvPr/>
        </p:nvSpPr>
        <p:spPr>
          <a:xfrm>
            <a:off x="623217" y="14689335"/>
            <a:ext cx="123679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NS-3 Schedule Replay / Verification</a:t>
            </a:r>
            <a:endParaRPr lang="zh-TW" altLang="en-US" sz="34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6B7483F-752C-4F7F-2AB0-EE02E2E1E5AC}"/>
              </a:ext>
            </a:extLst>
          </p:cNvPr>
          <p:cNvSpPr txBox="1"/>
          <p:nvPr/>
        </p:nvSpPr>
        <p:spPr>
          <a:xfrm>
            <a:off x="7058723" y="15337612"/>
            <a:ext cx="568659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UAV mobility and role changes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UAV buffer dependency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Task completion and deadline check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Completed tasks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Mission finish time</a:t>
            </a:r>
            <a:b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Deadline satisfaction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829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1747F6-A2D4-4110-A5FA-5607DAE5FF0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1135e1cd-4394-4472-a204-845e7f069d5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1061</TotalTime>
  <Words>526</Words>
  <Application>Microsoft Office PowerPoint</Application>
  <PresentationFormat>自訂</PresentationFormat>
  <Paragraphs>85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 宗諺</dc:creator>
  <cp:lastModifiedBy>李 宗諺</cp:lastModifiedBy>
  <cp:revision>40</cp:revision>
  <dcterms:created xsi:type="dcterms:W3CDTF">2026-04-29T12:37:48Z</dcterms:created>
  <dcterms:modified xsi:type="dcterms:W3CDTF">2026-05-11T07:26:59Z</dcterms:modified>
</cp:coreProperties>
</file>