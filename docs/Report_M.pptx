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2185" autoAdjust="0"/>
    <p:restoredTop sz="94680" autoAdjust="0"/>
  </p:normalViewPr>
  <p:slideViewPr>
    <p:cSldViewPr snapToGrid="0">
      <p:cViewPr>
        <p:scale>
          <a:sx n="50" d="100"/>
          <a:sy n="50" d="100"/>
        </p:scale>
        <p:origin x="2208" y="-3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2026/5/11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群組 42">
            <a:extLst>
              <a:ext uri="{FF2B5EF4-FFF2-40B4-BE49-F238E27FC236}">
                <a16:creationId xmlns:a16="http://schemas.microsoft.com/office/drawing/2014/main" id="{9EC42D2E-2BE8-CE40-4DA3-94BA8AA79D2C}"/>
              </a:ext>
            </a:extLst>
          </p:cNvPr>
          <p:cNvGrpSpPr/>
          <p:nvPr/>
        </p:nvGrpSpPr>
        <p:grpSpPr>
          <a:xfrm>
            <a:off x="8643719" y="9893714"/>
            <a:ext cx="2062650" cy="1527861"/>
            <a:chOff x="11169062" y="9292519"/>
            <a:chExt cx="2960539" cy="2124130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C6C6C7E-EEDA-04EC-7E2C-22CB0C298DE6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37" name="Google Shape;103;g3d00297c732_0_7" title="UAV.jpg">
                <a:extLst>
                  <a:ext uri="{FF2B5EF4-FFF2-40B4-BE49-F238E27FC236}">
                    <a16:creationId xmlns:a16="http://schemas.microsoft.com/office/drawing/2014/main" id="{D8E118A8-0280-2823-FDB4-6089F61AE98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5" name="Google Shape;103;g3d00297c732_0_7" title="UAV.jpg">
                <a:extLst>
                  <a:ext uri="{FF2B5EF4-FFF2-40B4-BE49-F238E27FC236}">
                    <a16:creationId xmlns:a16="http://schemas.microsoft.com/office/drawing/2014/main" id="{1FA300D6-9F3B-DA5E-72A7-E2CDF3BEBC74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" name="Google Shape;103;g3d00297c732_0_7" title="UAV.jpg">
                <a:extLst>
                  <a:ext uri="{FF2B5EF4-FFF2-40B4-BE49-F238E27FC236}">
                    <a16:creationId xmlns:a16="http://schemas.microsoft.com/office/drawing/2014/main" id="{0CD416DE-EE29-437E-A485-EB668BD70E13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9" name="Google Shape;205;g3d00297c732_0_53">
              <a:extLst>
                <a:ext uri="{FF2B5EF4-FFF2-40B4-BE49-F238E27FC236}">
                  <a16:creationId xmlns:a16="http://schemas.microsoft.com/office/drawing/2014/main" id="{DA7CAE6B-49DD-5D84-6FFD-E2B22A567A11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05;g3d00297c732_0_53">
              <a:extLst>
                <a:ext uri="{FF2B5EF4-FFF2-40B4-BE49-F238E27FC236}">
                  <a16:creationId xmlns:a16="http://schemas.microsoft.com/office/drawing/2014/main" id="{C525DE75-DCF7-0DD2-FC9B-B5BFC4ACEB0F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C1FA52A2-B364-F724-3E3A-742BED4B9066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2B97F92C-5FA1-9D94-2E5F-9A4332266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1111" y="14426728"/>
            <a:ext cx="7431380" cy="4954252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Performance Evaluation for Deadline-Aware Hierarchical IoT Data Collection  in SAGIN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771487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Simulation-based evaluation is crucial for </a:t>
            </a:r>
            <a:r>
              <a:rPr lang="en-US" altLang="zh-TW" sz="3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analizing</a:t>
            </a: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the performance of data collection in SAGIN.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881125"/>
            <a:ext cx="1991677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Implement channel variation and link quality for UAV-to-UAV and UAV-to-LEO communications.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Replay the data collection schedule in NS-3 and evaluate end-to-end communication performance.</a:t>
            </a: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7519166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280146"/>
            <a:ext cx="12456348" cy="5310686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3222786" y="8280145"/>
            <a:ext cx="7638690" cy="1663692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593247" y="24919015"/>
            <a:ext cx="199167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We built an NS-3-based framework to support link probing, schedule replay, and end-to-end performance measurement in SAGIN scenarios.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The framework provides a platform for analyzing various scheduling decisions.</a:t>
            </a:r>
          </a:p>
          <a:p>
            <a:pPr marL="277813" indent="-277813">
              <a:buFont typeface="Arial" panose="020B0604020202020204" pitchFamily="34" charset="0"/>
              <a:buChar char="•"/>
            </a:pPr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Future work: integrate scheduling algorithm into the simulation framework to enable interactive network planning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3702021" y="9307052"/>
            <a:ext cx="6384302" cy="4283780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6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914980" cy="675061"/>
                <a:chOff x="17930179" y="13367954"/>
                <a:chExt cx="91498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801119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4"/>
                <a:ext cx="833960" cy="747004"/>
                <a:chOff x="18262261" y="12232352"/>
                <a:chExt cx="833960" cy="747004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2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82837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82837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9904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4AA07EF0-DC5F-999B-68F2-09331B7E548B}"/>
              </a:ext>
            </a:extLst>
          </p:cNvPr>
          <p:cNvGrpSpPr/>
          <p:nvPr/>
        </p:nvGrpSpPr>
        <p:grpSpPr>
          <a:xfrm>
            <a:off x="516546" y="19304628"/>
            <a:ext cx="12356339" cy="5612439"/>
            <a:chOff x="543558" y="19097017"/>
            <a:chExt cx="13397921" cy="4829041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42758803-CB13-9FD0-EA7B-55416FA5926E}"/>
                </a:ext>
              </a:extLst>
            </p:cNvPr>
            <p:cNvGrpSpPr/>
            <p:nvPr/>
          </p:nvGrpSpPr>
          <p:grpSpPr>
            <a:xfrm>
              <a:off x="543558" y="19097017"/>
              <a:ext cx="13397921" cy="4829041"/>
              <a:chOff x="928686" y="9572626"/>
              <a:chExt cx="6972300" cy="445055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7570CB07-8B77-D06A-05E1-A3388792A05B}"/>
                  </a:ext>
                </a:extLst>
              </p:cNvPr>
              <p:cNvSpPr/>
              <p:nvPr/>
            </p:nvSpPr>
            <p:spPr>
              <a:xfrm>
                <a:off x="928686" y="9572626"/>
                <a:ext cx="6972300" cy="445055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3E54B8B-FFA1-0B09-5621-594F268DAD78}"/>
                  </a:ext>
                </a:extLst>
              </p:cNvPr>
              <p:cNvSpPr txBox="1"/>
              <p:nvPr/>
            </p:nvSpPr>
            <p:spPr>
              <a:xfrm>
                <a:off x="2865487" y="9668111"/>
                <a:ext cx="3101772" cy="5158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3400" b="1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UAV-to-LEO Uplink</a:t>
                </a:r>
                <a:endPara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5E2C089B-EA9E-D04B-3B9A-D596A60F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5591" y="19349978"/>
              <a:ext cx="3642581" cy="3759283"/>
            </a:xfrm>
            <a:prstGeom prst="rect">
              <a:avLst/>
            </a:prstGeom>
          </p:spPr>
        </p:pic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D3FB72C8-4D58-25C6-0F39-17BDDCC1E026}"/>
                </a:ext>
              </a:extLst>
            </p:cNvPr>
            <p:cNvSpPr txBox="1"/>
            <p:nvPr/>
          </p:nvSpPr>
          <p:spPr>
            <a:xfrm>
              <a:off x="922432" y="19668820"/>
              <a:ext cx="8942872" cy="38663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Goal</a:t>
              </a:r>
            </a:p>
            <a:p>
              <a:pPr lvl="1"/>
              <a:r>
                <a:rPr lang="en-US" altLang="zh-TW" sz="2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Establish high-capacity uplink between Cluster Head UAV and fast-moving LEO satellite</a:t>
              </a:r>
            </a:p>
            <a:p>
              <a:r>
                <a:rPr lang="en-US" altLang="zh-TW" sz="2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Method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Link Budget Model: Pipeline: FSPL → SNR → Shannon capacity.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Hybrid Beamforming Gain (Fig. 1)</a:t>
              </a:r>
            </a:p>
            <a:p>
              <a:pPr marL="514350" indent="-514350">
                <a:buFont typeface="+mj-lt"/>
                <a:buAutoNum type="arabicPeriod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SNR-Adaptive Rate Control</a:t>
              </a:r>
            </a:p>
            <a:p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Output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Link related data (e.g. SNR)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altLang="zh-TW" sz="2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Visible time window</a:t>
              </a:r>
            </a:p>
          </p:txBody>
        </p:sp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0B09867A-A886-D538-799A-EA9A00D1B7BB}"/>
                </a:ext>
              </a:extLst>
            </p:cNvPr>
            <p:cNvSpPr txBox="1"/>
            <p:nvPr/>
          </p:nvSpPr>
          <p:spPr>
            <a:xfrm>
              <a:off x="9891333" y="23163716"/>
              <a:ext cx="326887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Fig. 1: Polar Beamforming Patterns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3663321" y="13628493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3663321" y="19393913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3604148" y="20025049"/>
            <a:ext cx="690891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SAGIN hierarchy: Sensor → Slave UAV → CH UAV → LEO satellite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 split: Slave UAVs collect IoT data; CH UAV holds the satellite backhaul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pipeline? Intermittent LEO visibility + massive access congestion demand offline scheduling before uplink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NS-3.35 + ns-3-leo: each link simulated independently: uas-probe.cc (intra-fleet), uav-to-leo.cc (backhaul)</a:t>
            </a:r>
          </a:p>
        </p:txBody>
      </p: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D7D9CE6-CD08-1C69-969F-5AF60A4F7662}"/>
              </a:ext>
            </a:extLst>
          </p:cNvPr>
          <p:cNvCxnSpPr>
            <a:cxnSpLocks/>
          </p:cNvCxnSpPr>
          <p:nvPr/>
        </p:nvCxnSpPr>
        <p:spPr>
          <a:xfrm>
            <a:off x="12867107" y="22071763"/>
            <a:ext cx="20294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C94570F3-5C22-B00A-5D46-04CDEBF393D1}"/>
              </a:ext>
            </a:extLst>
          </p:cNvPr>
          <p:cNvCxnSpPr>
            <a:cxnSpLocks/>
          </p:cNvCxnSpPr>
          <p:nvPr/>
        </p:nvCxnSpPr>
        <p:spPr>
          <a:xfrm flipH="1" flipV="1">
            <a:off x="13070048" y="18762184"/>
            <a:ext cx="2563" cy="33095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3883191-3195-0783-B384-21511476990B}"/>
              </a:ext>
            </a:extLst>
          </p:cNvPr>
          <p:cNvCxnSpPr>
            <a:cxnSpLocks/>
          </p:cNvCxnSpPr>
          <p:nvPr/>
        </p:nvCxnSpPr>
        <p:spPr>
          <a:xfrm>
            <a:off x="13057871" y="18762184"/>
            <a:ext cx="273846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15F88FD-1371-3CB8-B728-7AB18F6B071B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12872885" y="10935489"/>
            <a:ext cx="197163" cy="97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12B514FA-2D54-6AB9-58F2-A50A56F8B3A8}"/>
              </a:ext>
            </a:extLst>
          </p:cNvPr>
          <p:cNvCxnSpPr>
            <a:cxnSpLocks/>
          </p:cNvCxnSpPr>
          <p:nvPr/>
        </p:nvCxnSpPr>
        <p:spPr>
          <a:xfrm flipV="1">
            <a:off x="13030119" y="10935489"/>
            <a:ext cx="27752" cy="536512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線單箭頭接點 142">
            <a:extLst>
              <a:ext uri="{FF2B5EF4-FFF2-40B4-BE49-F238E27FC236}">
                <a16:creationId xmlns:a16="http://schemas.microsoft.com/office/drawing/2014/main" id="{B0E69C56-A713-9171-0995-F54FA708FB6C}"/>
              </a:ext>
            </a:extLst>
          </p:cNvPr>
          <p:cNvCxnSpPr>
            <a:cxnSpLocks/>
          </p:cNvCxnSpPr>
          <p:nvPr/>
        </p:nvCxnSpPr>
        <p:spPr>
          <a:xfrm>
            <a:off x="13024814" y="16300617"/>
            <a:ext cx="47374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E6B5A-43E1-1F0F-0795-1DED2215BB3B}"/>
              </a:ext>
            </a:extLst>
          </p:cNvPr>
          <p:cNvSpPr txBox="1"/>
          <p:nvPr/>
        </p:nvSpPr>
        <p:spPr>
          <a:xfrm>
            <a:off x="760166" y="9060378"/>
            <a:ext cx="7880703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Intra-fleet link quality measurement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Slave UAV → CH/master UAV</a:t>
            </a:r>
          </a:p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Distance → Friis path loss → SNR → Shannon rate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UDP probing packets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Tx/Rx bytes, delivery ratio, throughput</a:t>
            </a:r>
          </a:p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Per-link CSV log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3D position, distance, SNR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Estimated rate, measured throughput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4" name="表格 43">
            <a:extLst>
              <a:ext uri="{FF2B5EF4-FFF2-40B4-BE49-F238E27FC236}">
                <a16:creationId xmlns:a16="http://schemas.microsoft.com/office/drawing/2014/main" id="{A9007C9F-8992-4846-E572-CB8CCE191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965"/>
              </p:ext>
            </p:extLst>
          </p:nvPr>
        </p:nvGraphicFramePr>
        <p:xfrm>
          <a:off x="6846716" y="11778155"/>
          <a:ext cx="5745251" cy="1432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93419">
                  <a:extLst>
                    <a:ext uri="{9D8B030D-6E8A-4147-A177-3AD203B41FA5}">
                      <a16:colId xmlns:a16="http://schemas.microsoft.com/office/drawing/2014/main" val="2868866752"/>
                    </a:ext>
                  </a:extLst>
                </a:gridCol>
                <a:gridCol w="1100549">
                  <a:extLst>
                    <a:ext uri="{9D8B030D-6E8A-4147-A177-3AD203B41FA5}">
                      <a16:colId xmlns:a16="http://schemas.microsoft.com/office/drawing/2014/main" val="3278659831"/>
                    </a:ext>
                  </a:extLst>
                </a:gridCol>
                <a:gridCol w="895796">
                  <a:extLst>
                    <a:ext uri="{9D8B030D-6E8A-4147-A177-3AD203B41FA5}">
                      <a16:colId xmlns:a16="http://schemas.microsoft.com/office/drawing/2014/main" val="3125416225"/>
                    </a:ext>
                  </a:extLst>
                </a:gridCol>
                <a:gridCol w="1292801">
                  <a:extLst>
                    <a:ext uri="{9D8B030D-6E8A-4147-A177-3AD203B41FA5}">
                      <a16:colId xmlns:a16="http://schemas.microsoft.com/office/drawing/2014/main" val="246851647"/>
                    </a:ext>
                  </a:extLst>
                </a:gridCol>
                <a:gridCol w="1662686">
                  <a:extLst>
                    <a:ext uri="{9D8B030D-6E8A-4147-A177-3AD203B41FA5}">
                      <a16:colId xmlns:a16="http://schemas.microsoft.com/office/drawing/2014/main" val="2378117280"/>
                    </a:ext>
                  </a:extLst>
                </a:gridCol>
              </a:tblGrid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Distance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SNR (dB)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Est. Rate (Mbps)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Eff. Throughput (Mbps)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2212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S1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18.4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28.7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0853159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S2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24.9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888213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S3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16.8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277863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3AF74B4A-6363-35FF-A239-C0E39B901995}"/>
              </a:ext>
            </a:extLst>
          </p:cNvPr>
          <p:cNvSpPr txBox="1"/>
          <p:nvPr/>
        </p:nvSpPr>
        <p:spPr>
          <a:xfrm>
            <a:off x="760166" y="14564331"/>
            <a:ext cx="687215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Schedule feasibility validation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Trace-driven NS-3 replay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Scheduler JSON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MOVE / ROLE_SET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SENSOR_TO_UAV/SLAVE_TO_MASTER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8E838DA6-A263-4F95-044E-EC4BAC752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833234"/>
              </p:ext>
            </p:extLst>
          </p:nvPr>
        </p:nvGraphicFramePr>
        <p:xfrm>
          <a:off x="2732797" y="17900666"/>
          <a:ext cx="7912182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697">
                  <a:extLst>
                    <a:ext uri="{9D8B030D-6E8A-4147-A177-3AD203B41FA5}">
                      <a16:colId xmlns:a16="http://schemas.microsoft.com/office/drawing/2014/main" val="24377646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89164284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21343556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2428610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89405218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728506458"/>
                    </a:ext>
                  </a:extLst>
                </a:gridCol>
              </a:tblGrid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UAVs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Sensors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Transfers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Deadline Met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598044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Simple trace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 / 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040455"/>
                  </a:ext>
                </a:extLst>
              </a:tr>
              <a:tr h="2490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Normal trace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 / 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952168"/>
                  </a:ext>
                </a:extLst>
              </a:tr>
            </a:tbl>
          </a:graphicData>
        </a:graphic>
      </p:graphicFrame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BBAA2AB-0126-6FD1-4EE9-34E36A54B458}"/>
              </a:ext>
            </a:extLst>
          </p:cNvPr>
          <p:cNvCxnSpPr>
            <a:cxnSpLocks/>
          </p:cNvCxnSpPr>
          <p:nvPr/>
        </p:nvCxnSpPr>
        <p:spPr>
          <a:xfrm>
            <a:off x="12867107" y="16888294"/>
            <a:ext cx="4940296" cy="2330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08F6E4D4-DF3C-DBA4-C7ED-1F401F1EE172}"/>
              </a:ext>
            </a:extLst>
          </p:cNvPr>
          <p:cNvCxnSpPr>
            <a:cxnSpLocks/>
          </p:cNvCxnSpPr>
          <p:nvPr/>
        </p:nvCxnSpPr>
        <p:spPr>
          <a:xfrm flipH="1" flipV="1">
            <a:off x="17798451" y="16911600"/>
            <a:ext cx="8952" cy="48229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784AC50A-921D-8CA5-87CA-8EEF4D88AF7D}"/>
              </a:ext>
            </a:extLst>
          </p:cNvPr>
          <p:cNvCxnSpPr>
            <a:cxnSpLocks/>
          </p:cNvCxnSpPr>
          <p:nvPr/>
        </p:nvCxnSpPr>
        <p:spPr>
          <a:xfrm>
            <a:off x="17798451" y="17393892"/>
            <a:ext cx="30142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D5ED7D99-F2F7-A77C-1E2C-0CA4819CDE7B}"/>
              </a:ext>
            </a:extLst>
          </p:cNvPr>
          <p:cNvSpPr/>
          <p:nvPr/>
        </p:nvSpPr>
        <p:spPr>
          <a:xfrm>
            <a:off x="504892" y="13792388"/>
            <a:ext cx="12367993" cy="531068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6A20A49-AE23-C34C-C2F7-7985B6E0F30C}"/>
              </a:ext>
            </a:extLst>
          </p:cNvPr>
          <p:cNvSpPr txBox="1"/>
          <p:nvPr/>
        </p:nvSpPr>
        <p:spPr>
          <a:xfrm>
            <a:off x="623217" y="13922413"/>
            <a:ext cx="1236799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NS-3 Schedule Replay / Verification</a:t>
            </a:r>
            <a:endParaRPr lang="zh-TW" altLang="en-US" sz="3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6B7483F-752C-4F7F-2AB0-EE02E2E1E5AC}"/>
              </a:ext>
            </a:extLst>
          </p:cNvPr>
          <p:cNvSpPr txBox="1"/>
          <p:nvPr/>
        </p:nvSpPr>
        <p:spPr>
          <a:xfrm>
            <a:off x="7058723" y="14570690"/>
            <a:ext cx="5686592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Verification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UAV mobility and role changes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UAV buffer dependency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Task completion and deadline check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Completed tasks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Mission finish time</a:t>
            </a:r>
            <a:b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Deadline satisfaction</a:t>
            </a:r>
            <a:endParaRPr lang="en-US" altLang="zh-TW" sz="2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1747F6-A2D4-4110-A5FA-5607DAE5FF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35e1cd-4394-4472-a204-845e7f069d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1035</TotalTime>
  <Words>526</Words>
  <Application>Microsoft Office PowerPoint</Application>
  <PresentationFormat>自訂</PresentationFormat>
  <Paragraphs>85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熊 白</cp:lastModifiedBy>
  <cp:revision>30</cp:revision>
  <dcterms:created xsi:type="dcterms:W3CDTF">2026-04-29T12:37:48Z</dcterms:created>
  <dcterms:modified xsi:type="dcterms:W3CDTF">2026-05-10T17:07:13Z</dcterms:modified>
</cp:coreProperties>
</file>