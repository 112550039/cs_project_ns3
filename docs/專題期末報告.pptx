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256" r:id="rId2"/>
    <p:sldId id="323" r:id="rId3"/>
    <p:sldId id="329" r:id="rId4"/>
    <p:sldId id="331" r:id="rId5"/>
    <p:sldId id="369" r:id="rId6"/>
    <p:sldId id="376" r:id="rId7"/>
    <p:sldId id="375" r:id="rId8"/>
    <p:sldId id="377" r:id="rId9"/>
    <p:sldId id="378" r:id="rId10"/>
    <p:sldId id="379" r:id="rId11"/>
    <p:sldId id="351" r:id="rId12"/>
  </p:sldIdLst>
  <p:sldSz cx="9144000" cy="5143500" type="screen16x9"/>
  <p:notesSz cx="9874250" cy="6797675"/>
  <p:embeddedFontLst>
    <p:embeddedFont>
      <p:font typeface="Helvetica Neue" panose="020B0600070205080204" charset="0"/>
      <p:regular r:id="rId15"/>
      <p:bold r:id="rId16"/>
      <p:italic r:id="rId17"/>
      <p:boldItalic r:id="rId18"/>
    </p:embeddedFont>
    <p:embeddedFont>
      <p:font typeface="Microsoft JhengHei" panose="020B0604030504040204" pitchFamily="34" charset="-120"/>
      <p:regular r:id="rId19"/>
      <p:bold r:id="rId20"/>
    </p:embeddedFont>
    <p:embeddedFont>
      <p:font typeface="Noto Sans Symbols" panose="020B0600070205080204" charset="0"/>
      <p:regular r:id="rId21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597">
          <p15:clr>
            <a:srgbClr val="747775"/>
          </p15:clr>
        </p15:guide>
        <p15:guide id="2" pos="657">
          <p15:clr>
            <a:srgbClr val="747775"/>
          </p15:clr>
        </p15:guide>
      </p15:sldGuideLst>
    </p:ext>
    <p:ext uri="{2D200454-40CA-4A62-9FC3-DE9A4176ACB9}">
      <p15:notes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64" roundtripDataSignature="AMtx7mgNlel+ZygXPW1yK/LuWkbTK5rvsg==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0E2D72E-05CA-607A-9489-7132C9FDE247}" name="Kate Lin" initials="KL" userId="S::katecjlin@m365.ntu.edu.tw::7cd5c1ff-0a24-4064-b21f-6dea15d2934e" providerId="AD"/>
  <p188:author id="{97A24A3A-1C29-3D1C-BA8B-05845E535994}" name="昀翰 劉" initials="昀劉" userId="400da0510ddf0980" providerId="Windows Live"/>
  <p188:author id="{AE2FEAFB-D4C5-678D-5288-99497A56A14B}" name="林靖茹" initials="林靖茹" userId="S::katelin@m365.nycu.edu.tw::427b73fa-9e67-4994-a691-be3644e38b0b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3201" autoAdjust="0"/>
    <p:restoredTop sz="72848" autoAdjust="0"/>
  </p:normalViewPr>
  <p:slideViewPr>
    <p:cSldViewPr snapToGrid="0">
      <p:cViewPr varScale="1">
        <p:scale>
          <a:sx n="94" d="100"/>
          <a:sy n="94" d="100"/>
        </p:scale>
        <p:origin x="102" y="1176"/>
      </p:cViewPr>
      <p:guideLst>
        <p:guide orient="horz" pos="1597"/>
        <p:guide pos="657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12" d="100"/>
          <a:sy n="112" d="100"/>
        </p:scale>
        <p:origin x="2244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68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6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66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6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Relationship Id="rId22" Type="http://schemas.openxmlformats.org/officeDocument/2006/relationships/font" Target="fonts/font8.fntdata"/><Relationship Id="rId64" Type="http://customschemas.google.com/relationships/presentationmetadata" Target="metadata"/><Relationship Id="rId69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>
            <a:extLst>
              <a:ext uri="{FF2B5EF4-FFF2-40B4-BE49-F238E27FC236}">
                <a16:creationId xmlns:a16="http://schemas.microsoft.com/office/drawing/2014/main" id="{4D565221-C63E-4C4C-2739-74C06BFC595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4278313" cy="3413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E3B08A0E-F98D-52AB-D54E-16EFE067C1D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592763" y="0"/>
            <a:ext cx="4279900" cy="3413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1EA997-0948-4104-995A-BE2E8ED9DE9F}" type="datetimeFigureOut">
              <a:rPr lang="zh-TW" altLang="en-US" smtClean="0"/>
              <a:t>2026/6/14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A2179A59-CC10-5692-F93B-6D653038A17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456363"/>
            <a:ext cx="4278313" cy="3413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FAC4CE40-0BA4-29D1-C59F-05B678D6E02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592763" y="6456363"/>
            <a:ext cx="4279900" cy="3413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9E2DAD-27E1-47E3-8FAF-26E29493C48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2596450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670175" y="509588"/>
            <a:ext cx="4533900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87425" y="3228896"/>
            <a:ext cx="7899400" cy="3058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98775" y="849313"/>
            <a:ext cx="4078288" cy="22939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5" name="Google Shape;65;p1:notes"/>
          <p:cNvSpPr txBox="1">
            <a:spLocks noGrp="1"/>
          </p:cNvSpPr>
          <p:nvPr>
            <p:ph type="body" idx="1"/>
          </p:nvPr>
        </p:nvSpPr>
        <p:spPr>
          <a:xfrm>
            <a:off x="987425" y="3271381"/>
            <a:ext cx="7899400" cy="26765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58750" indent="0">
              <a:buNone/>
            </a:pPr>
            <a:r>
              <a:rPr lang="zh-TW" altLang="en-US" dirty="0"/>
              <a:t>各位老師好，我是劉昀翰。今天要報告的題目是 </a:t>
            </a:r>
            <a:r>
              <a:rPr lang="en-US" altLang="zh-TW" b="1" dirty="0"/>
              <a:t>Hierarchical Deadline-Aware Data Collection in UAV-Assisted SAGIN</a:t>
            </a:r>
            <a:r>
              <a:rPr lang="zh-TW" altLang="en-US" dirty="0"/>
              <a:t>。</a:t>
            </a:r>
            <a:endParaRPr lang="en-US" altLang="zh-TW" dirty="0"/>
          </a:p>
          <a:p>
            <a:pPr marL="158750" indent="0">
              <a:buNone/>
            </a:pPr>
            <a:endParaRPr lang="zh-TW" altLang="en-US" dirty="0"/>
          </a:p>
          <a:p>
            <a:pPr marL="158750" indent="0">
              <a:buNone/>
            </a:pPr>
            <a:r>
              <a:rPr lang="zh-TW" altLang="en-US" dirty="0"/>
              <a:t>這篇研究的核心問題是：在偏遠 </a:t>
            </a:r>
            <a:r>
              <a:rPr lang="en-US" altLang="zh-TW" dirty="0"/>
              <a:t>IoT </a:t>
            </a:r>
            <a:r>
              <a:rPr lang="zh-TW" altLang="en-US" dirty="0"/>
              <a:t>場景中，</a:t>
            </a:r>
            <a:r>
              <a:rPr lang="en-US" altLang="zh-TW" dirty="0"/>
              <a:t>sensor data </a:t>
            </a:r>
            <a:r>
              <a:rPr lang="zh-TW" altLang="en-US" dirty="0"/>
              <a:t>不只是要送到 </a:t>
            </a:r>
            <a:r>
              <a:rPr lang="en-US" altLang="zh-TW" dirty="0"/>
              <a:t>satellite</a:t>
            </a:r>
            <a:r>
              <a:rPr lang="zh-TW" altLang="en-US" dirty="0"/>
              <a:t>，更重要的是要在各自的 </a:t>
            </a:r>
            <a:r>
              <a:rPr lang="en-US" altLang="zh-TW" dirty="0"/>
              <a:t>deadline </a:t>
            </a:r>
            <a:r>
              <a:rPr lang="zh-TW" altLang="en-US" dirty="0"/>
              <a:t>前送到。因此，我們提出一個 </a:t>
            </a:r>
            <a:r>
              <a:rPr lang="en-US" altLang="zh-TW" dirty="0"/>
              <a:t>deadline-aware </a:t>
            </a:r>
            <a:r>
              <a:rPr lang="zh-TW" altLang="en-US" dirty="0"/>
              <a:t>的階層式架構，利用 </a:t>
            </a:r>
            <a:r>
              <a:rPr lang="en-US" altLang="zh-TW" dirty="0"/>
              <a:t>UAV fleet </a:t>
            </a:r>
            <a:r>
              <a:rPr lang="zh-TW" altLang="en-US" dirty="0"/>
              <a:t>協助資料收集、</a:t>
            </a:r>
            <a:r>
              <a:rPr lang="en-US" altLang="zh-TW" dirty="0"/>
              <a:t>relay </a:t>
            </a:r>
            <a:r>
              <a:rPr lang="zh-TW" altLang="en-US" dirty="0"/>
              <a:t>和 </a:t>
            </a:r>
            <a:r>
              <a:rPr lang="en-US" altLang="zh-TW" dirty="0"/>
              <a:t>satellite upload</a:t>
            </a:r>
            <a:r>
              <a:rPr lang="zh-TW" altLang="en-US" dirty="0"/>
              <a:t>，目標是提升 </a:t>
            </a:r>
            <a:r>
              <a:rPr lang="en-US" altLang="zh-TW" dirty="0"/>
              <a:t>deadline </a:t>
            </a:r>
            <a:r>
              <a:rPr lang="zh-TW" altLang="en-US" dirty="0"/>
              <a:t>前成功送達的 </a:t>
            </a:r>
            <a:r>
              <a:rPr lang="en-US" altLang="zh-TW" dirty="0"/>
              <a:t>sensor </a:t>
            </a:r>
            <a:r>
              <a:rPr lang="zh-TW" altLang="en-US" dirty="0"/>
              <a:t>數量。</a:t>
            </a:r>
          </a:p>
        </p:txBody>
      </p:sp>
      <p:sp>
        <p:nvSpPr>
          <p:cNvPr id="66" name="Google Shape;66;p1:notes"/>
          <p:cNvSpPr txBox="1">
            <a:spLocks noGrp="1"/>
          </p:cNvSpPr>
          <p:nvPr>
            <p:ph type="sldNum" idx="12"/>
          </p:nvPr>
        </p:nvSpPr>
        <p:spPr>
          <a:xfrm>
            <a:off x="5593123" y="6456612"/>
            <a:ext cx="4278842" cy="34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根據前面所述，我們引入 </a:t>
            </a:r>
            <a:r>
              <a:rPr lang="en-US" altLang="zh-TW" dirty="0"/>
              <a:t>UAV </a:t>
            </a:r>
            <a:r>
              <a:rPr lang="zh-TW" altLang="en-US" dirty="0"/>
              <a:t>作為 </a:t>
            </a:r>
            <a:r>
              <a:rPr lang="en-US" altLang="zh-TW" dirty="0"/>
              <a:t>aerial base station</a:t>
            </a:r>
            <a:r>
              <a:rPr lang="zh-TW" altLang="en-US" dirty="0"/>
              <a:t>，讓 </a:t>
            </a:r>
            <a:r>
              <a:rPr lang="en-US" altLang="zh-TW" dirty="0"/>
              <a:t>UAV </a:t>
            </a:r>
            <a:r>
              <a:rPr lang="zh-TW" altLang="en-US" dirty="0"/>
              <a:t>可以在地面 </a:t>
            </a:r>
            <a:r>
              <a:rPr lang="en-US" altLang="zh-TW" dirty="0"/>
              <a:t>sensor </a:t>
            </a:r>
            <a:r>
              <a:rPr lang="zh-TW" altLang="en-US" dirty="0"/>
              <a:t>和 </a:t>
            </a:r>
            <a:r>
              <a:rPr lang="en-US" altLang="zh-TW" dirty="0"/>
              <a:t>LEO satellite </a:t>
            </a:r>
            <a:r>
              <a:rPr lang="zh-TW" altLang="en-US" dirty="0"/>
              <a:t>之間扮演中繼的角色，幫助我們可以做</a:t>
            </a:r>
            <a:r>
              <a:rPr lang="en-US" altLang="zh-TW" dirty="0"/>
              <a:t>deadline-aware</a:t>
            </a:r>
            <a:r>
              <a:rPr lang="zh-TW" altLang="en-US" dirty="0"/>
              <a:t>的資料收集。</a:t>
            </a:r>
            <a:endParaRPr lang="en-US" altLang="zh-TW" dirty="0"/>
          </a:p>
          <a:p>
            <a:r>
              <a:rPr lang="zh-TW" altLang="en-US" dirty="0"/>
              <a:t>同時在</a:t>
            </a:r>
            <a:r>
              <a:rPr lang="en-US" altLang="zh-TW" dirty="0"/>
              <a:t>6G</a:t>
            </a:r>
            <a:r>
              <a:rPr lang="zh-TW" altLang="en-US" dirty="0"/>
              <a:t> </a:t>
            </a:r>
            <a:r>
              <a:rPr lang="en-US" altLang="zh-TW" dirty="0"/>
              <a:t>SAGIN</a:t>
            </a:r>
            <a:r>
              <a:rPr lang="zh-TW" altLang="en-US" dirty="0"/>
              <a:t>的架構下，可以直接透過</a:t>
            </a:r>
            <a:r>
              <a:rPr lang="en-US" altLang="zh-TW" dirty="0"/>
              <a:t>UAV</a:t>
            </a:r>
            <a:r>
              <a:rPr lang="zh-TW" altLang="en-US" dirty="0"/>
              <a:t>上傳到衛星，不用飛回附近的地面</a:t>
            </a:r>
            <a:r>
              <a:rPr lang="en-US" altLang="zh-TW" dirty="0"/>
              <a:t>BS</a:t>
            </a:r>
            <a:r>
              <a:rPr lang="zh-TW" altLang="en-US" dirty="0"/>
              <a:t>上傳。</a:t>
            </a:r>
            <a:endParaRPr lang="en-US" altLang="zh-TW" dirty="0"/>
          </a:p>
          <a:p>
            <a:endParaRPr lang="zh-TW" altLang="en-US" dirty="0"/>
          </a:p>
          <a:p>
            <a:r>
              <a:rPr lang="zh-TW" altLang="en-US" dirty="0"/>
              <a:t>但引入 </a:t>
            </a:r>
            <a:r>
              <a:rPr lang="en-US" altLang="zh-TW" dirty="0"/>
              <a:t>UAV </a:t>
            </a:r>
            <a:r>
              <a:rPr lang="zh-TW" altLang="en-US" dirty="0"/>
              <a:t>之後，真正的問題就變成如何有效地安排 </a:t>
            </a:r>
            <a:r>
              <a:rPr lang="en-US" altLang="zh-TW" dirty="0"/>
              <a:t>UAV</a:t>
            </a:r>
            <a:r>
              <a:rPr lang="zh-TW" altLang="en-US" dirty="0"/>
              <a:t>。</a:t>
            </a:r>
          </a:p>
          <a:p>
            <a:r>
              <a:rPr lang="zh-TW" altLang="en-US" dirty="0"/>
              <a:t>第一個 </a:t>
            </a:r>
            <a:r>
              <a:rPr lang="en-US" altLang="zh-TW" dirty="0"/>
              <a:t>challenge </a:t>
            </a:r>
            <a:r>
              <a:rPr lang="zh-TW" altLang="en-US" dirty="0"/>
              <a:t>是，不同 </a:t>
            </a:r>
            <a:r>
              <a:rPr lang="en-US" altLang="zh-TW" dirty="0"/>
              <a:t>area </a:t>
            </a:r>
            <a:r>
              <a:rPr lang="zh-TW" altLang="en-US" dirty="0"/>
              <a:t>的不同</a:t>
            </a:r>
            <a:r>
              <a:rPr lang="en-US" altLang="zh-TW" dirty="0"/>
              <a:t>sensor</a:t>
            </a:r>
            <a:r>
              <a:rPr lang="zh-TW" altLang="en-US" dirty="0"/>
              <a:t>的 </a:t>
            </a:r>
            <a:r>
              <a:rPr lang="en-US" altLang="zh-TW" dirty="0"/>
              <a:t>demand </a:t>
            </a:r>
            <a:r>
              <a:rPr lang="zh-TW" altLang="en-US" dirty="0"/>
              <a:t>和 </a:t>
            </a:r>
            <a:r>
              <a:rPr lang="en-US" altLang="zh-TW" dirty="0"/>
              <a:t>deadline </a:t>
            </a:r>
            <a:r>
              <a:rPr lang="zh-TW" altLang="en-US" dirty="0"/>
              <a:t>都具有異質性。</a:t>
            </a:r>
            <a:endParaRPr lang="en-US" altLang="zh-TW" dirty="0"/>
          </a:p>
          <a:p>
            <a:pPr lvl="1"/>
            <a:r>
              <a:rPr lang="zh-TW" altLang="en-US" dirty="0"/>
              <a:t>有些區域資料量很大但不急，有些區域資料量較小但 </a:t>
            </a:r>
            <a:r>
              <a:rPr lang="en-US" altLang="zh-TW" dirty="0"/>
              <a:t>deadline </a:t>
            </a:r>
            <a:r>
              <a:rPr lang="zh-TW" altLang="en-US" dirty="0"/>
              <a:t>很緊。</a:t>
            </a:r>
            <a:endParaRPr lang="en-US" altLang="zh-TW" dirty="0"/>
          </a:p>
          <a:p>
            <a:pPr lvl="1"/>
            <a:r>
              <a:rPr lang="zh-TW" altLang="en-US" dirty="0"/>
              <a:t>如果只看距離，可能會忽略 </a:t>
            </a:r>
            <a:r>
              <a:rPr lang="en-US" altLang="zh-TW" dirty="0"/>
              <a:t>urgent tasks</a:t>
            </a:r>
            <a:r>
              <a:rPr lang="zh-TW" altLang="en-US" dirty="0"/>
              <a:t>；但如果只看 </a:t>
            </a:r>
            <a:r>
              <a:rPr lang="en-US" altLang="zh-TW" dirty="0"/>
              <a:t>deadline</a:t>
            </a:r>
            <a:r>
              <a:rPr lang="zh-TW" altLang="en-US" dirty="0"/>
              <a:t>，也可能讓 </a:t>
            </a:r>
            <a:r>
              <a:rPr lang="en-US" altLang="zh-TW" dirty="0"/>
              <a:t>UAV </a:t>
            </a:r>
            <a:r>
              <a:rPr lang="zh-TW" altLang="en-US" dirty="0"/>
              <a:t>在不同區域之間來回追急件，造成不必要的飛行成本</a:t>
            </a:r>
            <a:endParaRPr lang="en-US" altLang="zh-TW" dirty="0"/>
          </a:p>
          <a:p>
            <a:r>
              <a:rPr lang="en-US" altLang="zh-TW" dirty="0"/>
              <a:t>-&gt;</a:t>
            </a:r>
            <a:r>
              <a:rPr lang="zh-TW" altLang="en-US" dirty="0"/>
              <a:t>是不是可以把相似的</a:t>
            </a:r>
            <a:r>
              <a:rPr lang="en-US" altLang="zh-TW" dirty="0"/>
              <a:t>sensor</a:t>
            </a:r>
            <a:r>
              <a:rPr lang="zh-TW" altLang="en-US" dirty="0"/>
              <a:t>歸類再一起給</a:t>
            </a:r>
            <a:r>
              <a:rPr lang="en-US" altLang="zh-TW" dirty="0"/>
              <a:t>UAV</a:t>
            </a:r>
            <a:r>
              <a:rPr lang="zh-TW" altLang="en-US" dirty="0"/>
              <a:t>一起收集</a:t>
            </a:r>
            <a:r>
              <a:rPr lang="en-US" altLang="zh-TW" dirty="0"/>
              <a:t>?</a:t>
            </a:r>
          </a:p>
          <a:p>
            <a:endParaRPr lang="en-US" altLang="zh-TW" dirty="0"/>
          </a:p>
          <a:p>
            <a:r>
              <a:rPr lang="zh-TW" altLang="en-US" dirty="0"/>
              <a:t>第二個 </a:t>
            </a:r>
            <a:r>
              <a:rPr lang="en-US" altLang="zh-TW" dirty="0"/>
              <a:t>challenge </a:t>
            </a:r>
            <a:r>
              <a:rPr lang="zh-TW" altLang="en-US" dirty="0"/>
              <a:t>是，</a:t>
            </a:r>
            <a:r>
              <a:rPr lang="en-US" altLang="zh-TW" dirty="0"/>
              <a:t>UAV </a:t>
            </a:r>
            <a:r>
              <a:rPr lang="zh-TW" altLang="en-US" dirty="0"/>
              <a:t>的 </a:t>
            </a:r>
            <a:r>
              <a:rPr lang="en-US" altLang="zh-TW" dirty="0"/>
              <a:t>scheduling order </a:t>
            </a:r>
            <a:r>
              <a:rPr lang="zh-TW" altLang="en-US" dirty="0"/>
              <a:t>會直接影響最後的 </a:t>
            </a:r>
            <a:r>
              <a:rPr lang="en-US" altLang="zh-TW" dirty="0"/>
              <a:t>success number</a:t>
            </a:r>
            <a:r>
              <a:rPr lang="zh-TW" altLang="en-US" dirty="0"/>
              <a:t>。即使區域分得合理，如果拜訪順序不好，資料還是可能因為 </a:t>
            </a:r>
            <a:r>
              <a:rPr lang="en-US" altLang="zh-TW" dirty="0"/>
              <a:t>travel time</a:t>
            </a:r>
            <a:r>
              <a:rPr lang="zh-TW" altLang="en-US" dirty="0"/>
              <a:t>、</a:t>
            </a:r>
            <a:r>
              <a:rPr lang="en-US" altLang="zh-TW" dirty="0"/>
              <a:t>relay delay </a:t>
            </a:r>
            <a:r>
              <a:rPr lang="zh-TW" altLang="en-US" dirty="0"/>
              <a:t>或 </a:t>
            </a:r>
            <a:r>
              <a:rPr lang="en-US" altLang="zh-TW" dirty="0"/>
              <a:t>satellite upload delay </a:t>
            </a:r>
            <a:r>
              <a:rPr lang="zh-TW" altLang="en-US" dirty="0"/>
              <a:t>而錯過 </a:t>
            </a:r>
            <a:r>
              <a:rPr lang="en-US" altLang="zh-TW" dirty="0"/>
              <a:t>deadline</a:t>
            </a:r>
            <a:r>
              <a:rPr lang="zh-TW" altLang="en-US" dirty="0"/>
              <a:t>。</a:t>
            </a:r>
          </a:p>
          <a:p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6470565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這一頁是我們的 </a:t>
            </a:r>
            <a:r>
              <a:rPr lang="en-US" altLang="zh-TW" dirty="0"/>
              <a:t>system architecture</a:t>
            </a:r>
            <a:r>
              <a:rPr lang="zh-TW" altLang="en-US" dirty="0"/>
              <a:t>。</a:t>
            </a:r>
          </a:p>
          <a:p>
            <a:r>
              <a:rPr lang="zh-TW" altLang="en-US" dirty="0"/>
              <a:t>整個資料流可以分成三個階段：第一階段是 </a:t>
            </a:r>
            <a:r>
              <a:rPr lang="en-US" altLang="zh-TW" dirty="0"/>
              <a:t>ground sensors </a:t>
            </a:r>
            <a:r>
              <a:rPr lang="zh-TW" altLang="en-US" dirty="0"/>
              <a:t>把資料傳給 </a:t>
            </a:r>
            <a:r>
              <a:rPr lang="en-US" altLang="zh-TW" dirty="0"/>
              <a:t>slave UAV</a:t>
            </a:r>
            <a:r>
              <a:rPr lang="zh-TW" altLang="en-US" dirty="0"/>
              <a:t>；第二階段是 </a:t>
            </a:r>
            <a:r>
              <a:rPr lang="en-US" altLang="zh-TW" dirty="0"/>
              <a:t>slave UAV </a:t>
            </a:r>
            <a:r>
              <a:rPr lang="zh-TW" altLang="en-US" dirty="0"/>
              <a:t>把收集到的資料 </a:t>
            </a:r>
            <a:r>
              <a:rPr lang="en-US" altLang="zh-TW" dirty="0"/>
              <a:t>relay </a:t>
            </a:r>
            <a:r>
              <a:rPr lang="zh-TW" altLang="en-US" dirty="0"/>
              <a:t>給 </a:t>
            </a:r>
            <a:r>
              <a:rPr lang="en-US" altLang="zh-TW" dirty="0"/>
              <a:t>master UAV</a:t>
            </a:r>
            <a:r>
              <a:rPr lang="zh-TW" altLang="en-US" dirty="0"/>
              <a:t>；第三階段是 </a:t>
            </a:r>
            <a:r>
              <a:rPr lang="en-US" altLang="zh-TW" dirty="0"/>
              <a:t>master UAV </a:t>
            </a:r>
            <a:r>
              <a:rPr lang="zh-TW" altLang="en-US" dirty="0"/>
              <a:t>在 </a:t>
            </a:r>
            <a:r>
              <a:rPr lang="en-US" altLang="zh-TW" dirty="0"/>
              <a:t>LEO satellite visible window </a:t>
            </a:r>
            <a:r>
              <a:rPr lang="zh-TW" altLang="en-US" dirty="0"/>
              <a:t>內，把資料上傳到 </a:t>
            </a:r>
            <a:r>
              <a:rPr lang="en-US" altLang="zh-TW" dirty="0"/>
              <a:t>satellite</a:t>
            </a:r>
            <a:r>
              <a:rPr lang="zh-TW" altLang="en-US" dirty="0"/>
              <a:t>。</a:t>
            </a:r>
          </a:p>
          <a:p>
            <a:endParaRPr lang="en-US" altLang="zh-TW" dirty="0"/>
          </a:p>
          <a:p>
            <a:r>
              <a:rPr lang="zh-TW" altLang="en-US" dirty="0"/>
              <a:t>在這個架構中，</a:t>
            </a:r>
            <a:r>
              <a:rPr lang="en-US" altLang="zh-TW" dirty="0"/>
              <a:t>slave UAVs </a:t>
            </a:r>
            <a:r>
              <a:rPr lang="zh-TW" altLang="en-US" dirty="0"/>
              <a:t>主要負責靠近 </a:t>
            </a:r>
            <a:r>
              <a:rPr lang="en-US" altLang="zh-TW" dirty="0"/>
              <a:t>ground sensors </a:t>
            </a:r>
            <a:r>
              <a:rPr lang="zh-TW" altLang="en-US" dirty="0"/>
              <a:t>並收集資料，而 </a:t>
            </a:r>
            <a:r>
              <a:rPr lang="en-US" altLang="zh-TW" dirty="0"/>
              <a:t>master UAV </a:t>
            </a:r>
            <a:r>
              <a:rPr lang="zh-TW" altLang="en-US" dirty="0"/>
              <a:t>則負責彙整資料，並維持與 </a:t>
            </a:r>
            <a:r>
              <a:rPr lang="en-US" altLang="zh-TW" dirty="0"/>
              <a:t>LEO satellite </a:t>
            </a:r>
            <a:r>
              <a:rPr lang="zh-TW" altLang="en-US" dirty="0"/>
              <a:t>的 </a:t>
            </a:r>
            <a:r>
              <a:rPr lang="en-US" altLang="zh-TW" dirty="0"/>
              <a:t>uplink</a:t>
            </a:r>
            <a:r>
              <a:rPr lang="zh-TW" altLang="en-US" dirty="0"/>
              <a:t>。</a:t>
            </a:r>
          </a:p>
          <a:p>
            <a:endParaRPr lang="en-US" altLang="zh-TW" dirty="0"/>
          </a:p>
          <a:p>
            <a:r>
              <a:rPr lang="zh-TW" altLang="en-US" dirty="0"/>
              <a:t>這樣設計的目的，是避免所有 </a:t>
            </a:r>
            <a:r>
              <a:rPr lang="en-US" altLang="zh-TW" dirty="0"/>
              <a:t>UAV </a:t>
            </a:r>
            <a:r>
              <a:rPr lang="zh-TW" altLang="en-US" dirty="0"/>
              <a:t>或所有 </a:t>
            </a:r>
            <a:r>
              <a:rPr lang="en-US" altLang="zh-TW" dirty="0"/>
              <a:t>sensors </a:t>
            </a:r>
            <a:r>
              <a:rPr lang="zh-TW" altLang="en-US" dirty="0"/>
              <a:t>都直接嘗試連接 </a:t>
            </a:r>
            <a:r>
              <a:rPr lang="en-US" altLang="zh-TW" dirty="0"/>
              <a:t>satellite</a:t>
            </a:r>
            <a:r>
              <a:rPr lang="zh-TW" altLang="en-US" dirty="0"/>
              <a:t>。因為如果每個節點都直接上傳，會造成 </a:t>
            </a:r>
            <a:r>
              <a:rPr lang="en-US" altLang="zh-TW" dirty="0"/>
              <a:t>uplink competition</a:t>
            </a:r>
            <a:r>
              <a:rPr lang="zh-TW" altLang="en-US" dirty="0"/>
              <a:t>，也可能增加 </a:t>
            </a:r>
            <a:r>
              <a:rPr lang="en-US" altLang="zh-TW" dirty="0"/>
              <a:t>transmission delay</a:t>
            </a:r>
            <a:r>
              <a:rPr lang="zh-TW" altLang="en-US" dirty="0"/>
              <a:t>。因此，我們透過 </a:t>
            </a:r>
            <a:r>
              <a:rPr lang="en-US" altLang="zh-TW" dirty="0"/>
              <a:t>master-slave </a:t>
            </a:r>
            <a:r>
              <a:rPr lang="zh-TW" altLang="en-US" dirty="0"/>
              <a:t>的 </a:t>
            </a:r>
            <a:r>
              <a:rPr lang="en-US" altLang="zh-TW" dirty="0"/>
              <a:t>UAV fleet </a:t>
            </a:r>
            <a:r>
              <a:rPr lang="zh-TW" altLang="en-US" dirty="0"/>
              <a:t>架構，把資料先在空中彙整，再由 </a:t>
            </a:r>
            <a:r>
              <a:rPr lang="en-US" altLang="zh-TW" dirty="0"/>
              <a:t>master UAV </a:t>
            </a:r>
            <a:r>
              <a:rPr lang="zh-TW" altLang="en-US" dirty="0"/>
              <a:t>統一上傳。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9586790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第一個是 </a:t>
            </a:r>
            <a:r>
              <a:rPr lang="en-US" altLang="zh-TW" dirty="0"/>
              <a:t>deadline-aware sensor grouping and clustering</a:t>
            </a:r>
            <a:r>
              <a:rPr lang="zh-TW" altLang="en-US" dirty="0"/>
              <a:t>。目標是先把原本大量、分散的 </a:t>
            </a:r>
            <a:r>
              <a:rPr lang="en-US" altLang="zh-TW" dirty="0"/>
              <a:t>sensors</a:t>
            </a:r>
            <a:r>
              <a:rPr lang="zh-TW" altLang="en-US" dirty="0"/>
              <a:t>，整理成比較有結構的 </a:t>
            </a:r>
            <a:r>
              <a:rPr lang="en-US" altLang="zh-TW" dirty="0"/>
              <a:t>grids </a:t>
            </a:r>
            <a:r>
              <a:rPr lang="zh-TW" altLang="en-US" dirty="0"/>
              <a:t>和 </a:t>
            </a:r>
            <a:r>
              <a:rPr lang="en-US" altLang="zh-TW" dirty="0"/>
              <a:t>clusters</a:t>
            </a:r>
            <a:r>
              <a:rPr lang="zh-TW" altLang="en-US" dirty="0"/>
              <a:t>。這裡不只考慮 </a:t>
            </a:r>
            <a:r>
              <a:rPr lang="en-US" altLang="zh-TW" dirty="0"/>
              <a:t>sensors </a:t>
            </a:r>
            <a:r>
              <a:rPr lang="zh-TW" altLang="en-US" dirty="0"/>
              <a:t>的空間位置，也會考慮 </a:t>
            </a:r>
            <a:r>
              <a:rPr lang="en-US" altLang="zh-TW" dirty="0"/>
              <a:t>deadline urgency</a:t>
            </a:r>
            <a:r>
              <a:rPr lang="zh-TW" altLang="en-US" dirty="0"/>
              <a:t>，避免 </a:t>
            </a:r>
            <a:r>
              <a:rPr lang="en-US" altLang="zh-TW" dirty="0"/>
              <a:t>urgent sensors </a:t>
            </a:r>
            <a:r>
              <a:rPr lang="zh-TW" altLang="en-US" dirty="0"/>
              <a:t>被混在不適合一起服務的 </a:t>
            </a:r>
            <a:r>
              <a:rPr lang="en-US" altLang="zh-TW" dirty="0"/>
              <a:t>group </a:t>
            </a:r>
            <a:r>
              <a:rPr lang="zh-TW" altLang="en-US" dirty="0"/>
              <a:t>裡面。</a:t>
            </a:r>
          </a:p>
          <a:p>
            <a:r>
              <a:rPr lang="zh-TW" altLang="en-US" dirty="0"/>
              <a:t>第二個是 </a:t>
            </a:r>
            <a:r>
              <a:rPr lang="en-US" altLang="zh-TW" dirty="0"/>
              <a:t>intra-cluster scheduling</a:t>
            </a:r>
            <a:r>
              <a:rPr lang="zh-TW" altLang="en-US" dirty="0"/>
              <a:t>。當 </a:t>
            </a:r>
            <a:r>
              <a:rPr lang="en-US" altLang="zh-TW" dirty="0"/>
              <a:t>UAV fleet </a:t>
            </a:r>
            <a:r>
              <a:rPr lang="zh-TW" altLang="en-US" dirty="0"/>
              <a:t>抵達某個 </a:t>
            </a:r>
            <a:r>
              <a:rPr lang="en-US" altLang="zh-TW" dirty="0"/>
              <a:t>cluster </a:t>
            </a:r>
            <a:r>
              <a:rPr lang="zh-TW" altLang="en-US" dirty="0"/>
              <a:t>之後，系統要決定 </a:t>
            </a:r>
            <a:r>
              <a:rPr lang="en-US" altLang="zh-TW" dirty="0"/>
              <a:t>cluster </a:t>
            </a:r>
            <a:r>
              <a:rPr lang="zh-TW" altLang="en-US" dirty="0"/>
              <a:t>裡面的 </a:t>
            </a:r>
            <a:r>
              <a:rPr lang="en-US" altLang="zh-TW" dirty="0"/>
              <a:t>grids </a:t>
            </a:r>
            <a:r>
              <a:rPr lang="zh-TW" altLang="en-US" dirty="0"/>
              <a:t>要用什麼順序服務，以及每一台 </a:t>
            </a:r>
            <a:r>
              <a:rPr lang="en-US" altLang="zh-TW" dirty="0"/>
              <a:t>UAV </a:t>
            </a:r>
            <a:r>
              <a:rPr lang="zh-TW" altLang="en-US" dirty="0"/>
              <a:t>要被分配到哪一個 </a:t>
            </a:r>
            <a:r>
              <a:rPr lang="en-US" altLang="zh-TW" dirty="0"/>
              <a:t>grid</a:t>
            </a:r>
            <a:r>
              <a:rPr lang="zh-TW" altLang="en-US" dirty="0"/>
              <a:t>。</a:t>
            </a:r>
          </a:p>
          <a:p>
            <a:r>
              <a:rPr lang="zh-TW" altLang="en-US" dirty="0"/>
              <a:t>第三個是 </a:t>
            </a:r>
            <a:r>
              <a:rPr lang="en-US" altLang="zh-TW" dirty="0"/>
              <a:t>inter-cluster scheduling</a:t>
            </a:r>
            <a:r>
              <a:rPr lang="zh-TW" altLang="en-US" dirty="0"/>
              <a:t>。這個 </a:t>
            </a:r>
            <a:r>
              <a:rPr lang="en-US" altLang="zh-TW" dirty="0"/>
              <a:t>module </a:t>
            </a:r>
            <a:r>
              <a:rPr lang="zh-TW" altLang="en-US" dirty="0"/>
              <a:t>則是決定 </a:t>
            </a:r>
            <a:r>
              <a:rPr lang="en-US" altLang="zh-TW" dirty="0"/>
              <a:t>UAV fleet </a:t>
            </a:r>
            <a:r>
              <a:rPr lang="zh-TW" altLang="en-US" dirty="0"/>
              <a:t>在不同 </a:t>
            </a:r>
            <a:r>
              <a:rPr lang="en-US" altLang="zh-TW" dirty="0"/>
              <a:t>clusters </a:t>
            </a:r>
            <a:r>
              <a:rPr lang="zh-TW" altLang="en-US" dirty="0"/>
              <a:t>之間的移動順序，也就是下一個應該去哪一個 </a:t>
            </a:r>
            <a:r>
              <a:rPr lang="en-US" altLang="zh-TW" dirty="0"/>
              <a:t>cluster</a:t>
            </a:r>
            <a:r>
              <a:rPr lang="zh-TW" altLang="en-US" dirty="0"/>
              <a:t>。</a:t>
            </a:r>
          </a:p>
          <a:p>
            <a:endParaRPr lang="en-TW" dirty="0"/>
          </a:p>
        </p:txBody>
      </p:sp>
    </p:spTree>
    <p:extLst>
      <p:ext uri="{BB962C8B-B14F-4D97-AF65-F5344CB8AC3E}">
        <p14:creationId xmlns:p14="http://schemas.microsoft.com/office/powerpoint/2010/main" val="10036104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E3E355-AEC5-AABF-8B36-71E49E783F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92D45E18-E775-25CD-9DC0-E1C8E3353F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57138E72-967D-936A-E765-45DF91BEC4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這一頁是我們的 </a:t>
            </a:r>
            <a:r>
              <a:rPr lang="en-US" altLang="zh-TW" dirty="0"/>
              <a:t>system architecture</a:t>
            </a:r>
            <a:r>
              <a:rPr lang="zh-TW" altLang="en-US" dirty="0"/>
              <a:t>。</a:t>
            </a:r>
          </a:p>
          <a:p>
            <a:r>
              <a:rPr lang="zh-TW" altLang="en-US" dirty="0"/>
              <a:t>整個資料流可以分成三個階段：第一階段是 </a:t>
            </a:r>
            <a:r>
              <a:rPr lang="en-US" altLang="zh-TW" dirty="0"/>
              <a:t>ground sensors </a:t>
            </a:r>
            <a:r>
              <a:rPr lang="zh-TW" altLang="en-US" dirty="0"/>
              <a:t>把資料傳給 </a:t>
            </a:r>
            <a:r>
              <a:rPr lang="en-US" altLang="zh-TW" dirty="0"/>
              <a:t>slave UAV</a:t>
            </a:r>
            <a:r>
              <a:rPr lang="zh-TW" altLang="en-US" dirty="0"/>
              <a:t>；第二階段是 </a:t>
            </a:r>
            <a:r>
              <a:rPr lang="en-US" altLang="zh-TW" dirty="0"/>
              <a:t>slave UAV </a:t>
            </a:r>
            <a:r>
              <a:rPr lang="zh-TW" altLang="en-US" dirty="0"/>
              <a:t>把收集到的資料 </a:t>
            </a:r>
            <a:r>
              <a:rPr lang="en-US" altLang="zh-TW" dirty="0"/>
              <a:t>relay </a:t>
            </a:r>
            <a:r>
              <a:rPr lang="zh-TW" altLang="en-US" dirty="0"/>
              <a:t>給 </a:t>
            </a:r>
            <a:r>
              <a:rPr lang="en-US" altLang="zh-TW" dirty="0"/>
              <a:t>master UAV</a:t>
            </a:r>
            <a:r>
              <a:rPr lang="zh-TW" altLang="en-US" dirty="0"/>
              <a:t>；第三階段是 </a:t>
            </a:r>
            <a:r>
              <a:rPr lang="en-US" altLang="zh-TW" dirty="0"/>
              <a:t>master UAV </a:t>
            </a:r>
            <a:r>
              <a:rPr lang="zh-TW" altLang="en-US" dirty="0"/>
              <a:t>在 </a:t>
            </a:r>
            <a:r>
              <a:rPr lang="en-US" altLang="zh-TW" dirty="0"/>
              <a:t>LEO satellite visible window </a:t>
            </a:r>
            <a:r>
              <a:rPr lang="zh-TW" altLang="en-US" dirty="0"/>
              <a:t>內，把資料上傳到 </a:t>
            </a:r>
            <a:r>
              <a:rPr lang="en-US" altLang="zh-TW" dirty="0"/>
              <a:t>satellite</a:t>
            </a:r>
            <a:r>
              <a:rPr lang="zh-TW" altLang="en-US" dirty="0"/>
              <a:t>。</a:t>
            </a:r>
          </a:p>
          <a:p>
            <a:endParaRPr lang="en-US" altLang="zh-TW" dirty="0"/>
          </a:p>
          <a:p>
            <a:r>
              <a:rPr lang="zh-TW" altLang="en-US" dirty="0"/>
              <a:t>在這個架構中，</a:t>
            </a:r>
            <a:r>
              <a:rPr lang="en-US" altLang="zh-TW" dirty="0"/>
              <a:t>slave UAVs </a:t>
            </a:r>
            <a:r>
              <a:rPr lang="zh-TW" altLang="en-US" dirty="0"/>
              <a:t>主要負責靠近 </a:t>
            </a:r>
            <a:r>
              <a:rPr lang="en-US" altLang="zh-TW" dirty="0"/>
              <a:t>ground sensors </a:t>
            </a:r>
            <a:r>
              <a:rPr lang="zh-TW" altLang="en-US" dirty="0"/>
              <a:t>並收集資料，而 </a:t>
            </a:r>
            <a:r>
              <a:rPr lang="en-US" altLang="zh-TW" dirty="0"/>
              <a:t>master UAV </a:t>
            </a:r>
            <a:r>
              <a:rPr lang="zh-TW" altLang="en-US" dirty="0"/>
              <a:t>則負責彙整資料，並維持與 </a:t>
            </a:r>
            <a:r>
              <a:rPr lang="en-US" altLang="zh-TW" dirty="0"/>
              <a:t>LEO satellite </a:t>
            </a:r>
            <a:r>
              <a:rPr lang="zh-TW" altLang="en-US" dirty="0"/>
              <a:t>的 </a:t>
            </a:r>
            <a:r>
              <a:rPr lang="en-US" altLang="zh-TW" dirty="0"/>
              <a:t>uplink</a:t>
            </a:r>
            <a:r>
              <a:rPr lang="zh-TW" altLang="en-US" dirty="0"/>
              <a:t>。</a:t>
            </a:r>
          </a:p>
          <a:p>
            <a:endParaRPr lang="en-US" altLang="zh-TW" dirty="0"/>
          </a:p>
          <a:p>
            <a:r>
              <a:rPr lang="zh-TW" altLang="en-US" dirty="0"/>
              <a:t>這樣設計的目的，是避免所有 </a:t>
            </a:r>
            <a:r>
              <a:rPr lang="en-US" altLang="zh-TW" dirty="0"/>
              <a:t>UAV </a:t>
            </a:r>
            <a:r>
              <a:rPr lang="zh-TW" altLang="en-US" dirty="0"/>
              <a:t>或所有 </a:t>
            </a:r>
            <a:r>
              <a:rPr lang="en-US" altLang="zh-TW" dirty="0"/>
              <a:t>sensors </a:t>
            </a:r>
            <a:r>
              <a:rPr lang="zh-TW" altLang="en-US" dirty="0"/>
              <a:t>都直接嘗試連接 </a:t>
            </a:r>
            <a:r>
              <a:rPr lang="en-US" altLang="zh-TW" dirty="0"/>
              <a:t>satellite</a:t>
            </a:r>
            <a:r>
              <a:rPr lang="zh-TW" altLang="en-US" dirty="0"/>
              <a:t>。因為如果每個節點都直接上傳，會造成 </a:t>
            </a:r>
            <a:r>
              <a:rPr lang="en-US" altLang="zh-TW" dirty="0"/>
              <a:t>uplink competition</a:t>
            </a:r>
            <a:r>
              <a:rPr lang="zh-TW" altLang="en-US" dirty="0"/>
              <a:t>，也可能增加 </a:t>
            </a:r>
            <a:r>
              <a:rPr lang="en-US" altLang="zh-TW" dirty="0"/>
              <a:t>transmission delay</a:t>
            </a:r>
            <a:r>
              <a:rPr lang="zh-TW" altLang="en-US" dirty="0"/>
              <a:t>。因此，我們透過 </a:t>
            </a:r>
            <a:r>
              <a:rPr lang="en-US" altLang="zh-TW" dirty="0"/>
              <a:t>master-slave </a:t>
            </a:r>
            <a:r>
              <a:rPr lang="zh-TW" altLang="en-US" dirty="0"/>
              <a:t>的 </a:t>
            </a:r>
            <a:r>
              <a:rPr lang="en-US" altLang="zh-TW" dirty="0"/>
              <a:t>UAV fleet </a:t>
            </a:r>
            <a:r>
              <a:rPr lang="zh-TW" altLang="en-US" dirty="0"/>
              <a:t>架構，把資料先在空中彙整，再由 </a:t>
            </a:r>
            <a:r>
              <a:rPr lang="en-US" altLang="zh-TW" dirty="0"/>
              <a:t>master UAV </a:t>
            </a:r>
            <a:r>
              <a:rPr lang="zh-TW" altLang="en-US" dirty="0"/>
              <a:t>統一上傳。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2426558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30D282-2B30-316F-81FB-5F78FF11A6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1787ADE-9B37-4F6D-CBE7-160E116FCB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DB33FDBB-D839-EA9F-EBB9-48FE07C445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這一頁是我們的 </a:t>
            </a:r>
            <a:r>
              <a:rPr lang="en-US" altLang="zh-TW" dirty="0"/>
              <a:t>system architecture</a:t>
            </a:r>
            <a:r>
              <a:rPr lang="zh-TW" altLang="en-US" dirty="0"/>
              <a:t>。</a:t>
            </a:r>
          </a:p>
          <a:p>
            <a:r>
              <a:rPr lang="zh-TW" altLang="en-US" dirty="0"/>
              <a:t>整個資料流可以分成三個階段：第一階段是 </a:t>
            </a:r>
            <a:r>
              <a:rPr lang="en-US" altLang="zh-TW" dirty="0"/>
              <a:t>ground sensors </a:t>
            </a:r>
            <a:r>
              <a:rPr lang="zh-TW" altLang="en-US" dirty="0"/>
              <a:t>把資料傳給 </a:t>
            </a:r>
            <a:r>
              <a:rPr lang="en-US" altLang="zh-TW" dirty="0"/>
              <a:t>slave UAV</a:t>
            </a:r>
            <a:r>
              <a:rPr lang="zh-TW" altLang="en-US" dirty="0"/>
              <a:t>；第二階段是 </a:t>
            </a:r>
            <a:r>
              <a:rPr lang="en-US" altLang="zh-TW" dirty="0"/>
              <a:t>slave UAV </a:t>
            </a:r>
            <a:r>
              <a:rPr lang="zh-TW" altLang="en-US" dirty="0"/>
              <a:t>把收集到的資料 </a:t>
            </a:r>
            <a:r>
              <a:rPr lang="en-US" altLang="zh-TW" dirty="0"/>
              <a:t>relay </a:t>
            </a:r>
            <a:r>
              <a:rPr lang="zh-TW" altLang="en-US" dirty="0"/>
              <a:t>給 </a:t>
            </a:r>
            <a:r>
              <a:rPr lang="en-US" altLang="zh-TW" dirty="0"/>
              <a:t>master UAV</a:t>
            </a:r>
            <a:r>
              <a:rPr lang="zh-TW" altLang="en-US" dirty="0"/>
              <a:t>；第三階段是 </a:t>
            </a:r>
            <a:r>
              <a:rPr lang="en-US" altLang="zh-TW" dirty="0"/>
              <a:t>master UAV </a:t>
            </a:r>
            <a:r>
              <a:rPr lang="zh-TW" altLang="en-US" dirty="0"/>
              <a:t>在 </a:t>
            </a:r>
            <a:r>
              <a:rPr lang="en-US" altLang="zh-TW" dirty="0"/>
              <a:t>LEO satellite visible window </a:t>
            </a:r>
            <a:r>
              <a:rPr lang="zh-TW" altLang="en-US" dirty="0"/>
              <a:t>內，把資料上傳到 </a:t>
            </a:r>
            <a:r>
              <a:rPr lang="en-US" altLang="zh-TW" dirty="0"/>
              <a:t>satellite</a:t>
            </a:r>
            <a:r>
              <a:rPr lang="zh-TW" altLang="en-US" dirty="0"/>
              <a:t>。</a:t>
            </a:r>
          </a:p>
          <a:p>
            <a:endParaRPr lang="en-US" altLang="zh-TW" dirty="0"/>
          </a:p>
          <a:p>
            <a:r>
              <a:rPr lang="zh-TW" altLang="en-US" dirty="0"/>
              <a:t>在這個架構中，</a:t>
            </a:r>
            <a:r>
              <a:rPr lang="en-US" altLang="zh-TW" dirty="0"/>
              <a:t>slave UAVs </a:t>
            </a:r>
            <a:r>
              <a:rPr lang="zh-TW" altLang="en-US" dirty="0"/>
              <a:t>主要負責靠近 </a:t>
            </a:r>
            <a:r>
              <a:rPr lang="en-US" altLang="zh-TW" dirty="0"/>
              <a:t>ground sensors </a:t>
            </a:r>
            <a:r>
              <a:rPr lang="zh-TW" altLang="en-US" dirty="0"/>
              <a:t>並收集資料，而 </a:t>
            </a:r>
            <a:r>
              <a:rPr lang="en-US" altLang="zh-TW" dirty="0"/>
              <a:t>master UAV </a:t>
            </a:r>
            <a:r>
              <a:rPr lang="zh-TW" altLang="en-US" dirty="0"/>
              <a:t>則負責彙整資料，並維持與 </a:t>
            </a:r>
            <a:r>
              <a:rPr lang="en-US" altLang="zh-TW" dirty="0"/>
              <a:t>LEO satellite </a:t>
            </a:r>
            <a:r>
              <a:rPr lang="zh-TW" altLang="en-US" dirty="0"/>
              <a:t>的 </a:t>
            </a:r>
            <a:r>
              <a:rPr lang="en-US" altLang="zh-TW" dirty="0"/>
              <a:t>uplink</a:t>
            </a:r>
            <a:r>
              <a:rPr lang="zh-TW" altLang="en-US" dirty="0"/>
              <a:t>。</a:t>
            </a:r>
          </a:p>
          <a:p>
            <a:endParaRPr lang="en-US" altLang="zh-TW" dirty="0"/>
          </a:p>
          <a:p>
            <a:r>
              <a:rPr lang="zh-TW" altLang="en-US" dirty="0"/>
              <a:t>這樣設計的目的，是避免所有 </a:t>
            </a:r>
            <a:r>
              <a:rPr lang="en-US" altLang="zh-TW" dirty="0"/>
              <a:t>UAV </a:t>
            </a:r>
            <a:r>
              <a:rPr lang="zh-TW" altLang="en-US" dirty="0"/>
              <a:t>或所有 </a:t>
            </a:r>
            <a:r>
              <a:rPr lang="en-US" altLang="zh-TW" dirty="0"/>
              <a:t>sensors </a:t>
            </a:r>
            <a:r>
              <a:rPr lang="zh-TW" altLang="en-US" dirty="0"/>
              <a:t>都直接嘗試連接 </a:t>
            </a:r>
            <a:r>
              <a:rPr lang="en-US" altLang="zh-TW" dirty="0"/>
              <a:t>satellite</a:t>
            </a:r>
            <a:r>
              <a:rPr lang="zh-TW" altLang="en-US" dirty="0"/>
              <a:t>。因為如果每個節點都直接上傳，會造成 </a:t>
            </a:r>
            <a:r>
              <a:rPr lang="en-US" altLang="zh-TW" dirty="0"/>
              <a:t>uplink competition</a:t>
            </a:r>
            <a:r>
              <a:rPr lang="zh-TW" altLang="en-US" dirty="0"/>
              <a:t>，也可能增加 </a:t>
            </a:r>
            <a:r>
              <a:rPr lang="en-US" altLang="zh-TW" dirty="0"/>
              <a:t>transmission delay</a:t>
            </a:r>
            <a:r>
              <a:rPr lang="zh-TW" altLang="en-US" dirty="0"/>
              <a:t>。因此，我們透過 </a:t>
            </a:r>
            <a:r>
              <a:rPr lang="en-US" altLang="zh-TW" dirty="0"/>
              <a:t>master-slave </a:t>
            </a:r>
            <a:r>
              <a:rPr lang="zh-TW" altLang="en-US" dirty="0"/>
              <a:t>的 </a:t>
            </a:r>
            <a:r>
              <a:rPr lang="en-US" altLang="zh-TW" dirty="0"/>
              <a:t>UAV fleet </a:t>
            </a:r>
            <a:r>
              <a:rPr lang="zh-TW" altLang="en-US" dirty="0"/>
              <a:t>架構，把資料先在空中彙整，再由 </a:t>
            </a:r>
            <a:r>
              <a:rPr lang="en-US" altLang="zh-TW" dirty="0"/>
              <a:t>master UAV </a:t>
            </a:r>
            <a:r>
              <a:rPr lang="zh-TW" altLang="en-US" dirty="0"/>
              <a:t>統一上傳。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1611272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096D4F-46A6-3C4B-6340-399A385738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03D54FD3-CF72-799F-AC07-9734EBF4EA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382E45A2-6C00-5FC9-FEAB-B4269C34A8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這一頁是我們的 </a:t>
            </a:r>
            <a:r>
              <a:rPr lang="en-US" altLang="zh-TW" dirty="0"/>
              <a:t>system architecture</a:t>
            </a:r>
            <a:r>
              <a:rPr lang="zh-TW" altLang="en-US" dirty="0"/>
              <a:t>。</a:t>
            </a:r>
          </a:p>
          <a:p>
            <a:r>
              <a:rPr lang="zh-TW" altLang="en-US" dirty="0"/>
              <a:t>整個資料流可以分成三個階段：第一階段是 </a:t>
            </a:r>
            <a:r>
              <a:rPr lang="en-US" altLang="zh-TW" dirty="0"/>
              <a:t>ground sensors </a:t>
            </a:r>
            <a:r>
              <a:rPr lang="zh-TW" altLang="en-US" dirty="0"/>
              <a:t>把資料傳給 </a:t>
            </a:r>
            <a:r>
              <a:rPr lang="en-US" altLang="zh-TW" dirty="0"/>
              <a:t>slave UAV</a:t>
            </a:r>
            <a:r>
              <a:rPr lang="zh-TW" altLang="en-US" dirty="0"/>
              <a:t>；第二階段是 </a:t>
            </a:r>
            <a:r>
              <a:rPr lang="en-US" altLang="zh-TW" dirty="0"/>
              <a:t>slave UAV </a:t>
            </a:r>
            <a:r>
              <a:rPr lang="zh-TW" altLang="en-US" dirty="0"/>
              <a:t>把收集到的資料 </a:t>
            </a:r>
            <a:r>
              <a:rPr lang="en-US" altLang="zh-TW" dirty="0"/>
              <a:t>relay </a:t>
            </a:r>
            <a:r>
              <a:rPr lang="zh-TW" altLang="en-US" dirty="0"/>
              <a:t>給 </a:t>
            </a:r>
            <a:r>
              <a:rPr lang="en-US" altLang="zh-TW" dirty="0"/>
              <a:t>master UAV</a:t>
            </a:r>
            <a:r>
              <a:rPr lang="zh-TW" altLang="en-US" dirty="0"/>
              <a:t>；第三階段是 </a:t>
            </a:r>
            <a:r>
              <a:rPr lang="en-US" altLang="zh-TW" dirty="0"/>
              <a:t>master UAV </a:t>
            </a:r>
            <a:r>
              <a:rPr lang="zh-TW" altLang="en-US" dirty="0"/>
              <a:t>在 </a:t>
            </a:r>
            <a:r>
              <a:rPr lang="en-US" altLang="zh-TW" dirty="0"/>
              <a:t>LEO satellite visible window </a:t>
            </a:r>
            <a:r>
              <a:rPr lang="zh-TW" altLang="en-US" dirty="0"/>
              <a:t>內，把資料上傳到 </a:t>
            </a:r>
            <a:r>
              <a:rPr lang="en-US" altLang="zh-TW" dirty="0"/>
              <a:t>satellite</a:t>
            </a:r>
            <a:r>
              <a:rPr lang="zh-TW" altLang="en-US" dirty="0"/>
              <a:t>。</a:t>
            </a:r>
          </a:p>
          <a:p>
            <a:endParaRPr lang="en-US" altLang="zh-TW" dirty="0"/>
          </a:p>
          <a:p>
            <a:r>
              <a:rPr lang="zh-TW" altLang="en-US" dirty="0"/>
              <a:t>在這個架構中，</a:t>
            </a:r>
            <a:r>
              <a:rPr lang="en-US" altLang="zh-TW" dirty="0"/>
              <a:t>slave UAVs </a:t>
            </a:r>
            <a:r>
              <a:rPr lang="zh-TW" altLang="en-US" dirty="0"/>
              <a:t>主要負責靠近 </a:t>
            </a:r>
            <a:r>
              <a:rPr lang="en-US" altLang="zh-TW" dirty="0"/>
              <a:t>ground sensors </a:t>
            </a:r>
            <a:r>
              <a:rPr lang="zh-TW" altLang="en-US" dirty="0"/>
              <a:t>並收集資料，而 </a:t>
            </a:r>
            <a:r>
              <a:rPr lang="en-US" altLang="zh-TW" dirty="0"/>
              <a:t>master UAV </a:t>
            </a:r>
            <a:r>
              <a:rPr lang="zh-TW" altLang="en-US" dirty="0"/>
              <a:t>則負責彙整資料，並維持與 </a:t>
            </a:r>
            <a:r>
              <a:rPr lang="en-US" altLang="zh-TW" dirty="0"/>
              <a:t>LEO satellite </a:t>
            </a:r>
            <a:r>
              <a:rPr lang="zh-TW" altLang="en-US" dirty="0"/>
              <a:t>的 </a:t>
            </a:r>
            <a:r>
              <a:rPr lang="en-US" altLang="zh-TW" dirty="0"/>
              <a:t>uplink</a:t>
            </a:r>
            <a:r>
              <a:rPr lang="zh-TW" altLang="en-US" dirty="0"/>
              <a:t>。</a:t>
            </a:r>
          </a:p>
          <a:p>
            <a:endParaRPr lang="en-US" altLang="zh-TW" dirty="0"/>
          </a:p>
          <a:p>
            <a:r>
              <a:rPr lang="zh-TW" altLang="en-US" dirty="0"/>
              <a:t>這樣設計的目的，是避免所有 </a:t>
            </a:r>
            <a:r>
              <a:rPr lang="en-US" altLang="zh-TW" dirty="0"/>
              <a:t>UAV </a:t>
            </a:r>
            <a:r>
              <a:rPr lang="zh-TW" altLang="en-US" dirty="0"/>
              <a:t>或所有 </a:t>
            </a:r>
            <a:r>
              <a:rPr lang="en-US" altLang="zh-TW" dirty="0"/>
              <a:t>sensors </a:t>
            </a:r>
            <a:r>
              <a:rPr lang="zh-TW" altLang="en-US" dirty="0"/>
              <a:t>都直接嘗試連接 </a:t>
            </a:r>
            <a:r>
              <a:rPr lang="en-US" altLang="zh-TW" dirty="0"/>
              <a:t>satellite</a:t>
            </a:r>
            <a:r>
              <a:rPr lang="zh-TW" altLang="en-US" dirty="0"/>
              <a:t>。因為如果每個節點都直接上傳，會造成 </a:t>
            </a:r>
            <a:r>
              <a:rPr lang="en-US" altLang="zh-TW" dirty="0"/>
              <a:t>uplink competition</a:t>
            </a:r>
            <a:r>
              <a:rPr lang="zh-TW" altLang="en-US" dirty="0"/>
              <a:t>，也可能增加 </a:t>
            </a:r>
            <a:r>
              <a:rPr lang="en-US" altLang="zh-TW" dirty="0"/>
              <a:t>transmission delay</a:t>
            </a:r>
            <a:r>
              <a:rPr lang="zh-TW" altLang="en-US" dirty="0"/>
              <a:t>。因此，我們透過 </a:t>
            </a:r>
            <a:r>
              <a:rPr lang="en-US" altLang="zh-TW" dirty="0"/>
              <a:t>master-slave </a:t>
            </a:r>
            <a:r>
              <a:rPr lang="zh-TW" altLang="en-US" dirty="0"/>
              <a:t>的 </a:t>
            </a:r>
            <a:r>
              <a:rPr lang="en-US" altLang="zh-TW" dirty="0"/>
              <a:t>UAV fleet </a:t>
            </a:r>
            <a:r>
              <a:rPr lang="zh-TW" altLang="en-US" dirty="0"/>
              <a:t>架構，把資料先在空中彙整，再由 </a:t>
            </a:r>
            <a:r>
              <a:rPr lang="en-US" altLang="zh-TW" dirty="0"/>
              <a:t>master UAV </a:t>
            </a:r>
            <a:r>
              <a:rPr lang="zh-TW" altLang="en-US" dirty="0"/>
              <a:t>統一上傳。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03048106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lang="en-US" altLang="zh-TW" dirty="0">
              <a:solidFill>
                <a:schemeClr val="dk1"/>
              </a:solidFill>
            </a:endParaRP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6167134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投影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54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54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Google Shape;14;p5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5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5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及內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5"/>
          <p:cNvSpPr txBox="1">
            <a:spLocks noGrp="1"/>
          </p:cNvSpPr>
          <p:nvPr>
            <p:ph type="title"/>
          </p:nvPr>
        </p:nvSpPr>
        <p:spPr>
          <a:xfrm>
            <a:off x="234615" y="56334"/>
            <a:ext cx="8674769" cy="858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300"/>
              <a:buFont typeface="Helvetica Neue"/>
              <a:buNone/>
              <a:defRPr sz="3000" b="1">
                <a:solidFill>
                  <a:schemeClr val="accen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55"/>
          <p:cNvSpPr txBox="1">
            <a:spLocks noGrp="1"/>
          </p:cNvSpPr>
          <p:nvPr>
            <p:ph type="body" idx="1" hasCustomPrompt="1"/>
          </p:nvPr>
        </p:nvSpPr>
        <p:spPr>
          <a:xfrm>
            <a:off x="628650" y="914399"/>
            <a:ext cx="7886700" cy="37183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396000" lvl="0" indent="-248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sz="2400"/>
            </a:lvl1pPr>
            <a:lvl2pPr marL="914400" lvl="1" indent="-252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Noto Sans Symbols"/>
              <a:buChar char="■"/>
              <a:defRPr sz="2200"/>
            </a:lvl2pPr>
            <a:lvl3pPr marL="1371600" lvl="2" indent="-3175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 sz="1800"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r>
              <a:rPr lang="en-US" dirty="0"/>
              <a:t>123</a:t>
            </a:r>
          </a:p>
          <a:p>
            <a:pPr lvl="1"/>
            <a:r>
              <a:rPr lang="en-US" sz="2200" dirty="0"/>
              <a:t>22</a:t>
            </a:r>
            <a:endParaRPr dirty="0"/>
          </a:p>
        </p:txBody>
      </p:sp>
      <p:sp>
        <p:nvSpPr>
          <p:cNvPr id="20" name="Google Shape;20;p55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55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較" type="twoTxTwoObj">
  <p:cSld name="TWO_OBJECTS_WITH_TEX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7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7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26" name="Google Shape;26;p5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7" name="Google Shape;27;p57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28" name="Google Shape;28;p57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5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7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只有標題" type="titleOnly">
  <p:cSld name="TITLE_ONLY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58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8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含輔助字幕的內容" type="objTx">
  <p:cSld name="OBJECT_WITH_CAPTION_TEX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0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0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▪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40" name="Google Shape;40;p60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41" name="Google Shape;41;p6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60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60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含輔助字幕的圖片" type="picTx">
  <p:cSld name="PICTURE_WITH_CAPTION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61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61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47" name="Google Shape;47;p61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48" name="Google Shape;48;p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6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61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及直排文字" type="vertTx">
  <p:cSld name="VERTICAL_TEXT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62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62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54" name="Google Shape;54;p6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6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直排標題及文字" type="vertTitleAndTx">
  <p:cSld name="VERTICAL_TITLE_AND_VERTICAL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63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63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60" name="Google Shape;60;p6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6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53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7" name="Google Shape;7;p53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▪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 dirty="0"/>
              <a:t>11</a:t>
            </a:r>
          </a:p>
          <a:p>
            <a:pPr lvl="1"/>
            <a:r>
              <a:rPr lang="en-US" dirty="0"/>
              <a:t>123</a:t>
            </a:r>
            <a:endParaRPr dirty="0"/>
          </a:p>
        </p:txBody>
      </p:sp>
      <p:sp>
        <p:nvSpPr>
          <p:cNvPr id="8" name="Google Shape;8;p5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5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L="396000" marR="0" lvl="0" indent="-25200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L="720000" marR="0" lvl="1" indent="-25200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"/>
          <p:cNvSpPr txBox="1">
            <a:spLocks noGrp="1"/>
          </p:cNvSpPr>
          <p:nvPr>
            <p:ph type="ctrTitle"/>
          </p:nvPr>
        </p:nvSpPr>
        <p:spPr>
          <a:xfrm>
            <a:off x="575036" y="873125"/>
            <a:ext cx="7993928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/>
          <a:p>
            <a:pPr lvl="0">
              <a:lnSpc>
                <a:spcPct val="115000"/>
              </a:lnSpc>
              <a:buClr>
                <a:srgbClr val="E46C0A"/>
              </a:buClr>
              <a:buSzPts val="2909"/>
            </a:pPr>
            <a:r>
              <a:rPr lang="en-US" altLang="zh-TW" sz="3200" b="1" dirty="0">
                <a:solidFill>
                  <a:schemeClr val="accent2"/>
                </a:solidFill>
              </a:rPr>
              <a:t>Hierarchical Deadline-Aware Data Collection for UAV-Assisted SAGIN</a:t>
            </a:r>
            <a:endParaRPr sz="3000" b="1" dirty="0">
              <a:solidFill>
                <a:schemeClr val="accent2"/>
              </a:solidFill>
            </a:endParaRPr>
          </a:p>
        </p:txBody>
      </p:sp>
      <p:sp>
        <p:nvSpPr>
          <p:cNvPr id="69" name="Google Shape;69;p1"/>
          <p:cNvSpPr txBox="1">
            <a:spLocks noGrp="1"/>
          </p:cNvSpPr>
          <p:nvPr>
            <p:ph type="subTitle" idx="1"/>
          </p:nvPr>
        </p:nvSpPr>
        <p:spPr>
          <a:xfrm>
            <a:off x="1142999" y="2754114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3F3F3F"/>
              </a:buClr>
              <a:buSzPts val="2100"/>
              <a:buNone/>
            </a:pPr>
            <a:r>
              <a:rPr lang="en-US" altLang="zh-TW" sz="2100" dirty="0">
                <a:solidFill>
                  <a:srgbClr val="3F3F3F"/>
                </a:solidFill>
              </a:rPr>
              <a:t>Group:</a:t>
            </a:r>
            <a:r>
              <a:rPr lang="zh-TW" altLang="en-US" sz="2100" dirty="0">
                <a:solidFill>
                  <a:srgbClr val="3F3F3F"/>
                </a:solidFill>
              </a:rPr>
              <a:t> </a:t>
            </a:r>
            <a:r>
              <a:rPr lang="en-US" altLang="zh-TW" sz="2100" dirty="0">
                <a:solidFill>
                  <a:srgbClr val="3F3F3F"/>
                </a:solidFill>
              </a:rPr>
              <a:t>41</a:t>
            </a:r>
          </a:p>
          <a:p>
            <a:pPr marL="0" lvl="0" indent="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3F3F3F"/>
              </a:buClr>
              <a:buSzPts val="2100"/>
              <a:buNone/>
            </a:pPr>
            <a:r>
              <a:rPr lang="en-US" sz="2100" dirty="0">
                <a:solidFill>
                  <a:srgbClr val="3F3F3F"/>
                </a:solidFill>
              </a:rPr>
              <a:t>Student: </a:t>
            </a:r>
            <a:r>
              <a:rPr lang="zh-TW" altLang="en-US" sz="2100" dirty="0">
                <a:solidFill>
                  <a:srgbClr val="3F3F3F"/>
                </a:solidFill>
              </a:rPr>
              <a:t>簡士原、李宗諺</a:t>
            </a:r>
            <a:endParaRPr dirty="0"/>
          </a:p>
          <a:p>
            <a:pPr marL="0" lvl="0" indent="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3F3F3F"/>
              </a:buClr>
              <a:buSzPts val="2100"/>
              <a:buNone/>
            </a:pPr>
            <a:r>
              <a:rPr lang="en-US" sz="2100" dirty="0">
                <a:solidFill>
                  <a:srgbClr val="3F3F3F"/>
                </a:solidFill>
              </a:rPr>
              <a:t>Advisor: Ching-Ju Lin </a:t>
            </a:r>
            <a:r>
              <a:rPr lang="en-US" sz="2100" dirty="0" err="1">
                <a:solidFill>
                  <a:srgbClr val="3F3F3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林靖茹</a:t>
            </a:r>
            <a:endParaRPr dirty="0"/>
          </a:p>
        </p:txBody>
      </p:sp>
      <p:pic>
        <p:nvPicPr>
          <p:cNvPr id="70" name="Google Shape;70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4625" y="3375025"/>
            <a:ext cx="1708150" cy="1708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D2752A8-9C00-EAE6-44C6-EB43292CA8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Agenda</a:t>
            </a:r>
            <a:endParaRPr lang="zh-TW" altLang="en-US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5528DF7-C53A-168C-2D67-150468FDE4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sz="2400" dirty="0"/>
              <a:t>Background and Motivation</a:t>
            </a:r>
          </a:p>
          <a:p>
            <a:r>
              <a:rPr lang="en-US" altLang="zh-TW" sz="2400" dirty="0"/>
              <a:t>Framework Design &amp; Data Flow</a:t>
            </a:r>
          </a:p>
          <a:p>
            <a:r>
              <a:rPr lang="en-US" altLang="zh-TW" dirty="0"/>
              <a:t>Implementation &amp; Results</a:t>
            </a:r>
            <a:endParaRPr lang="en-US" altLang="zh-TW" sz="2400" dirty="0"/>
          </a:p>
          <a:p>
            <a:r>
              <a:rPr lang="en-US" altLang="zh-TW" sz="2400"/>
              <a:t>Evaluation</a:t>
            </a:r>
            <a:endParaRPr lang="en-US" altLang="zh-TW" sz="2400" dirty="0"/>
          </a:p>
          <a:p>
            <a:r>
              <a:rPr lang="en-US" altLang="zh-TW" sz="2400" dirty="0"/>
              <a:t>Conclusion</a:t>
            </a:r>
          </a:p>
          <a:p>
            <a:endParaRPr lang="en-US" altLang="zh-TW" dirty="0"/>
          </a:p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87AD9FE-54F3-C8F3-66ED-829EBCD0DC6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12262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61F6C05-C06A-6D68-50DB-D6E729C77E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Background &amp; Motivation</a:t>
            </a:r>
            <a:endParaRPr lang="zh-TW" altLang="en-US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BF0817F5-12BC-4A3F-7296-8CC0C47D5A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9590" y="914399"/>
            <a:ext cx="8404818" cy="3718323"/>
          </a:xfrm>
        </p:spPr>
        <p:txBody>
          <a:bodyPr>
            <a:noAutofit/>
          </a:bodyPr>
          <a:lstStyle/>
          <a:p>
            <a:r>
              <a:rPr lang="en-US" altLang="zh-TW" sz="2000" b="1" dirty="0"/>
              <a:t>Background</a:t>
            </a:r>
          </a:p>
          <a:p>
            <a:pPr lvl="1"/>
            <a:r>
              <a:rPr lang="en-US" altLang="zh-TW" sz="2000" dirty="0"/>
              <a:t>UAV + LEO networks enable </a:t>
            </a:r>
            <a:r>
              <a:rPr lang="en-US" altLang="zh-TW" sz="2000" dirty="0">
                <a:solidFill>
                  <a:schemeClr val="accent5">
                    <a:lumMod val="75000"/>
                  </a:schemeClr>
                </a:solidFill>
              </a:rPr>
              <a:t>wide-area, time-sensitive</a:t>
            </a:r>
            <a:r>
              <a:rPr lang="en-US" altLang="zh-TW" sz="2000" dirty="0"/>
              <a:t> data collection</a:t>
            </a:r>
          </a:p>
          <a:p>
            <a:pPr lvl="1"/>
            <a:r>
              <a:rPr lang="en-US" altLang="zh-TW" sz="2000" dirty="0"/>
              <a:t>Scheduling and validating these tasks under intermittent links is hard</a:t>
            </a:r>
          </a:p>
          <a:p>
            <a:pPr lvl="1"/>
            <a:r>
              <a:rPr lang="en-US" altLang="zh-TW" sz="2000" dirty="0">
                <a:solidFill>
                  <a:schemeClr val="accent5">
                    <a:lumMod val="75000"/>
                  </a:schemeClr>
                </a:solidFill>
              </a:rPr>
              <a:t>Simulation-based evaluation </a:t>
            </a:r>
            <a:r>
              <a:rPr lang="en-US" altLang="zh-TW" sz="2000" dirty="0"/>
              <a:t>is key to analyzing SAGIN data collection</a:t>
            </a:r>
          </a:p>
          <a:p>
            <a:r>
              <a:rPr lang="en-US" altLang="zh-TW" sz="2000" b="1" dirty="0"/>
              <a:t>Problem Statement</a:t>
            </a:r>
          </a:p>
          <a:p>
            <a:pPr lvl="1"/>
            <a:r>
              <a:rPr lang="en-US" altLang="zh-TW" sz="2000" dirty="0"/>
              <a:t>Model channel variation &amp; link quality for UAV-to-UAV and UAV-to-LEO links</a:t>
            </a:r>
          </a:p>
          <a:p>
            <a:pPr lvl="1"/>
            <a:r>
              <a:rPr lang="en-US" altLang="zh-TW" sz="2000" dirty="0"/>
              <a:t>Replay the collection schedule in NS-3 and measure end-to-end performance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BEE7B36-BCB5-FC89-A448-3B9D14584AF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18248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1DBF9DA-6F18-B6C0-3864-009C63BB48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System Architecture</a:t>
            </a:r>
            <a:endParaRPr lang="zh-TW" altLang="en-US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E97250B4-DA88-9094-FA17-34CBF8D66C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6050" y="914399"/>
            <a:ext cx="4119056" cy="3718323"/>
          </a:xfrm>
        </p:spPr>
        <p:txBody>
          <a:bodyPr>
            <a:normAutofit/>
          </a:bodyPr>
          <a:lstStyle/>
          <a:p>
            <a:r>
              <a:rPr lang="en-US" altLang="zh-TW" sz="2000" dirty="0"/>
              <a:t>Uplink UAV-LEO</a:t>
            </a:r>
          </a:p>
          <a:p>
            <a:pPr lvl="1"/>
            <a:r>
              <a:rPr lang="en-US" altLang="zh-TW" sz="1800" dirty="0"/>
              <a:t>Master UAV: collect data from UAVs</a:t>
            </a:r>
          </a:p>
          <a:p>
            <a:pPr lvl="1"/>
            <a:r>
              <a:rPr lang="en-US" altLang="zh-TW" sz="1800" dirty="0"/>
              <a:t>LEO: wait to receive data</a:t>
            </a:r>
          </a:p>
          <a:p>
            <a:r>
              <a:rPr lang="en-US" altLang="zh-TW" sz="2000" dirty="0"/>
              <a:t>Form UAVs as a fleet</a:t>
            </a:r>
          </a:p>
          <a:p>
            <a:pPr lvl="1"/>
            <a:r>
              <a:rPr lang="en-US" altLang="zh-TW" sz="2000" dirty="0"/>
              <a:t>Master: forward data to satellites</a:t>
            </a:r>
          </a:p>
          <a:p>
            <a:pPr lvl="1"/>
            <a:r>
              <a:rPr lang="en-US" altLang="zh-TW" sz="2000" dirty="0"/>
              <a:t>Slaves: collect data from sensors</a:t>
            </a:r>
          </a:p>
          <a:p>
            <a:pPr marL="662400" lvl="1" indent="0">
              <a:buNone/>
            </a:pPr>
            <a:endParaRPr lang="en-US" altLang="zh-TW" sz="2000" dirty="0"/>
          </a:p>
          <a:p>
            <a:endParaRPr lang="en-US" altLang="zh-TW" sz="2000" dirty="0"/>
          </a:p>
          <a:p>
            <a:endParaRPr lang="en-US" altLang="zh-TW" sz="2000" dirty="0"/>
          </a:p>
          <a:p>
            <a:pPr marL="147600" indent="0">
              <a:buNone/>
            </a:pPr>
            <a:endParaRPr lang="en-US" altLang="zh-TW" sz="2000" dirty="0"/>
          </a:p>
          <a:p>
            <a:endParaRPr lang="en-US" altLang="zh-TW" sz="2000" dirty="0"/>
          </a:p>
          <a:p>
            <a:endParaRPr lang="zh-TW" altLang="en-US" sz="20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E2FEF52-D3AD-DBA2-4131-38FE7A43555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</a:t>
            </a:fld>
            <a:endParaRPr lang="en-US"/>
          </a:p>
        </p:txBody>
      </p:sp>
      <p:grpSp>
        <p:nvGrpSpPr>
          <p:cNvPr id="76" name="群組 75">
            <a:extLst>
              <a:ext uri="{FF2B5EF4-FFF2-40B4-BE49-F238E27FC236}">
                <a16:creationId xmlns:a16="http://schemas.microsoft.com/office/drawing/2014/main" id="{6E2F403C-8E05-54DA-D912-183CB0C96D87}"/>
              </a:ext>
            </a:extLst>
          </p:cNvPr>
          <p:cNvGrpSpPr/>
          <p:nvPr/>
        </p:nvGrpSpPr>
        <p:grpSpPr>
          <a:xfrm>
            <a:off x="4578896" y="1370527"/>
            <a:ext cx="4000895" cy="2251152"/>
            <a:chOff x="4908489" y="1063549"/>
            <a:chExt cx="4000895" cy="2251152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1A53F3E8-A49C-D415-E6AE-DDF9DF027C60}"/>
                </a:ext>
              </a:extLst>
            </p:cNvPr>
            <p:cNvGrpSpPr/>
            <p:nvPr/>
          </p:nvGrpSpPr>
          <p:grpSpPr>
            <a:xfrm>
              <a:off x="4908489" y="1127121"/>
              <a:ext cx="4000895" cy="2187580"/>
              <a:chOff x="4490575" y="818126"/>
              <a:chExt cx="4000895" cy="2187580"/>
            </a:xfrm>
          </p:grpSpPr>
          <p:pic>
            <p:nvPicPr>
              <p:cNvPr id="7" name="Google Shape;231;g3d00297c732_0_53" title="UAV.jpg">
                <a:extLst>
                  <a:ext uri="{FF2B5EF4-FFF2-40B4-BE49-F238E27FC236}">
                    <a16:creationId xmlns:a16="http://schemas.microsoft.com/office/drawing/2014/main" id="{1B3B1CF7-44FD-FE70-5502-814BE31E92A4}"/>
                  </a:ext>
                </a:extLst>
              </p:cNvPr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5104326" y="2074993"/>
                <a:ext cx="627467" cy="62746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8" name="Google Shape;232;g3d00297c732_0_53" title="sensor.png">
                <a:extLst>
                  <a:ext uri="{FF2B5EF4-FFF2-40B4-BE49-F238E27FC236}">
                    <a16:creationId xmlns:a16="http://schemas.microsoft.com/office/drawing/2014/main" id="{E8B97162-F7CF-E506-71EA-684EB817EFED}"/>
                  </a:ext>
                </a:extLst>
              </p:cNvPr>
              <p:cNvPicPr preferRelativeResize="0"/>
              <p:nvPr/>
            </p:nvPicPr>
            <p:blipFill rotWithShape="1">
              <a:blip r:embed="rId4">
                <a:alphaModFix/>
              </a:blip>
              <a:srcRect/>
              <a:stretch/>
            </p:blipFill>
            <p:spPr>
              <a:xfrm>
                <a:off x="4490575" y="2695141"/>
                <a:ext cx="280385" cy="28038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9" name="Google Shape;233;g3d00297c732_0_53" title="sensor.png">
                <a:extLst>
                  <a:ext uri="{FF2B5EF4-FFF2-40B4-BE49-F238E27FC236}">
                    <a16:creationId xmlns:a16="http://schemas.microsoft.com/office/drawing/2014/main" id="{97AE4F90-8945-CA61-A23C-D0F598A9133F}"/>
                  </a:ext>
                </a:extLst>
              </p:cNvPr>
              <p:cNvPicPr preferRelativeResize="0"/>
              <p:nvPr/>
            </p:nvPicPr>
            <p:blipFill rotWithShape="1">
              <a:blip r:embed="rId4">
                <a:alphaModFix/>
              </a:blip>
              <a:srcRect/>
              <a:stretch/>
            </p:blipFill>
            <p:spPr>
              <a:xfrm>
                <a:off x="5282142" y="2695141"/>
                <a:ext cx="280385" cy="28038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0" name="Google Shape;234;g3d00297c732_0_53" title="sensor.png">
                <a:extLst>
                  <a:ext uri="{FF2B5EF4-FFF2-40B4-BE49-F238E27FC236}">
                    <a16:creationId xmlns:a16="http://schemas.microsoft.com/office/drawing/2014/main" id="{AD533C6B-AC45-E4B1-0EFE-4379FB4C27FE}"/>
                  </a:ext>
                </a:extLst>
              </p:cNvPr>
              <p:cNvPicPr preferRelativeResize="0"/>
              <p:nvPr/>
            </p:nvPicPr>
            <p:blipFill rotWithShape="1">
              <a:blip r:embed="rId4">
                <a:alphaModFix/>
              </a:blip>
              <a:srcRect/>
              <a:stretch/>
            </p:blipFill>
            <p:spPr>
              <a:xfrm>
                <a:off x="6055726" y="2687910"/>
                <a:ext cx="280385" cy="28038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1" name="Google Shape;235;g3d00297c732_0_53">
                <a:extLst>
                  <a:ext uri="{FF2B5EF4-FFF2-40B4-BE49-F238E27FC236}">
                    <a16:creationId xmlns:a16="http://schemas.microsoft.com/office/drawing/2014/main" id="{9940D62F-217E-6B79-9803-469E24B7FC82}"/>
                  </a:ext>
                </a:extLst>
              </p:cNvPr>
              <p:cNvSpPr/>
              <p:nvPr/>
            </p:nvSpPr>
            <p:spPr>
              <a:xfrm rot="-2149728">
                <a:off x="4647084" y="2577145"/>
                <a:ext cx="252000" cy="78190"/>
              </a:xfrm>
              <a:prstGeom prst="rightArrow">
                <a:avLst>
                  <a:gd name="adj1" fmla="val 50000"/>
                  <a:gd name="adj2" fmla="val 50000"/>
                </a:avLst>
              </a:prstGeom>
              <a:solidFill>
                <a:schemeClr val="lt2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6850" tIns="66850" rIns="66850" bIns="668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23"/>
                  <a:buFont typeface="Arial"/>
                  <a:buNone/>
                </a:pPr>
                <a:endParaRPr sz="1023" b="0" i="0" u="none" strike="noStrike" cap="none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" name="Google Shape;236;g3d00297c732_0_53">
                <a:extLst>
                  <a:ext uri="{FF2B5EF4-FFF2-40B4-BE49-F238E27FC236}">
                    <a16:creationId xmlns:a16="http://schemas.microsoft.com/office/drawing/2014/main" id="{BC614696-E190-8D9C-2079-BEF46F9C5E06}"/>
                  </a:ext>
                </a:extLst>
              </p:cNvPr>
              <p:cNvSpPr/>
              <p:nvPr/>
            </p:nvSpPr>
            <p:spPr>
              <a:xfrm rot="-5395483">
                <a:off x="5338396" y="2562447"/>
                <a:ext cx="180000" cy="70832"/>
              </a:xfrm>
              <a:prstGeom prst="rightArrow">
                <a:avLst>
                  <a:gd name="adj1" fmla="val 50000"/>
                  <a:gd name="adj2" fmla="val 50000"/>
                </a:avLst>
              </a:prstGeom>
              <a:solidFill>
                <a:schemeClr val="lt2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6850" tIns="66850" rIns="66850" bIns="668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23"/>
                  <a:buFont typeface="Arial"/>
                  <a:buNone/>
                </a:pPr>
                <a:endParaRPr sz="1023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" name="Google Shape;237;g3d00297c732_0_53">
                <a:extLst>
                  <a:ext uri="{FF2B5EF4-FFF2-40B4-BE49-F238E27FC236}">
                    <a16:creationId xmlns:a16="http://schemas.microsoft.com/office/drawing/2014/main" id="{081BBD60-581A-4A5E-667A-65CDA8C40E3E}"/>
                  </a:ext>
                </a:extLst>
              </p:cNvPr>
              <p:cNvSpPr/>
              <p:nvPr/>
            </p:nvSpPr>
            <p:spPr>
              <a:xfrm rot="2702085" flipH="1">
                <a:off x="5966030" y="2557241"/>
                <a:ext cx="252000" cy="88247"/>
              </a:xfrm>
              <a:prstGeom prst="rightArrow">
                <a:avLst>
                  <a:gd name="adj1" fmla="val 50000"/>
                  <a:gd name="adj2" fmla="val 50000"/>
                </a:avLst>
              </a:prstGeom>
              <a:solidFill>
                <a:schemeClr val="lt2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6850" tIns="66850" rIns="66850" bIns="668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23"/>
                  <a:buFont typeface="Arial"/>
                  <a:buNone/>
                </a:pPr>
                <a:endParaRPr sz="1023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20" name="Google Shape;244;g3d00297c732_0_53" title="UAV.jpg">
                <a:extLst>
                  <a:ext uri="{FF2B5EF4-FFF2-40B4-BE49-F238E27FC236}">
                    <a16:creationId xmlns:a16="http://schemas.microsoft.com/office/drawing/2014/main" id="{C1B0B268-71CC-06F6-8999-2C324A323888}"/>
                  </a:ext>
                </a:extLst>
              </p:cNvPr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7213889" y="2076549"/>
                <a:ext cx="627467" cy="62746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1" name="Google Shape;245;g3d00297c732_0_53" title="sensor.png">
                <a:extLst>
                  <a:ext uri="{FF2B5EF4-FFF2-40B4-BE49-F238E27FC236}">
                    <a16:creationId xmlns:a16="http://schemas.microsoft.com/office/drawing/2014/main" id="{DEF36E46-C2D0-3F50-C213-432A67C5B3F0}"/>
                  </a:ext>
                </a:extLst>
              </p:cNvPr>
              <p:cNvPicPr preferRelativeResize="0"/>
              <p:nvPr/>
            </p:nvPicPr>
            <p:blipFill rotWithShape="1">
              <a:blip r:embed="rId4">
                <a:alphaModFix/>
              </a:blip>
              <a:srcRect/>
              <a:stretch/>
            </p:blipFill>
            <p:spPr>
              <a:xfrm>
                <a:off x="6884736" y="2701717"/>
                <a:ext cx="280385" cy="28038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2" name="Google Shape;246;g3d00297c732_0_53" title="sensor.png">
                <a:extLst>
                  <a:ext uri="{FF2B5EF4-FFF2-40B4-BE49-F238E27FC236}">
                    <a16:creationId xmlns:a16="http://schemas.microsoft.com/office/drawing/2014/main" id="{9051C852-24BA-A0A2-94BA-AB6ECDECF61C}"/>
                  </a:ext>
                </a:extLst>
              </p:cNvPr>
              <p:cNvPicPr preferRelativeResize="0"/>
              <p:nvPr/>
            </p:nvPicPr>
            <p:blipFill rotWithShape="1">
              <a:blip r:embed="rId4">
                <a:alphaModFix/>
              </a:blip>
              <a:srcRect/>
              <a:stretch/>
            </p:blipFill>
            <p:spPr>
              <a:xfrm>
                <a:off x="7344196" y="2725321"/>
                <a:ext cx="280385" cy="28038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3" name="Google Shape;247;g3d00297c732_0_53" title="sensor.png">
                <a:extLst>
                  <a:ext uri="{FF2B5EF4-FFF2-40B4-BE49-F238E27FC236}">
                    <a16:creationId xmlns:a16="http://schemas.microsoft.com/office/drawing/2014/main" id="{A2BCC329-A72A-1721-B49E-6579A7BB3962}"/>
                  </a:ext>
                </a:extLst>
              </p:cNvPr>
              <p:cNvPicPr preferRelativeResize="0"/>
              <p:nvPr/>
            </p:nvPicPr>
            <p:blipFill rotWithShape="1">
              <a:blip r:embed="rId4">
                <a:alphaModFix/>
              </a:blip>
              <a:srcRect/>
              <a:stretch/>
            </p:blipFill>
            <p:spPr>
              <a:xfrm>
                <a:off x="7741563" y="2715056"/>
                <a:ext cx="280385" cy="28038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4" name="Google Shape;248;g3d00297c732_0_53">
                <a:extLst>
                  <a:ext uri="{FF2B5EF4-FFF2-40B4-BE49-F238E27FC236}">
                    <a16:creationId xmlns:a16="http://schemas.microsoft.com/office/drawing/2014/main" id="{6B8AD50B-42DB-1C68-299C-539BD24FE321}"/>
                  </a:ext>
                </a:extLst>
              </p:cNvPr>
              <p:cNvSpPr/>
              <p:nvPr/>
            </p:nvSpPr>
            <p:spPr>
              <a:xfrm rot="-2149728">
                <a:off x="7080797" y="2557171"/>
                <a:ext cx="252000" cy="78190"/>
              </a:xfrm>
              <a:prstGeom prst="rightArrow">
                <a:avLst>
                  <a:gd name="adj1" fmla="val 50000"/>
                  <a:gd name="adj2" fmla="val 50000"/>
                </a:avLst>
              </a:prstGeom>
              <a:solidFill>
                <a:schemeClr val="lt2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6850" tIns="66850" rIns="66850" bIns="668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23"/>
                  <a:buFont typeface="Arial"/>
                  <a:buNone/>
                </a:pPr>
                <a:endParaRPr sz="1023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" name="Google Shape;249;g3d00297c732_0_53">
                <a:extLst>
                  <a:ext uri="{FF2B5EF4-FFF2-40B4-BE49-F238E27FC236}">
                    <a16:creationId xmlns:a16="http://schemas.microsoft.com/office/drawing/2014/main" id="{8A58E75B-7C75-0B36-8813-8E4C795FBE42}"/>
                  </a:ext>
                </a:extLst>
              </p:cNvPr>
              <p:cNvSpPr/>
              <p:nvPr/>
            </p:nvSpPr>
            <p:spPr>
              <a:xfrm rot="16200000">
                <a:off x="7420320" y="2569564"/>
                <a:ext cx="175805" cy="88500"/>
              </a:xfrm>
              <a:prstGeom prst="rightArrow">
                <a:avLst>
                  <a:gd name="adj1" fmla="val 50000"/>
                  <a:gd name="adj2" fmla="val 50000"/>
                </a:avLst>
              </a:prstGeom>
              <a:solidFill>
                <a:schemeClr val="lt2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6850" tIns="66850" rIns="66850" bIns="668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23"/>
                  <a:buFont typeface="Arial"/>
                  <a:buNone/>
                </a:pPr>
                <a:endParaRPr sz="1023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" name="Google Shape;250;g3d00297c732_0_53">
                <a:extLst>
                  <a:ext uri="{FF2B5EF4-FFF2-40B4-BE49-F238E27FC236}">
                    <a16:creationId xmlns:a16="http://schemas.microsoft.com/office/drawing/2014/main" id="{4426F1A7-9DAD-1EEE-C716-775BA17633E3}"/>
                  </a:ext>
                </a:extLst>
              </p:cNvPr>
              <p:cNvSpPr/>
              <p:nvPr/>
            </p:nvSpPr>
            <p:spPr>
              <a:xfrm rot="2702085" flipH="1">
                <a:off x="7651955" y="2562002"/>
                <a:ext cx="252000" cy="88247"/>
              </a:xfrm>
              <a:prstGeom prst="rightArrow">
                <a:avLst>
                  <a:gd name="adj1" fmla="val 50000"/>
                  <a:gd name="adj2" fmla="val 50000"/>
                </a:avLst>
              </a:prstGeom>
              <a:solidFill>
                <a:schemeClr val="lt2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6850" tIns="66850" rIns="66850" bIns="668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23"/>
                  <a:buFont typeface="Arial"/>
                  <a:buNone/>
                </a:pPr>
                <a:endParaRPr sz="1023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27" name="Google Shape;251;g3d00297c732_0_53" title="UAV.jpg">
                <a:extLst>
                  <a:ext uri="{FF2B5EF4-FFF2-40B4-BE49-F238E27FC236}">
                    <a16:creationId xmlns:a16="http://schemas.microsoft.com/office/drawing/2014/main" id="{E8182144-3290-2148-F7B8-5E7595344E27}"/>
                  </a:ext>
                </a:extLst>
              </p:cNvPr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6106326" y="1595289"/>
                <a:ext cx="627467" cy="627467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8" name="Google Shape;252;g3d00297c732_0_53">
                <a:extLst>
                  <a:ext uri="{FF2B5EF4-FFF2-40B4-BE49-F238E27FC236}">
                    <a16:creationId xmlns:a16="http://schemas.microsoft.com/office/drawing/2014/main" id="{976B8ECE-9D62-7A74-72F2-72F47A0B9BF9}"/>
                  </a:ext>
                </a:extLst>
              </p:cNvPr>
              <p:cNvSpPr/>
              <p:nvPr/>
            </p:nvSpPr>
            <p:spPr>
              <a:xfrm rot="19560681" flipV="1">
                <a:off x="5644623" y="2049268"/>
                <a:ext cx="419806" cy="121643"/>
              </a:xfrm>
              <a:prstGeom prst="rightArrow">
                <a:avLst>
                  <a:gd name="adj1" fmla="val 50000"/>
                  <a:gd name="adj2" fmla="val 50000"/>
                </a:avLst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66850" tIns="66850" rIns="66850" bIns="668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23"/>
                  <a:buFont typeface="Arial"/>
                  <a:buNone/>
                </a:pPr>
                <a:endParaRPr sz="1023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" name="Google Shape;254;g3d00297c732_0_53">
                <a:extLst>
                  <a:ext uri="{FF2B5EF4-FFF2-40B4-BE49-F238E27FC236}">
                    <a16:creationId xmlns:a16="http://schemas.microsoft.com/office/drawing/2014/main" id="{BFB9AE69-C5B8-307E-5005-D3A41D2075E1}"/>
                  </a:ext>
                </a:extLst>
              </p:cNvPr>
              <p:cNvSpPr/>
              <p:nvPr/>
            </p:nvSpPr>
            <p:spPr>
              <a:xfrm rot="12353116">
                <a:off x="6792649" y="2096755"/>
                <a:ext cx="453439" cy="121070"/>
              </a:xfrm>
              <a:prstGeom prst="rightArrow">
                <a:avLst>
                  <a:gd name="adj1" fmla="val 50000"/>
                  <a:gd name="adj2" fmla="val 50000"/>
                </a:avLst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66850" tIns="66850" rIns="66850" bIns="668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23"/>
                  <a:buFont typeface="Arial"/>
                  <a:buNone/>
                </a:pPr>
                <a:endParaRPr sz="1023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" name="Google Shape;255;g3d00297c732_0_53">
                <a:extLst>
                  <a:ext uri="{FF2B5EF4-FFF2-40B4-BE49-F238E27FC236}">
                    <a16:creationId xmlns:a16="http://schemas.microsoft.com/office/drawing/2014/main" id="{D58681AB-591E-D5FA-5756-6CE78DAA1E51}"/>
                  </a:ext>
                </a:extLst>
              </p:cNvPr>
              <p:cNvSpPr txBox="1"/>
              <p:nvPr/>
            </p:nvSpPr>
            <p:spPr>
              <a:xfrm>
                <a:off x="4633250" y="2183294"/>
                <a:ext cx="664800" cy="384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</a:pPr>
                <a:r>
                  <a:rPr lang="en-US" sz="1300" b="0" i="0" u="none" strike="noStrike" cap="none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Slave</a:t>
                </a:r>
                <a:endParaRPr sz="13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" name="Google Shape;256;g3d00297c732_0_53">
                <a:extLst>
                  <a:ext uri="{FF2B5EF4-FFF2-40B4-BE49-F238E27FC236}">
                    <a16:creationId xmlns:a16="http://schemas.microsoft.com/office/drawing/2014/main" id="{6CBF078A-6DF7-5FB9-0275-55302411D25E}"/>
                  </a:ext>
                </a:extLst>
              </p:cNvPr>
              <p:cNvSpPr txBox="1"/>
              <p:nvPr/>
            </p:nvSpPr>
            <p:spPr>
              <a:xfrm>
                <a:off x="6840270" y="2196276"/>
                <a:ext cx="1651200" cy="384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</a:pPr>
                <a:r>
                  <a:rPr lang="en-US" sz="1300" b="0" i="0" u="none" strike="noStrike" cap="none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Slave</a:t>
                </a:r>
                <a:endParaRPr sz="4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" name="Google Shape;258;g3d00297c732_0_53">
                <a:extLst>
                  <a:ext uri="{FF2B5EF4-FFF2-40B4-BE49-F238E27FC236}">
                    <a16:creationId xmlns:a16="http://schemas.microsoft.com/office/drawing/2014/main" id="{16BF4622-5229-B08D-7D3E-6FB6C18A6D6E}"/>
                  </a:ext>
                </a:extLst>
              </p:cNvPr>
              <p:cNvSpPr txBox="1"/>
              <p:nvPr/>
            </p:nvSpPr>
            <p:spPr>
              <a:xfrm>
                <a:off x="6679953" y="1599839"/>
                <a:ext cx="872746" cy="43085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lang="en-US" sz="1600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Master</a:t>
                </a:r>
                <a:endParaRPr sz="16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35" name="Google Shape;259;g3d00297c732_0_53" title="LEO.png">
                <a:extLst>
                  <a:ext uri="{FF2B5EF4-FFF2-40B4-BE49-F238E27FC236}">
                    <a16:creationId xmlns:a16="http://schemas.microsoft.com/office/drawing/2014/main" id="{05ECA8E0-5D44-4B50-800B-C49307A71EB7}"/>
                  </a:ext>
                </a:extLst>
              </p:cNvPr>
              <p:cNvPicPr preferRelativeResize="0"/>
              <p:nvPr/>
            </p:nvPicPr>
            <p:blipFill rotWithShape="1">
              <a:blip r:embed="rId5">
                <a:alphaModFix/>
              </a:blip>
              <a:srcRect/>
              <a:stretch/>
            </p:blipFill>
            <p:spPr>
              <a:xfrm>
                <a:off x="6789769" y="818126"/>
                <a:ext cx="499971" cy="492717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6" name="Google Shape;260;g3d00297c732_0_53">
                <a:extLst>
                  <a:ext uri="{FF2B5EF4-FFF2-40B4-BE49-F238E27FC236}">
                    <a16:creationId xmlns:a16="http://schemas.microsoft.com/office/drawing/2014/main" id="{F3A2F122-619F-1146-82AE-B1349E8DC962}"/>
                  </a:ext>
                </a:extLst>
              </p:cNvPr>
              <p:cNvSpPr/>
              <p:nvPr/>
            </p:nvSpPr>
            <p:spPr>
              <a:xfrm rot="18770179">
                <a:off x="6344027" y="1374799"/>
                <a:ext cx="478490" cy="200917"/>
              </a:xfrm>
              <a:prstGeom prst="rightArrow">
                <a:avLst>
                  <a:gd name="adj1" fmla="val 50000"/>
                  <a:gd name="adj2" fmla="val 50000"/>
                </a:avLst>
              </a:prstGeom>
              <a:solidFill>
                <a:srgbClr val="92D050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dirty="0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" name="Google Shape;262;g3d00297c732_0_53">
                <a:extLst>
                  <a:ext uri="{FF2B5EF4-FFF2-40B4-BE49-F238E27FC236}">
                    <a16:creationId xmlns:a16="http://schemas.microsoft.com/office/drawing/2014/main" id="{9EA7A235-AE9E-0AAA-E08C-BD69288F874A}"/>
                  </a:ext>
                </a:extLst>
              </p:cNvPr>
              <p:cNvSpPr/>
              <p:nvPr/>
            </p:nvSpPr>
            <p:spPr>
              <a:xfrm>
                <a:off x="4648042" y="1631224"/>
                <a:ext cx="3513235" cy="875012"/>
              </a:xfrm>
              <a:prstGeom prst="rect">
                <a:avLst/>
              </a:prstGeom>
              <a:noFill/>
              <a:ln w="12700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" name="Google Shape;263;g3d00297c732_0_53">
                <a:extLst>
                  <a:ext uri="{FF2B5EF4-FFF2-40B4-BE49-F238E27FC236}">
                    <a16:creationId xmlns:a16="http://schemas.microsoft.com/office/drawing/2014/main" id="{2428FB11-2E7A-AF43-EBE2-1DFCD10702A3}"/>
                  </a:ext>
                </a:extLst>
              </p:cNvPr>
              <p:cNvSpPr txBox="1"/>
              <p:nvPr/>
            </p:nvSpPr>
            <p:spPr>
              <a:xfrm>
                <a:off x="4617328" y="1558411"/>
                <a:ext cx="762600" cy="46163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100"/>
                  <a:buFont typeface="Arial"/>
                  <a:buNone/>
                </a:pPr>
                <a:r>
                  <a:rPr lang="en-US" sz="1800" b="0" i="0" u="none" strike="noStrike" cap="none" dirty="0">
                    <a:solidFill>
                      <a:schemeClr val="accent2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Fleet</a:t>
                </a:r>
                <a:endParaRPr sz="1800" b="0" i="0" u="none" strike="noStrike" cap="none" dirty="0">
                  <a:solidFill>
                    <a:schemeClr val="accent2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75" name="Google Shape;258;g3d00297c732_0_53">
              <a:extLst>
                <a:ext uri="{FF2B5EF4-FFF2-40B4-BE49-F238E27FC236}">
                  <a16:creationId xmlns:a16="http://schemas.microsoft.com/office/drawing/2014/main" id="{23847E1F-6740-A6FA-A890-51DFA8EF45A3}"/>
                </a:ext>
              </a:extLst>
            </p:cNvPr>
            <p:cNvSpPr txBox="1"/>
            <p:nvPr/>
          </p:nvSpPr>
          <p:spPr>
            <a:xfrm>
              <a:off x="7698365" y="1063549"/>
              <a:ext cx="872746" cy="4308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LEO</a:t>
              </a:r>
              <a:endParaRPr sz="16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647537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6E6DAA-CE2D-44F3-B399-7DADBBD122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Flow</a:t>
            </a:r>
            <a:endParaRPr lang="en-TW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BEDCC1-A03B-1DB6-20B9-B800C6BDB32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5</a:t>
            </a:fld>
            <a:endParaRPr lang="en-US"/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1DEFF7E9-8A5C-1C1D-5460-8805E1C209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2785" y="1029115"/>
            <a:ext cx="5238430" cy="3492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84142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EEB65D-DD8D-1BB0-9C1B-E3FF9FAF02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73947E7-4F18-8F0A-C3D5-DC795E72BF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UAV-to-UAV Probe</a:t>
            </a:r>
            <a:endParaRPr lang="zh-TW" altLang="en-US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628D745-0D01-6D1A-3708-373CD5D4B3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6049" y="914399"/>
            <a:ext cx="8069301" cy="3718323"/>
          </a:xfrm>
        </p:spPr>
        <p:txBody>
          <a:bodyPr/>
          <a:lstStyle/>
          <a:p>
            <a:endParaRPr lang="en-US" altLang="zh-TW" dirty="0"/>
          </a:p>
          <a:p>
            <a:endParaRPr lang="en-US" altLang="zh-TW" dirty="0"/>
          </a:p>
          <a:p>
            <a:pPr marL="147600" indent="0">
              <a:buNone/>
            </a:pPr>
            <a:endParaRPr lang="en-US" altLang="zh-TW" dirty="0"/>
          </a:p>
          <a:p>
            <a:endParaRPr lang="en-US" altLang="zh-TW" dirty="0"/>
          </a:p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ABBCCAE-58BD-5A19-2F2C-DDA298D4C88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6</a:t>
            </a:fld>
            <a:endParaRPr lang="en-US"/>
          </a:p>
        </p:txBody>
      </p:sp>
      <p:grpSp>
        <p:nvGrpSpPr>
          <p:cNvPr id="5" name="群組 4">
            <a:extLst>
              <a:ext uri="{FF2B5EF4-FFF2-40B4-BE49-F238E27FC236}">
                <a16:creationId xmlns:a16="http://schemas.microsoft.com/office/drawing/2014/main" id="{90676412-0AA3-6096-DF6B-178D04268241}"/>
              </a:ext>
            </a:extLst>
          </p:cNvPr>
          <p:cNvGrpSpPr/>
          <p:nvPr/>
        </p:nvGrpSpPr>
        <p:grpSpPr>
          <a:xfrm>
            <a:off x="6452700" y="2076900"/>
            <a:ext cx="2062650" cy="1527861"/>
            <a:chOff x="11169062" y="9292519"/>
            <a:chExt cx="2960539" cy="2124130"/>
          </a:xfrm>
        </p:grpSpPr>
        <p:grpSp>
          <p:nvGrpSpPr>
            <p:cNvPr id="14" name="群組 13">
              <a:extLst>
                <a:ext uri="{FF2B5EF4-FFF2-40B4-BE49-F238E27FC236}">
                  <a16:creationId xmlns:a16="http://schemas.microsoft.com/office/drawing/2014/main" id="{82560B7A-59EA-FACC-8439-11EA6C9CBE9E}"/>
                </a:ext>
              </a:extLst>
            </p:cNvPr>
            <p:cNvGrpSpPr/>
            <p:nvPr/>
          </p:nvGrpSpPr>
          <p:grpSpPr>
            <a:xfrm>
              <a:off x="11452052" y="9292519"/>
              <a:ext cx="2369088" cy="2124130"/>
              <a:chOff x="13531736" y="8000390"/>
              <a:chExt cx="2369088" cy="1707543"/>
            </a:xfrm>
          </p:grpSpPr>
          <p:pic>
            <p:nvPicPr>
              <p:cNvPr id="18" name="Google Shape;103;g3d00297c732_0_7" title="UAV.jpg">
                <a:extLst>
                  <a:ext uri="{FF2B5EF4-FFF2-40B4-BE49-F238E27FC236}">
                    <a16:creationId xmlns:a16="http://schemas.microsoft.com/office/drawing/2014/main" id="{D88605C7-73BA-E1AD-9B72-8D7751CE8A01}"/>
                  </a:ext>
                </a:extLst>
              </p:cNvPr>
              <p:cNvPicPr preferRelativeResize="0"/>
              <p:nvPr/>
            </p:nvPicPr>
            <p:blipFill rotWithShape="1">
              <a:blip r:embed="rId3">
                <a:alphaModFix/>
              </a:blip>
              <a:srcRect l="7734" t="19877" r="3576" b="30215"/>
              <a:stretch>
                <a:fillRect/>
              </a:stretch>
            </p:blipFill>
            <p:spPr>
              <a:xfrm>
                <a:off x="14158066" y="8000390"/>
                <a:ext cx="1110501" cy="577138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9" name="Google Shape;103;g3d00297c732_0_7" title="UAV.jpg">
                <a:extLst>
                  <a:ext uri="{FF2B5EF4-FFF2-40B4-BE49-F238E27FC236}">
                    <a16:creationId xmlns:a16="http://schemas.microsoft.com/office/drawing/2014/main" id="{088E4D73-1366-E76F-C0C8-6B65745B1368}"/>
                  </a:ext>
                </a:extLst>
              </p:cNvPr>
              <p:cNvPicPr preferRelativeResize="0"/>
              <p:nvPr/>
            </p:nvPicPr>
            <p:blipFill rotWithShape="1">
              <a:blip r:embed="rId3">
                <a:alphaModFix/>
              </a:blip>
              <a:srcRect l="7734" t="19877" r="3576" b="30215"/>
              <a:stretch>
                <a:fillRect/>
              </a:stretch>
            </p:blipFill>
            <p:spPr>
              <a:xfrm>
                <a:off x="13531736" y="9110731"/>
                <a:ext cx="1060270" cy="59720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9" name="Google Shape;103;g3d00297c732_0_7" title="UAV.jpg">
                <a:extLst>
                  <a:ext uri="{FF2B5EF4-FFF2-40B4-BE49-F238E27FC236}">
                    <a16:creationId xmlns:a16="http://schemas.microsoft.com/office/drawing/2014/main" id="{29034C5A-4902-A73A-282E-804AC5346BDD}"/>
                  </a:ext>
                </a:extLst>
              </p:cNvPr>
              <p:cNvPicPr preferRelativeResize="0"/>
              <p:nvPr/>
            </p:nvPicPr>
            <p:blipFill rotWithShape="1">
              <a:blip r:embed="rId3">
                <a:alphaModFix/>
              </a:blip>
              <a:srcRect l="7734" t="19877" r="3576" b="30215"/>
              <a:stretch>
                <a:fillRect/>
              </a:stretch>
            </p:blipFill>
            <p:spPr>
              <a:xfrm>
                <a:off x="14801481" y="9105694"/>
                <a:ext cx="1099343" cy="602239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15" name="Google Shape;205;g3d00297c732_0_53">
              <a:extLst>
                <a:ext uri="{FF2B5EF4-FFF2-40B4-BE49-F238E27FC236}">
                  <a16:creationId xmlns:a16="http://schemas.microsoft.com/office/drawing/2014/main" id="{30A08EBC-6104-F8BA-FD94-3AF8140A063D}"/>
                </a:ext>
              </a:extLst>
            </p:cNvPr>
            <p:cNvSpPr/>
            <p:nvPr/>
          </p:nvSpPr>
          <p:spPr>
            <a:xfrm rot="17168672">
              <a:off x="11743325" y="10198668"/>
              <a:ext cx="916218" cy="364204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FFC000"/>
            </a:solidFill>
            <a:ln>
              <a:noFill/>
            </a:ln>
          </p:spPr>
          <p:txBody>
            <a:bodyPr spcFirstLastPara="1" wrap="square" lIns="66850" tIns="66850" rIns="66850" bIns="6685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23"/>
                <a:buFont typeface="Arial"/>
                <a:buNone/>
              </a:pPr>
              <a:endParaRPr sz="1022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" name="Google Shape;205;g3d00297c732_0_53">
              <a:extLst>
                <a:ext uri="{FF2B5EF4-FFF2-40B4-BE49-F238E27FC236}">
                  <a16:creationId xmlns:a16="http://schemas.microsoft.com/office/drawing/2014/main" id="{529A6596-B278-897A-3747-D87E81364B06}"/>
                </a:ext>
              </a:extLst>
            </p:cNvPr>
            <p:cNvSpPr/>
            <p:nvPr/>
          </p:nvSpPr>
          <p:spPr>
            <a:xfrm rot="15631595">
              <a:off x="12525926" y="10208020"/>
              <a:ext cx="916218" cy="364204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FFC000"/>
            </a:solidFill>
            <a:ln>
              <a:noFill/>
            </a:ln>
          </p:spPr>
          <p:txBody>
            <a:bodyPr spcFirstLastPara="1" wrap="square" lIns="66850" tIns="66850" rIns="66850" bIns="6685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23"/>
                <a:buFont typeface="Arial"/>
                <a:buNone/>
              </a:pPr>
              <a:endParaRPr sz="1022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" name="文字方塊 16">
              <a:extLst>
                <a:ext uri="{FF2B5EF4-FFF2-40B4-BE49-F238E27FC236}">
                  <a16:creationId xmlns:a16="http://schemas.microsoft.com/office/drawing/2014/main" id="{CF005749-EDBC-760F-6108-1DC0FA0B199D}"/>
                </a:ext>
              </a:extLst>
            </p:cNvPr>
            <p:cNvSpPr txBox="1"/>
            <p:nvPr/>
          </p:nvSpPr>
          <p:spPr>
            <a:xfrm>
              <a:off x="11169062" y="10109367"/>
              <a:ext cx="2960539" cy="5990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200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Probing Packets</a:t>
              </a:r>
              <a:endParaRPr lang="zh-TW" altLang="en-US" sz="2200" dirty="0"/>
            </a:p>
          </p:txBody>
        </p:sp>
      </p:grpSp>
      <p:sp>
        <p:nvSpPr>
          <p:cNvPr id="37" name="文字版面配置區 2">
            <a:extLst>
              <a:ext uri="{FF2B5EF4-FFF2-40B4-BE49-F238E27FC236}">
                <a16:creationId xmlns:a16="http://schemas.microsoft.com/office/drawing/2014/main" id="{24FFD883-8BB7-D83C-B2E0-1DC5D4885903}"/>
              </a:ext>
            </a:extLst>
          </p:cNvPr>
          <p:cNvSpPr txBox="1">
            <a:spLocks/>
          </p:cNvSpPr>
          <p:nvPr/>
        </p:nvSpPr>
        <p:spPr>
          <a:xfrm>
            <a:off x="628650" y="914399"/>
            <a:ext cx="8163658" cy="37183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396000" marR="0" lvl="0" indent="-2484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52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Noto Sans Symbols"/>
              <a:buChar char="■"/>
              <a:defRPr sz="2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 altLang="zh-TW" sz="2000" b="1" dirty="0"/>
              <a:t>Intra-fleet link:  </a:t>
            </a:r>
            <a:r>
              <a:rPr lang="en-US" altLang="zh-TW" sz="2000" dirty="0"/>
              <a:t>Slave UAV → CH/master UAV, UDP probing packets</a:t>
            </a:r>
          </a:p>
          <a:p>
            <a:r>
              <a:rPr lang="en-US" altLang="zh-TW" sz="2000" b="1" dirty="0"/>
              <a:t>Metrics:  </a:t>
            </a:r>
            <a:r>
              <a:rPr lang="en-US" altLang="zh-TW" sz="2000" dirty="0"/>
              <a:t>SNR, estimated rate, measured throughput (per-link CSV log)</a:t>
            </a:r>
          </a:p>
        </p:txBody>
      </p:sp>
      <p:graphicFrame>
        <p:nvGraphicFramePr>
          <p:cNvPr id="52" name="ProbeTable"/>
          <p:cNvGraphicFramePr/>
          <p:nvPr>
            <p:extLst>
              <p:ext uri="{D42A27DB-BD31-4B8C-83A1-F6EECF244321}">
                <p14:modId xmlns:p14="http://schemas.microsoft.com/office/powerpoint/2010/main" val="94930155"/>
              </p:ext>
            </p:extLst>
          </p:nvPr>
        </p:nvGraphicFramePr>
        <p:xfrm>
          <a:off x="685653" y="2593307"/>
          <a:ext cx="4846320" cy="1316736"/>
        </p:xfrm>
        <a:graphic>
          <a:graphicData uri="http://schemas.openxmlformats.org/drawingml/2006/table">
            <a:tbl>
              <a:tblPr firstRow="1"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Link</a:t>
                      </a:r>
                    </a:p>
                  </a:txBody>
                  <a:tcPr marL="36000" marR="36000" marT="18000" marB="1800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877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Dist (m)</a:t>
                      </a:r>
                    </a:p>
                  </a:txBody>
                  <a:tcPr marL="36000" marR="36000" marT="18000" marB="1800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877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SNR (dB)</a:t>
                      </a:r>
                    </a:p>
                  </a:txBody>
                  <a:tcPr marL="36000" marR="36000" marT="18000" marB="1800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877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Est. (Mbps)</a:t>
                      </a:r>
                    </a:p>
                  </a:txBody>
                  <a:tcPr marL="36000" marR="36000" marT="18000" marB="1800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877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Eff. (Mbps)</a:t>
                      </a:r>
                    </a:p>
                  </a:txBody>
                  <a:tcPr marL="36000" marR="36000" marT="18000" marB="1800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877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S1 → M</a:t>
                      </a:r>
                    </a:p>
                  </a:txBody>
                  <a:tcPr marL="36000" marR="36000" marT="18000" marB="1800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120</a:t>
                      </a:r>
                    </a:p>
                  </a:txBody>
                  <a:tcPr marL="36000" marR="36000" marT="18000" marB="1800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18.4</a:t>
                      </a:r>
                    </a:p>
                  </a:txBody>
                  <a:tcPr marL="36000" marR="36000" marT="18000" marB="1800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34.2</a:t>
                      </a:r>
                    </a:p>
                  </a:txBody>
                  <a:tcPr marL="36000" marR="36000" marT="18000" marB="1800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28.7</a:t>
                      </a:r>
                    </a:p>
                  </a:txBody>
                  <a:tcPr marL="36000" marR="36000" marT="18000" marB="1800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S2 → M</a:t>
                      </a:r>
                    </a:p>
                  </a:txBody>
                  <a:tcPr marL="36000" marR="36000" marT="18000" marB="1800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175</a:t>
                      </a:r>
                    </a:p>
                  </a:txBody>
                  <a:tcPr marL="36000" marR="36000" marT="18000" marB="1800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14.1</a:t>
                      </a:r>
                    </a:p>
                  </a:txBody>
                  <a:tcPr marL="36000" marR="36000" marT="18000" marB="1800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24.9</a:t>
                      </a:r>
                    </a:p>
                  </a:txBody>
                  <a:tcPr marL="36000" marR="36000" marT="18000" marB="1800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20.3</a:t>
                      </a:r>
                    </a:p>
                  </a:txBody>
                  <a:tcPr marL="36000" marR="36000" marT="18000" marB="1800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S3 → M</a:t>
                      </a:r>
                    </a:p>
                  </a:txBody>
                  <a:tcPr marL="36000" marR="36000" marT="18000" marB="1800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230</a:t>
                      </a:r>
                    </a:p>
                  </a:txBody>
                  <a:tcPr marL="36000" marR="36000" marT="18000" marB="1800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10.6</a:t>
                      </a:r>
                    </a:p>
                  </a:txBody>
                  <a:tcPr marL="36000" marR="36000" marT="18000" marB="1800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16.8</a:t>
                      </a:r>
                    </a:p>
                  </a:txBody>
                  <a:tcPr marL="36000" marR="36000" marT="18000" marB="1800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12.5</a:t>
                      </a:r>
                    </a:p>
                  </a:txBody>
                  <a:tcPr marL="36000" marR="36000" marT="18000" marB="1800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528356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A1C439-22A6-EC30-115E-2B4684CA13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8F6394E-5B91-EC03-17BC-34B4487EA4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NS-3 Schedule Replay / Verification</a:t>
            </a:r>
            <a:endParaRPr lang="zh-TW" altLang="en-US" sz="32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68A5C00-1B1F-F523-21E7-F4E93A76AE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6049" y="838199"/>
            <a:ext cx="8251200" cy="2081349"/>
          </a:xfrm>
        </p:spPr>
        <p:txBody>
          <a:bodyPr>
            <a:normAutofit/>
          </a:bodyPr>
          <a:lstStyle/>
          <a:p>
            <a:pPr marL="342900" indent="-342900"/>
            <a:r>
              <a:rPr lang="zh-TW" altLang="zh-TW" sz="2000" b="1" dirty="0"/>
              <a:t>Goal</a:t>
            </a:r>
            <a:r>
              <a:rPr lang="en-US" altLang="zh-TW" sz="2000" b="1" dirty="0"/>
              <a:t>:</a:t>
            </a:r>
            <a:r>
              <a:rPr lang="zh-TW" altLang="en-US" sz="2000" b="1" dirty="0"/>
              <a:t>  </a:t>
            </a:r>
            <a:r>
              <a:rPr lang="zh-TW" altLang="zh-TW" sz="2000" dirty="0"/>
              <a:t>Trace-driven NS-3 replay of scheduler JSON </a:t>
            </a:r>
            <a:endParaRPr lang="en-US" altLang="zh-TW" sz="2000" dirty="0"/>
          </a:p>
          <a:p>
            <a:pPr marL="342900" indent="-342900"/>
            <a:r>
              <a:rPr lang="zh-TW" altLang="zh-TW" sz="2000" b="1" dirty="0"/>
              <a:t>Input</a:t>
            </a:r>
            <a:r>
              <a:rPr lang="en-US" altLang="zh-TW" sz="2000" b="1" dirty="0"/>
              <a:t>:</a:t>
            </a:r>
            <a:r>
              <a:rPr lang="zh-TW" altLang="en-US" sz="2000" b="1" dirty="0"/>
              <a:t>  </a:t>
            </a:r>
            <a:r>
              <a:rPr lang="zh-TW" altLang="zh-TW" sz="2000" dirty="0"/>
              <a:t>MOVE / ROLE_SET / SENSOR_TO_UAV / SLAVE_TO_MASTER </a:t>
            </a:r>
            <a:endParaRPr lang="en-US" altLang="zh-TW" sz="2000" dirty="0"/>
          </a:p>
          <a:p>
            <a:pPr marL="342900" indent="-342900"/>
            <a:r>
              <a:rPr lang="zh-TW" altLang="zh-TW" sz="2000" b="1" dirty="0"/>
              <a:t>Checks</a:t>
            </a:r>
            <a:r>
              <a:rPr lang="en-US" altLang="zh-TW" sz="2000" b="1" dirty="0"/>
              <a:t>:</a:t>
            </a:r>
            <a:r>
              <a:rPr lang="zh-TW" altLang="en-US" sz="2000" dirty="0"/>
              <a:t>  </a:t>
            </a:r>
            <a:r>
              <a:rPr lang="zh-TW" altLang="zh-TW" sz="2000" dirty="0"/>
              <a:t>Mobility, roles, buffer dependency, deadlines </a:t>
            </a:r>
            <a:endParaRPr lang="en-US" altLang="zh-TW" sz="2000" dirty="0"/>
          </a:p>
          <a:p>
            <a:pPr marL="342900" indent="-342900"/>
            <a:r>
              <a:rPr lang="zh-TW" altLang="zh-TW" sz="2000" b="1" dirty="0"/>
              <a:t>Output</a:t>
            </a:r>
            <a:r>
              <a:rPr lang="en-US" altLang="zh-TW" sz="2000" b="1" dirty="0"/>
              <a:t>:</a:t>
            </a:r>
            <a:r>
              <a:rPr lang="zh-TW" altLang="en-US" sz="2000" b="1" dirty="0"/>
              <a:t> </a:t>
            </a:r>
            <a:r>
              <a:rPr lang="zh-TW" altLang="en-US" sz="2000" dirty="0"/>
              <a:t> </a:t>
            </a:r>
            <a:r>
              <a:rPr lang="zh-TW" altLang="zh-TW" sz="2000" dirty="0"/>
              <a:t>Completed tasks, finish time, deadline met</a:t>
            </a:r>
            <a:endParaRPr lang="en-US" sz="20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1D17B5B-DE2B-B14A-C68C-CA77207B71F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7</a:t>
            </a:fld>
            <a:endParaRPr lang="en-US"/>
          </a:p>
        </p:txBody>
      </p:sp>
      <p:graphicFrame>
        <p:nvGraphicFramePr>
          <p:cNvPr id="51" name="VerifyTable"/>
          <p:cNvGraphicFramePr/>
          <p:nvPr>
            <p:extLst>
              <p:ext uri="{D42A27DB-BD31-4B8C-83A1-F6EECF244321}">
                <p14:modId xmlns:p14="http://schemas.microsoft.com/office/powerpoint/2010/main" val="3346713128"/>
              </p:ext>
            </p:extLst>
          </p:nvPr>
        </p:nvGraphicFramePr>
        <p:xfrm>
          <a:off x="446049" y="2571750"/>
          <a:ext cx="7955280" cy="1463040"/>
        </p:xfrm>
        <a:graphic>
          <a:graphicData uri="http://schemas.openxmlformats.org/drawingml/2006/table">
            <a:tbl>
              <a:tblPr firstRow="1"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Scenario</a:t>
                      </a:r>
                    </a:p>
                  </a:txBody>
                  <a:tcPr marL="36000" marR="36000" marT="18000" marB="1800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877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UAVs</a:t>
                      </a:r>
                    </a:p>
                  </a:txBody>
                  <a:tcPr marL="36000" marR="36000" marT="18000" marB="1800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877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Sensors</a:t>
                      </a:r>
                    </a:p>
                  </a:txBody>
                  <a:tcPr marL="36000" marR="36000" marT="18000" marB="1800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877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Transfers</a:t>
                      </a:r>
                    </a:p>
                  </a:txBody>
                  <a:tcPr marL="36000" marR="36000" marT="18000" marB="1800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877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Completed</a:t>
                      </a:r>
                    </a:p>
                  </a:txBody>
                  <a:tcPr marL="36000" marR="36000" marT="18000" marB="1800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877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Deadline Met</a:t>
                      </a:r>
                    </a:p>
                  </a:txBody>
                  <a:tcPr marL="36000" marR="36000" marT="18000" marB="1800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877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Simple trace</a:t>
                      </a:r>
                    </a:p>
                  </a:txBody>
                  <a:tcPr marL="36000" marR="36000" marT="18000" marB="1800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3</a:t>
                      </a:r>
                    </a:p>
                  </a:txBody>
                  <a:tcPr marL="36000" marR="36000" marT="18000" marB="1800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50</a:t>
                      </a:r>
                    </a:p>
                  </a:txBody>
                  <a:tcPr marL="36000" marR="36000" marT="18000" marB="1800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79</a:t>
                      </a:r>
                    </a:p>
                  </a:txBody>
                  <a:tcPr marL="36000" marR="36000" marT="18000" marB="1800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79 / 79</a:t>
                      </a:r>
                    </a:p>
                  </a:txBody>
                  <a:tcPr marL="36000" marR="36000" marT="18000" marB="1800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Yes</a:t>
                      </a:r>
                    </a:p>
                  </a:txBody>
                  <a:tcPr marL="36000" marR="36000" marT="18000" marB="1800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Scheduler trace</a:t>
                      </a:r>
                    </a:p>
                  </a:txBody>
                  <a:tcPr marL="36000" marR="36000" marT="18000" marB="1800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4</a:t>
                      </a:r>
                    </a:p>
                  </a:txBody>
                  <a:tcPr marL="36000" marR="36000" marT="18000" marB="1800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60</a:t>
                      </a:r>
                    </a:p>
                  </a:txBody>
                  <a:tcPr marL="36000" marR="36000" marT="18000" marB="1800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104</a:t>
                      </a:r>
                    </a:p>
                  </a:txBody>
                  <a:tcPr marL="36000" marR="36000" marT="18000" marB="1800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104 / 104</a:t>
                      </a:r>
                    </a:p>
                  </a:txBody>
                  <a:tcPr marL="36000" marR="36000" marT="18000" marB="1800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Yes</a:t>
                      </a:r>
                    </a:p>
                  </a:txBody>
                  <a:tcPr marL="36000" marR="36000" marT="18000" marB="1800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Normal trace</a:t>
                      </a:r>
                    </a:p>
                  </a:txBody>
                  <a:tcPr marL="36000" marR="36000" marT="18000" marB="1800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5</a:t>
                      </a:r>
                    </a:p>
                  </a:txBody>
                  <a:tcPr marL="36000" marR="36000" marT="18000" marB="1800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500</a:t>
                      </a:r>
                    </a:p>
                  </a:txBody>
                  <a:tcPr marL="36000" marR="36000" marT="18000" marB="1800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212</a:t>
                      </a:r>
                    </a:p>
                  </a:txBody>
                  <a:tcPr marL="36000" marR="36000" marT="18000" marB="1800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212 / 212</a:t>
                      </a:r>
                    </a:p>
                  </a:txBody>
                  <a:tcPr marL="36000" marR="36000" marT="18000" marB="1800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Yes</a:t>
                      </a:r>
                    </a:p>
                  </a:txBody>
                  <a:tcPr marL="36000" marR="36000" marT="18000" marB="1800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文字方塊 4">
            <a:extLst>
              <a:ext uri="{FF2B5EF4-FFF2-40B4-BE49-F238E27FC236}">
                <a16:creationId xmlns:a16="http://schemas.microsoft.com/office/drawing/2014/main" id="{85E10A05-0536-7B25-017B-09878615710F}"/>
              </a:ext>
            </a:extLst>
          </p:cNvPr>
          <p:cNvSpPr txBox="1"/>
          <p:nvPr/>
        </p:nvSpPr>
        <p:spPr>
          <a:xfrm>
            <a:off x="1381233" y="4305301"/>
            <a:ext cx="63808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zh-TW" b="1" dirty="0">
                <a:solidFill>
                  <a:schemeClr val="accent3">
                    <a:lumMod val="50000"/>
                  </a:schemeClr>
                </a:solidFill>
              </a:rPr>
              <a:t>Our role: build an NS-3 validation pipeline for scheduler-generated traces.</a:t>
            </a:r>
            <a:endParaRPr lang="zh-TW" altLang="en-US" b="1" dirty="0">
              <a:solidFill>
                <a:schemeClr val="accent3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03830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8D0E29-E5E3-3855-CEE8-8E8687EEE4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38C51E4-2932-30B7-8459-39B1A58E64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UAV-to-LEO Uplink</a:t>
            </a:r>
            <a:endParaRPr lang="zh-TW" altLang="en-US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567C5F50-FE7B-B9AE-38C8-F60E12CA91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1481" y="914399"/>
            <a:ext cx="4160520" cy="3718323"/>
          </a:xfrm>
        </p:spPr>
        <p:txBody>
          <a:bodyPr>
            <a:normAutofit/>
          </a:bodyPr>
          <a:lstStyle/>
          <a:p>
            <a:r>
              <a:rPr lang="en-US" altLang="zh-TW" sz="2000" b="1" dirty="0"/>
              <a:t>U</a:t>
            </a:r>
            <a:r>
              <a:rPr lang="en-US" sz="2000" b="1" dirty="0"/>
              <a:t>plink:</a:t>
            </a:r>
            <a:r>
              <a:rPr lang="en-US" sz="2000" dirty="0"/>
              <a:t> CH UAV → LEO</a:t>
            </a:r>
          </a:p>
          <a:p>
            <a:r>
              <a:rPr lang="en-US" sz="2000" b="1" dirty="0"/>
              <a:t>Method</a:t>
            </a:r>
            <a:r>
              <a:rPr lang="en-US" altLang="zh-TW" sz="2000" b="1" dirty="0"/>
              <a:t>:</a:t>
            </a:r>
            <a:endParaRPr lang="en-US" sz="2000" dirty="0"/>
          </a:p>
          <a:p>
            <a:pPr lvl="1"/>
            <a:r>
              <a:rPr lang="en-US" sz="2000" dirty="0"/>
              <a:t>Hybrid beamforming</a:t>
            </a:r>
          </a:p>
          <a:p>
            <a:pPr lvl="1"/>
            <a:r>
              <a:rPr lang="en-US" sz="2000" dirty="0"/>
              <a:t>SNR-adaptive rate</a:t>
            </a:r>
          </a:p>
          <a:p>
            <a:pPr lvl="1"/>
            <a:r>
              <a:rPr lang="en-US" sz="2000" dirty="0"/>
              <a:t>multi-satellite handoff</a:t>
            </a:r>
          </a:p>
          <a:p>
            <a:r>
              <a:rPr lang="en-US" sz="2000" b="1" dirty="0"/>
              <a:t>Output</a:t>
            </a:r>
            <a:r>
              <a:rPr lang="en-US" altLang="zh-TW" sz="2000" b="1" dirty="0"/>
              <a:t>:</a:t>
            </a:r>
            <a:endParaRPr lang="en-US" sz="2000" b="1" dirty="0"/>
          </a:p>
          <a:p>
            <a:pPr lvl="1"/>
            <a:r>
              <a:rPr lang="en-US" sz="2000" dirty="0"/>
              <a:t>Per-link SNR / rate</a:t>
            </a:r>
          </a:p>
          <a:p>
            <a:pPr lvl="1"/>
            <a:r>
              <a:rPr lang="en-US" altLang="zh-TW" sz="2000" dirty="0"/>
              <a:t>V</a:t>
            </a:r>
            <a:r>
              <a:rPr lang="en-US" sz="2000" dirty="0"/>
              <a:t>isible time windows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4A967CC-E155-45C3-18B9-BE225D15130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8</a:t>
            </a:fld>
            <a:endParaRPr lang="en-US"/>
          </a:p>
        </p:txBody>
      </p:sp>
      <p:sp>
        <p:nvSpPr>
          <p:cNvPr id="60" name="LinkBudget"/>
          <p:cNvSpPr/>
          <p:nvPr/>
        </p:nvSpPr>
        <p:spPr>
          <a:xfrm>
            <a:off x="4957354" y="896112"/>
            <a:ext cx="3775166" cy="1234440"/>
          </a:xfrm>
          <a:prstGeom prst="roundRect">
            <a:avLst>
              <a:gd name="adj" fmla="val 8000"/>
            </a:avLst>
          </a:prstGeom>
          <a:solidFill>
            <a:srgbClr val="EAF3FB"/>
          </a:solidFill>
          <a:ln w="12700">
            <a:solidFill>
              <a:srgbClr val="9CC3E0"/>
            </a:solidFill>
          </a:ln>
        </p:spPr>
        <p:txBody>
          <a:bodyPr rtlCol="0" anchor="ctr"/>
          <a:lstStyle/>
          <a:p>
            <a:pPr algn="ctr"/>
            <a:r>
              <a:rPr lang="en-US" sz="1200" b="1" dirty="0">
                <a:solidFill>
                  <a:srgbClr val="1F3864"/>
                </a:solidFill>
                <a:latin typeface="Arial"/>
                <a:cs typeface="Arial"/>
              </a:rPr>
              <a:t>Link budget @ trigger · Ku-User</a:t>
            </a:r>
          </a:p>
          <a:p>
            <a:pPr algn="ctr">
              <a:spcBef>
                <a:spcPts val="300"/>
              </a:spcBef>
            </a:pPr>
            <a:r>
              <a:rPr lang="en-US" sz="1150" b="0" dirty="0">
                <a:solidFill>
                  <a:srgbClr val="1F3864"/>
                </a:solidFill>
                <a:latin typeface="Arial"/>
                <a:cs typeface="Arial"/>
              </a:rPr>
              <a:t>Elev 56.8°   ·   Dist 1389 km   ·   SNR 23.7 dB</a:t>
            </a:r>
          </a:p>
          <a:p>
            <a:pPr algn="ctr">
              <a:spcBef>
                <a:spcPts val="300"/>
              </a:spcBef>
            </a:pPr>
            <a:r>
              <a:rPr lang="en-US" sz="1150" b="0" dirty="0">
                <a:solidFill>
                  <a:srgbClr val="1F3864"/>
                </a:solidFill>
                <a:latin typeface="Arial"/>
                <a:cs typeface="Arial"/>
              </a:rPr>
              <a:t>Beamforming +11.5 dB   ·   Shannon ≈ 1970 Mbps</a:t>
            </a:r>
          </a:p>
        </p:txBody>
      </p:sp>
      <p:graphicFrame>
        <p:nvGraphicFramePr>
          <p:cNvPr id="61" name="WindowsTable"/>
          <p:cNvGraphicFramePr/>
          <p:nvPr>
            <p:extLst>
              <p:ext uri="{D42A27DB-BD31-4B8C-83A1-F6EECF244321}">
                <p14:modId xmlns:p14="http://schemas.microsoft.com/office/powerpoint/2010/main" val="858887790"/>
              </p:ext>
            </p:extLst>
          </p:nvPr>
        </p:nvGraphicFramePr>
        <p:xfrm>
          <a:off x="4957352" y="2514600"/>
          <a:ext cx="3775166" cy="1097280"/>
        </p:xfrm>
        <a:graphic>
          <a:graphicData uri="http://schemas.openxmlformats.org/drawingml/2006/table">
            <a:tbl>
              <a:tblPr firstRow="1"/>
              <a:tblGrid>
                <a:gridCol w="8297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5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30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67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Window</a:t>
                      </a:r>
                    </a:p>
                  </a:txBody>
                  <a:tcPr marL="36000" marR="36000" marT="18000" marB="1800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877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Satellite</a:t>
                      </a:r>
                    </a:p>
                  </a:txBody>
                  <a:tcPr marL="36000" marR="36000" marT="18000" marB="1800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877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Visible (s)</a:t>
                      </a:r>
                    </a:p>
                  </a:txBody>
                  <a:tcPr marL="36000" marR="36000" marT="18000" marB="1800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877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RX bytes</a:t>
                      </a:r>
                    </a:p>
                  </a:txBody>
                  <a:tcPr marL="36000" marR="36000" marT="18000" marB="1800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877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1</a:t>
                      </a:r>
                    </a:p>
                  </a:txBody>
                  <a:tcPr marL="36000" marR="36000" marT="18000" marB="1800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Sat[38]</a:t>
                      </a:r>
                    </a:p>
                  </a:txBody>
                  <a:tcPr marL="36000" marR="36000" marT="18000" marB="1800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78.9 – 140.9</a:t>
                      </a:r>
                    </a:p>
                  </a:txBody>
                  <a:tcPr marL="36000" marR="36000" marT="18000" marB="1800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—</a:t>
                      </a:r>
                    </a:p>
                  </a:txBody>
                  <a:tcPr marL="36000" marR="36000" marT="18000" marB="1800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2</a:t>
                      </a:r>
                    </a:p>
                  </a:txBody>
                  <a:tcPr marL="36000" marR="36000" marT="18000" marB="1800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Sat[142]</a:t>
                      </a:r>
                    </a:p>
                  </a:txBody>
                  <a:tcPr marL="36000" marR="36000" marT="18000" marB="1800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140.9 – 219.8</a:t>
                      </a:r>
                    </a:p>
                  </a:txBody>
                  <a:tcPr marL="36000" marR="36000" marT="18000" marB="1800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149,618</a:t>
                      </a:r>
                    </a:p>
                  </a:txBody>
                  <a:tcPr marL="36000" marR="36000" marT="18000" marB="1800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2" name="HandoffNote"/>
          <p:cNvSpPr/>
          <p:nvPr/>
        </p:nvSpPr>
        <p:spPr>
          <a:xfrm>
            <a:off x="4957352" y="3611880"/>
            <a:ext cx="3775166" cy="457200"/>
          </a:xfrm>
          <a:prstGeom prst="rect">
            <a:avLst/>
          </a:prstGeom>
          <a:noFill/>
        </p:spPr>
        <p:txBody>
          <a:bodyPr rtlCol="0" anchor="ctr"/>
          <a:lstStyle/>
          <a:p>
            <a:pPr algn="ctr"/>
            <a:r>
              <a:rPr lang="en-US" sz="1150" b="1" i="1" dirty="0">
                <a:solidFill>
                  <a:srgbClr val="C0504D"/>
                </a:solidFill>
                <a:latin typeface="Arial"/>
                <a:cs typeface="Arial"/>
              </a:rPr>
              <a:t>Handoff: Sat[38] → Sat[142] on link-down</a:t>
            </a:r>
          </a:p>
        </p:txBody>
      </p:sp>
    </p:spTree>
    <p:extLst>
      <p:ext uri="{BB962C8B-B14F-4D97-AF65-F5344CB8AC3E}">
        <p14:creationId xmlns:p14="http://schemas.microsoft.com/office/powerpoint/2010/main" val="33337915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44A1C439-22A6-EC30-115E-2B4684CA13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8F6394E-5B91-EC03-17BC-34B4487EA4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End-to-End Pipeline Result</a:t>
            </a:r>
            <a:endParaRPr lang="zh-TW" altLang="en-US" sz="32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68A5C00-1B1F-F523-21E7-F4E93A76AE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6049" y="838200"/>
            <a:ext cx="8251200" cy="6400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500" b="1" dirty="0"/>
              <a:t>Pipeline:  </a:t>
            </a:r>
            <a:r>
              <a:rPr lang="en-US" sz="1500" dirty="0"/>
              <a:t>uav-vanet → master_buffer_trace.csv → uav-to-leo  (validated on the TA scheduler trace)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1D17B5B-DE2B-B14A-C68C-CA77207B71F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9</a:t>
            </a:fld>
            <a:endParaRPr lang="en-US"/>
          </a:p>
        </p:txBody>
      </p:sp>
      <p:sp>
        <p:nvSpPr>
          <p:cNvPr id="70" name="stat70"/>
          <p:cNvSpPr/>
          <p:nvPr/>
        </p:nvSpPr>
        <p:spPr>
          <a:xfrm>
            <a:off x="457200" y="1600200"/>
            <a:ext cx="2697480" cy="2057400"/>
          </a:xfrm>
          <a:prstGeom prst="roundRect">
            <a:avLst>
              <a:gd name="adj" fmla="val 6000"/>
            </a:avLst>
          </a:prstGeom>
          <a:solidFill>
            <a:srgbClr val="E7F4E9"/>
          </a:solidFill>
          <a:ln w="15875">
            <a:solidFill>
              <a:srgbClr val="7DBF86"/>
            </a:solidFill>
          </a:ln>
        </p:spPr>
        <p:txBody>
          <a:bodyPr rtlCol="0" anchor="ctr"/>
          <a:lstStyle/>
          <a:p>
            <a:pPr algn="ctr"/>
            <a:r>
              <a:rPr lang="en-US" sz="2600" b="1" dirty="0">
                <a:solidFill>
                  <a:srgbClr val="2E7D32"/>
                </a:solidFill>
                <a:latin typeface="Arial"/>
                <a:cs typeface="Arial"/>
              </a:rPr>
              <a:t>104 / 104</a:t>
            </a:r>
          </a:p>
          <a:p>
            <a:pPr algn="ctr">
              <a:spcBef>
                <a:spcPts val="300"/>
              </a:spcBef>
            </a:pPr>
            <a:r>
              <a:rPr lang="en-US" sz="1300" b="1" dirty="0">
                <a:solidFill>
                  <a:srgbClr val="404040"/>
                </a:solidFill>
                <a:latin typeface="Arial"/>
                <a:cs typeface="Arial"/>
              </a:rPr>
              <a:t>tasks met deadline</a:t>
            </a:r>
          </a:p>
          <a:p>
            <a:pPr algn="ctr">
              <a:spcBef>
                <a:spcPts val="200"/>
              </a:spcBef>
            </a:pPr>
            <a:r>
              <a:rPr lang="en-US" sz="1050" i="1" dirty="0">
                <a:solidFill>
                  <a:srgbClr val="595959"/>
                </a:solidFill>
                <a:latin typeface="Arial"/>
                <a:cs typeface="Arial"/>
              </a:rPr>
              <a:t>finish 476.6 s  ≪  5400 s</a:t>
            </a:r>
          </a:p>
        </p:txBody>
      </p:sp>
      <p:sp>
        <p:nvSpPr>
          <p:cNvPr id="71" name="stat71"/>
          <p:cNvSpPr/>
          <p:nvPr/>
        </p:nvSpPr>
        <p:spPr>
          <a:xfrm>
            <a:off x="3246120" y="1600200"/>
            <a:ext cx="2697480" cy="2057400"/>
          </a:xfrm>
          <a:prstGeom prst="roundRect">
            <a:avLst>
              <a:gd name="adj" fmla="val 6000"/>
            </a:avLst>
          </a:prstGeom>
          <a:solidFill>
            <a:srgbClr val="E8F1FA"/>
          </a:solidFill>
          <a:ln w="15875">
            <a:solidFill>
              <a:srgbClr val="6FA8DC"/>
            </a:solidFill>
          </a:ln>
        </p:spPr>
        <p:txBody>
          <a:bodyPr rtlCol="0" anchor="ctr"/>
          <a:lstStyle/>
          <a:p>
            <a:pPr algn="ctr"/>
            <a:r>
              <a:rPr lang="en-US" sz="2600" b="1" dirty="0">
                <a:solidFill>
                  <a:srgbClr val="1F5FA8"/>
                </a:solidFill>
                <a:latin typeface="Arial"/>
                <a:cs typeface="Arial"/>
              </a:rPr>
              <a:t>149,618 B</a:t>
            </a:r>
          </a:p>
          <a:p>
            <a:pPr algn="ctr">
              <a:spcBef>
                <a:spcPts val="300"/>
              </a:spcBef>
            </a:pPr>
            <a:r>
              <a:rPr lang="en-US" sz="1300" b="1" dirty="0">
                <a:solidFill>
                  <a:srgbClr val="404040"/>
                </a:solidFill>
                <a:latin typeface="Arial"/>
                <a:cs typeface="Arial"/>
              </a:rPr>
              <a:t>handed off to CH UAV</a:t>
            </a:r>
          </a:p>
          <a:p>
            <a:pPr algn="ctr">
              <a:spcBef>
                <a:spcPts val="200"/>
              </a:spcBef>
            </a:pPr>
            <a:r>
              <a:rPr lang="en-US" sz="1050" i="1" dirty="0">
                <a:solidFill>
                  <a:srgbClr val="595959"/>
                </a:solidFill>
                <a:latin typeface="Arial"/>
                <a:cs typeface="Arial"/>
              </a:rPr>
              <a:t>via master_buffer_trace.csv</a:t>
            </a:r>
          </a:p>
        </p:txBody>
      </p:sp>
      <p:sp>
        <p:nvSpPr>
          <p:cNvPr id="72" name="stat72"/>
          <p:cNvSpPr/>
          <p:nvPr/>
        </p:nvSpPr>
        <p:spPr>
          <a:xfrm>
            <a:off x="6035040" y="1600200"/>
            <a:ext cx="2697480" cy="2057400"/>
          </a:xfrm>
          <a:prstGeom prst="roundRect">
            <a:avLst>
              <a:gd name="adj" fmla="val 6000"/>
            </a:avLst>
          </a:prstGeom>
          <a:solidFill>
            <a:srgbClr val="FFF3DC"/>
          </a:solidFill>
          <a:ln w="15875">
            <a:solidFill>
              <a:srgbClr val="E0A93C"/>
            </a:solidFill>
          </a:ln>
        </p:spPr>
        <p:txBody>
          <a:bodyPr rtlCol="0" anchor="ctr"/>
          <a:lstStyle/>
          <a:p>
            <a:pPr algn="ctr"/>
            <a:r>
              <a:rPr lang="en-US" sz="2600" b="1" dirty="0">
                <a:solidFill>
                  <a:srgbClr val="B5781C"/>
                </a:solidFill>
                <a:latin typeface="Arial"/>
                <a:cs typeface="Arial"/>
              </a:rPr>
              <a:t>leo_done = YES</a:t>
            </a:r>
          </a:p>
          <a:p>
            <a:pPr algn="ctr">
              <a:spcBef>
                <a:spcPts val="300"/>
              </a:spcBef>
            </a:pPr>
            <a:r>
              <a:rPr lang="en-US" sz="1300" b="1" dirty="0">
                <a:solidFill>
                  <a:srgbClr val="404040"/>
                </a:solidFill>
                <a:latin typeface="Arial"/>
                <a:cs typeface="Arial"/>
              </a:rPr>
              <a:t>uploaded to LEO</a:t>
            </a:r>
          </a:p>
          <a:p>
            <a:pPr algn="ctr">
              <a:spcBef>
                <a:spcPts val="200"/>
              </a:spcBef>
            </a:pPr>
            <a:r>
              <a:rPr lang="en-US" sz="1050" i="1" dirty="0">
                <a:solidFill>
                  <a:srgbClr val="595959"/>
                </a:solidFill>
                <a:latin typeface="Arial"/>
                <a:cs typeface="Arial"/>
              </a:rPr>
              <a:t>handoff Sat[38] → Sat[142]</a:t>
            </a:r>
          </a:p>
        </p:txBody>
      </p:sp>
      <p:sp>
        <p:nvSpPr>
          <p:cNvPr id="73" name="takeaway"/>
          <p:cNvSpPr/>
          <p:nvPr/>
        </p:nvSpPr>
        <p:spPr>
          <a:xfrm>
            <a:off x="457200" y="3977639"/>
            <a:ext cx="8275320" cy="548640"/>
          </a:xfrm>
          <a:prstGeom prst="rect">
            <a:avLst/>
          </a:prstGeom>
          <a:noFill/>
        </p:spPr>
        <p:txBody>
          <a:bodyPr rtlCol="0" anchor="ctr"/>
          <a:lstStyle/>
          <a:p>
            <a:pPr algn="ctr"/>
            <a:r>
              <a:rPr lang="en-US" sz="1350" b="1" dirty="0">
                <a:solidFill>
                  <a:srgbClr val="E87722"/>
                </a:solidFill>
                <a:latin typeface="Arial"/>
                <a:cs typeface="Arial"/>
              </a:rPr>
              <a:t>One CSV decouples the two simulators — a reusable framework for any schedule</a:t>
            </a:r>
          </a:p>
        </p:txBody>
      </p:sp>
    </p:spTree>
    <p:extLst>
      <p:ext uri="{BB962C8B-B14F-4D97-AF65-F5344CB8AC3E}">
        <p14:creationId xmlns:p14="http://schemas.microsoft.com/office/powerpoint/2010/main" val="6003830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843AB9-F164-B994-FBDF-61FD16A199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8733EBE-1DC2-D22A-4701-8575B80526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Topo Evaluation: Scheduler Trace Replay</a:t>
            </a:r>
            <a:endParaRPr lang="zh-TW" altLang="en-US" sz="32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3C2D0EC-FE9C-D63F-F3BB-83BD56A022E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10</a:t>
            </a:fld>
            <a:endParaRPr lang="en-US"/>
          </a:p>
        </p:txBody>
      </p:sp>
      <p:sp>
        <p:nvSpPr>
          <p:cNvPr id="7" name="文字版面配置區 5">
            <a:extLst>
              <a:ext uri="{FF2B5EF4-FFF2-40B4-BE49-F238E27FC236}">
                <a16:creationId xmlns:a16="http://schemas.microsoft.com/office/drawing/2014/main" id="{ABB54018-3838-B7F4-3936-C453B5BD35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34615" y="1022656"/>
            <a:ext cx="7886700" cy="1657350"/>
          </a:xfrm>
        </p:spPr>
        <p:txBody>
          <a:bodyPr>
            <a:normAutofit lnSpcReduction="10000"/>
          </a:bodyPr>
          <a:lstStyle/>
          <a:p>
            <a:pPr marL="147600" indent="0">
              <a:buNone/>
            </a:pPr>
            <a:r>
              <a:rPr lang="zh-TW" altLang="zh-TW" sz="2000" b="1" dirty="0"/>
              <a:t>Input trace: TA scheduler trace</a:t>
            </a:r>
            <a:br>
              <a:rPr lang="zh-TW" altLang="zh-TW" sz="2000" dirty="0"/>
            </a:br>
            <a:r>
              <a:rPr lang="zh-TW" altLang="zh-TW" sz="2000" dirty="0"/>
              <a:t>UAVs: 4</a:t>
            </a:r>
            <a:br>
              <a:rPr lang="zh-TW" altLang="zh-TW" sz="2000" dirty="0"/>
            </a:br>
            <a:r>
              <a:rPr lang="zh-TW" altLang="zh-TW" sz="2000" dirty="0"/>
              <a:t>Tasks: 619</a:t>
            </a:r>
            <a:br>
              <a:rPr lang="zh-TW" altLang="zh-TW" sz="2000" dirty="0"/>
            </a:br>
            <a:r>
              <a:rPr lang="zh-TW" altLang="zh-TW" sz="2000" dirty="0"/>
              <a:t>Mission deadline: 5400 s</a:t>
            </a:r>
            <a:br>
              <a:rPr lang="zh-TW" altLang="zh-TW" sz="2000" dirty="0"/>
            </a:br>
            <a:r>
              <a:rPr lang="zh-TW" altLang="zh-TW" sz="2000" dirty="0"/>
              <a:t>Pipeline: uav-vanet → master_buffer_trace.csv → uav-to-leo</a:t>
            </a:r>
            <a:endParaRPr lang="en-US" altLang="zh-TW" sz="2000" dirty="0"/>
          </a:p>
        </p:txBody>
      </p:sp>
      <p:sp>
        <p:nvSpPr>
          <p:cNvPr id="3" name="文字版面配置區 5">
            <a:extLst>
              <a:ext uri="{FF2B5EF4-FFF2-40B4-BE49-F238E27FC236}">
                <a16:creationId xmlns:a16="http://schemas.microsoft.com/office/drawing/2014/main" id="{9B983714-BA4A-450B-4F63-21C00626BEA6}"/>
              </a:ext>
            </a:extLst>
          </p:cNvPr>
          <p:cNvSpPr txBox="1">
            <a:spLocks/>
          </p:cNvSpPr>
          <p:nvPr/>
        </p:nvSpPr>
        <p:spPr>
          <a:xfrm>
            <a:off x="234615" y="2571749"/>
            <a:ext cx="7886700" cy="187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396000" marR="0" lvl="0" indent="-2484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52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Noto Sans Symbols"/>
              <a:buChar char="■"/>
              <a:defRPr sz="2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147600" indent="0">
              <a:buNone/>
            </a:pPr>
            <a:r>
              <a:rPr lang="en-US" altLang="zh-TW" sz="2000" b="1" dirty="0"/>
              <a:t>Replat result</a:t>
            </a:r>
            <a:br>
              <a:rPr lang="en-US" altLang="zh-TW" sz="2000" b="1" dirty="0"/>
            </a:br>
            <a:r>
              <a:rPr lang="zh-TW" altLang="zh-TW" sz="2000" dirty="0"/>
              <a:t>Task completion: 619 / 619</a:t>
            </a:r>
            <a:br>
              <a:rPr lang="zh-TW" altLang="zh-TW" sz="2000" dirty="0"/>
            </a:br>
            <a:r>
              <a:rPr lang="zh-TW" altLang="zh-TW" sz="2000" dirty="0"/>
              <a:t>Sensor/Slave → Master: success</a:t>
            </a:r>
            <a:br>
              <a:rPr lang="zh-TW" altLang="zh-TW" sz="2000" dirty="0"/>
            </a:br>
            <a:r>
              <a:rPr lang="zh-TW" altLang="zh-TW" sz="2000" dirty="0"/>
              <a:t>Master buffer: 1,238,529 B</a:t>
            </a:r>
            <a:br>
              <a:rPr lang="zh-TW" altLang="zh-TW" sz="2000" dirty="0"/>
            </a:br>
            <a:r>
              <a:rPr lang="zh-TW" altLang="zh-TW" sz="2000" dirty="0"/>
              <a:t>Master → LEO Rx: 1,238,529 B</a:t>
            </a:r>
            <a:br>
              <a:rPr lang="zh-TW" altLang="zh-TW" sz="2000" dirty="0"/>
            </a:br>
            <a:r>
              <a:rPr lang="zh-TW" altLang="zh-TW" sz="2000" dirty="0"/>
              <a:t>LEO done: YES</a:t>
            </a:r>
            <a:r>
              <a:rPr lang="en-US" altLang="zh-TW" sz="2000" dirty="0"/>
              <a:t>; </a:t>
            </a:r>
            <a:r>
              <a:rPr lang="zh-TW" altLang="zh-TW" sz="2000" dirty="0"/>
              <a:t>Deadline met: YES</a:t>
            </a:r>
            <a:endParaRPr lang="zh-TW" altLang="zh-TW" sz="2000" b="1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A70C8CBA-47CF-C952-F37F-75DFEBCC13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261" y="2571749"/>
            <a:ext cx="3681373" cy="2166549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933DA310-1FC1-7003-2993-B2C9FEBE21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5907" y="1073302"/>
            <a:ext cx="5244083" cy="1026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18977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7955A3E-BFFE-E814-98CA-823FFF1005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Conclusion</a:t>
            </a:r>
            <a:endParaRPr lang="zh-TW" altLang="en-US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E66D661F-4444-A13A-AB18-3826404129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Built an NS-3 framework for link probing, schedule replay, and end-to-end performance measurement in SAGIN</a:t>
            </a:r>
          </a:p>
          <a:p>
            <a:r>
              <a:rPr lang="en-US" altLang="zh-TW" dirty="0"/>
              <a:t>Decoupled design: UAV-to-UAV probe, schedule verification, and UAV-to-LEO uplink linked by a CSV handoff</a:t>
            </a:r>
          </a:p>
          <a:p>
            <a:r>
              <a:rPr lang="en-US" altLang="zh-TW" dirty="0"/>
              <a:t>Provides a platform to evaluate different scheduling decisions under realistic channel conditions</a:t>
            </a:r>
          </a:p>
          <a:p>
            <a:r>
              <a:rPr lang="en-US" altLang="zh-TW" dirty="0"/>
              <a:t>Future work: integrate the scheduler into the loop for interactive network planning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2313196-1B3A-E3FD-CA4D-2285D415D9D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53124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9330</TotalTime>
  <Words>1742</Words>
  <Application>Microsoft Office PowerPoint</Application>
  <PresentationFormat>如螢幕大小 (16:9)</PresentationFormat>
  <Paragraphs>188</Paragraphs>
  <Slides>11</Slides>
  <Notes>8</Notes>
  <HiddenSlides>2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11</vt:i4>
      </vt:variant>
    </vt:vector>
  </HeadingPairs>
  <TitlesOfParts>
    <vt:vector size="18" baseType="lpstr">
      <vt:lpstr>Helvetica Neue</vt:lpstr>
      <vt:lpstr>Noto Sans Symbols</vt:lpstr>
      <vt:lpstr>Microsoft JhengHei</vt:lpstr>
      <vt:lpstr>Arial</vt:lpstr>
      <vt:lpstr>Times New Roman</vt:lpstr>
      <vt:lpstr>Calibri</vt:lpstr>
      <vt:lpstr>Office 佈景主題</vt:lpstr>
      <vt:lpstr>Hierarchical Deadline-Aware Data Collection for UAV-Assisted SAGIN</vt:lpstr>
      <vt:lpstr>Agenda</vt:lpstr>
      <vt:lpstr>Background &amp; Motivation</vt:lpstr>
      <vt:lpstr>System Architecture</vt:lpstr>
      <vt:lpstr>Data Flow</vt:lpstr>
      <vt:lpstr>UAV-to-UAV Probe</vt:lpstr>
      <vt:lpstr>NS-3 Schedule Replay / Verification</vt:lpstr>
      <vt:lpstr>UAV-to-LEO Uplink</vt:lpstr>
      <vt:lpstr>End-to-End Pipeline Result</vt:lpstr>
      <vt:lpstr>Topo Evaluation: Scheduler Trace Replay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劉昀翰</dc:creator>
  <cp:lastModifiedBy>李 宗諺</cp:lastModifiedBy>
  <cp:revision>177</cp:revision>
  <dcterms:modified xsi:type="dcterms:W3CDTF">2026-06-14T07:20:29Z</dcterms:modified>
</cp:coreProperties>
</file>